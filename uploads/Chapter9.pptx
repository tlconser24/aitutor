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44"/>
  </p:notesMasterIdLst>
  <p:sldIdLst>
    <p:sldId id="258" r:id="rId3"/>
    <p:sldId id="331" r:id="rId4"/>
    <p:sldId id="324" r:id="rId5"/>
    <p:sldId id="325" r:id="rId6"/>
    <p:sldId id="326" r:id="rId7"/>
    <p:sldId id="327" r:id="rId8"/>
    <p:sldId id="260" r:id="rId9"/>
    <p:sldId id="262" r:id="rId10"/>
    <p:sldId id="328" r:id="rId11"/>
    <p:sldId id="268" r:id="rId12"/>
    <p:sldId id="269" r:id="rId13"/>
    <p:sldId id="264" r:id="rId14"/>
    <p:sldId id="266" r:id="rId15"/>
    <p:sldId id="267" r:id="rId16"/>
    <p:sldId id="263" r:id="rId17"/>
    <p:sldId id="273" r:id="rId18"/>
    <p:sldId id="276" r:id="rId19"/>
    <p:sldId id="279" r:id="rId20"/>
    <p:sldId id="278" r:id="rId21"/>
    <p:sldId id="280" r:id="rId22"/>
    <p:sldId id="275" r:id="rId23"/>
    <p:sldId id="281" r:id="rId24"/>
    <p:sldId id="290" r:id="rId25"/>
    <p:sldId id="302" r:id="rId26"/>
    <p:sldId id="282" r:id="rId27"/>
    <p:sldId id="283" r:id="rId28"/>
    <p:sldId id="285" r:id="rId29"/>
    <p:sldId id="292" r:id="rId30"/>
    <p:sldId id="291" r:id="rId31"/>
    <p:sldId id="293" r:id="rId32"/>
    <p:sldId id="294" r:id="rId33"/>
    <p:sldId id="303" r:id="rId34"/>
    <p:sldId id="304" r:id="rId35"/>
    <p:sldId id="305" r:id="rId36"/>
    <p:sldId id="306" r:id="rId37"/>
    <p:sldId id="307" r:id="rId38"/>
    <p:sldId id="308" r:id="rId39"/>
    <p:sldId id="309" r:id="rId40"/>
    <p:sldId id="314" r:id="rId41"/>
    <p:sldId id="315" r:id="rId42"/>
    <p:sldId id="330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BDA625-1E82-D34E-B242-C5D7CB4C1CCD}" v="4" dt="2025-09-08T13:31:42.4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theme" Target="theme/theme1.xml"/><Relationship Id="rId50" Type="http://schemas.microsoft.com/office/2015/10/relationships/revisionInfo" Target="revisionInfo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presProps" Target="presProps.xml"/><Relationship Id="rId53" Type="http://schemas.openxmlformats.org/officeDocument/2006/relationships/customXml" Target="../customXml/item3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notesMaster" Target="notesMasters/notesMaster1.xml"/><Relationship Id="rId52" Type="http://schemas.openxmlformats.org/officeDocument/2006/relationships/customXml" Target="../customXml/item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customXml" Target="../customXml/item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u PT. Tian" userId="3060eca2-f182-4354-879b-eecc853c7d89" providerId="ADAL" clId="{E7F69BB0-97E4-5D9F-9C7C-BE8F78C8B345}"/>
    <pc:docChg chg="undo custSel addSld delSld modSld">
      <pc:chgData name="Pu PT. Tian" userId="3060eca2-f182-4354-879b-eecc853c7d89" providerId="ADAL" clId="{E7F69BB0-97E4-5D9F-9C7C-BE8F78C8B345}" dt="2025-09-08T13:35:18.708" v="103" actId="2696"/>
      <pc:docMkLst>
        <pc:docMk/>
      </pc:docMkLst>
      <pc:sldChg chg="del">
        <pc:chgData name="Pu PT. Tian" userId="3060eca2-f182-4354-879b-eecc853c7d89" providerId="ADAL" clId="{E7F69BB0-97E4-5D9F-9C7C-BE8F78C8B345}" dt="2025-09-08T12:46:35.708" v="0" actId="2696"/>
        <pc:sldMkLst>
          <pc:docMk/>
          <pc:sldMk cId="2495218197" sldId="256"/>
        </pc:sldMkLst>
      </pc:sldChg>
      <pc:sldChg chg="delSp mod">
        <pc:chgData name="Pu PT. Tian" userId="3060eca2-f182-4354-879b-eecc853c7d89" providerId="ADAL" clId="{E7F69BB0-97E4-5D9F-9C7C-BE8F78C8B345}" dt="2025-09-08T12:47:05.898" v="1" actId="478"/>
        <pc:sldMkLst>
          <pc:docMk/>
          <pc:sldMk cId="1126736526" sldId="258"/>
        </pc:sldMkLst>
        <pc:spChg chg="del">
          <ac:chgData name="Pu PT. Tian" userId="3060eca2-f182-4354-879b-eecc853c7d89" providerId="ADAL" clId="{E7F69BB0-97E4-5D9F-9C7C-BE8F78C8B345}" dt="2025-09-08T12:47:05.898" v="1" actId="478"/>
          <ac:spMkLst>
            <pc:docMk/>
            <pc:sldMk cId="1126736526" sldId="258"/>
            <ac:spMk id="3" creationId="{2A197198-DEBB-FF4C-84F6-CDF3628648B0}"/>
          </ac:spMkLst>
        </pc:spChg>
      </pc:sldChg>
      <pc:sldChg chg="del">
        <pc:chgData name="Pu PT. Tian" userId="3060eca2-f182-4354-879b-eecc853c7d89" providerId="ADAL" clId="{E7F69BB0-97E4-5D9F-9C7C-BE8F78C8B345}" dt="2025-09-08T13:35:18.708" v="103" actId="2696"/>
        <pc:sldMkLst>
          <pc:docMk/>
          <pc:sldMk cId="2663853743" sldId="259"/>
        </pc:sldMkLst>
      </pc:sldChg>
      <pc:sldChg chg="addSp delSp modSp new mod modClrScheme chgLayout modNotesTx">
        <pc:chgData name="Pu PT. Tian" userId="3060eca2-f182-4354-879b-eecc853c7d89" providerId="ADAL" clId="{E7F69BB0-97E4-5D9F-9C7C-BE8F78C8B345}" dt="2025-09-08T13:34:18.057" v="102" actId="13926"/>
        <pc:sldMkLst>
          <pc:docMk/>
          <pc:sldMk cId="833060821" sldId="331"/>
        </pc:sldMkLst>
        <pc:spChg chg="del mod ord">
          <ac:chgData name="Pu PT. Tian" userId="3060eca2-f182-4354-879b-eecc853c7d89" providerId="ADAL" clId="{E7F69BB0-97E4-5D9F-9C7C-BE8F78C8B345}" dt="2025-09-08T13:29:50.640" v="3" actId="700"/>
          <ac:spMkLst>
            <pc:docMk/>
            <pc:sldMk cId="833060821" sldId="331"/>
            <ac:spMk id="2" creationId="{21162F39-EE80-24A4-EC54-88618ECD50C5}"/>
          </ac:spMkLst>
        </pc:spChg>
        <pc:spChg chg="del mod ord">
          <ac:chgData name="Pu PT. Tian" userId="3060eca2-f182-4354-879b-eecc853c7d89" providerId="ADAL" clId="{E7F69BB0-97E4-5D9F-9C7C-BE8F78C8B345}" dt="2025-09-08T13:29:50.640" v="3" actId="700"/>
          <ac:spMkLst>
            <pc:docMk/>
            <pc:sldMk cId="833060821" sldId="331"/>
            <ac:spMk id="3" creationId="{92BCD10C-937E-4065-2500-E5AE2D49BED3}"/>
          </ac:spMkLst>
        </pc:spChg>
        <pc:spChg chg="add mod ord">
          <ac:chgData name="Pu PT. Tian" userId="3060eca2-f182-4354-879b-eecc853c7d89" providerId="ADAL" clId="{E7F69BB0-97E4-5D9F-9C7C-BE8F78C8B345}" dt="2025-09-08T13:29:55.455" v="9" actId="20577"/>
          <ac:spMkLst>
            <pc:docMk/>
            <pc:sldMk cId="833060821" sldId="331"/>
            <ac:spMk id="4" creationId="{C0ACEAF2-A7D7-9C36-12F3-82FA49914CF7}"/>
          </ac:spMkLst>
        </pc:spChg>
        <pc:spChg chg="add mod ord">
          <ac:chgData name="Pu PT. Tian" userId="3060eca2-f182-4354-879b-eecc853c7d89" providerId="ADAL" clId="{E7F69BB0-97E4-5D9F-9C7C-BE8F78C8B345}" dt="2025-09-08T13:34:18.057" v="102" actId="13926"/>
          <ac:spMkLst>
            <pc:docMk/>
            <pc:sldMk cId="833060821" sldId="331"/>
            <ac:spMk id="5" creationId="{6AA753B9-56EE-DCD5-8E77-E30F5D845CCB}"/>
          </ac:spMkLst>
        </pc:spChg>
        <pc:picChg chg="add mod">
          <ac:chgData name="Pu PT. Tian" userId="3060eca2-f182-4354-879b-eecc853c7d89" providerId="ADAL" clId="{E7F69BB0-97E4-5D9F-9C7C-BE8F78C8B345}" dt="2025-09-08T13:31:28.135" v="58" actId="1076"/>
          <ac:picMkLst>
            <pc:docMk/>
            <pc:sldMk cId="833060821" sldId="331"/>
            <ac:picMk id="1026" creationId="{FF1FF3DE-4070-C60E-3BBF-324B76CF5423}"/>
          </ac:picMkLst>
        </pc:picChg>
      </pc:sldChg>
    </pc:docChg>
  </pc:docChgLst>
  <pc:docChgLst>
    <pc:chgData name="Pu PT. Tian" userId="3060eca2-f182-4354-879b-eecc853c7d89" providerId="ADAL" clId="{E60AD499-5748-E548-A884-6F84BA25733F}"/>
    <pc:docChg chg="modSld">
      <pc:chgData name="Pu PT. Tian" userId="3060eca2-f182-4354-879b-eecc853c7d89" providerId="ADAL" clId="{E60AD499-5748-E548-A884-6F84BA25733F}" dt="2025-01-25T20:37:18.406" v="1" actId="113"/>
      <pc:docMkLst>
        <pc:docMk/>
      </pc:docMkLst>
      <pc:sldChg chg="modSp mod">
        <pc:chgData name="Pu PT. Tian" userId="3060eca2-f182-4354-879b-eecc853c7d89" providerId="ADAL" clId="{E60AD499-5748-E548-A884-6F84BA25733F}" dt="2025-01-25T20:37:18.406" v="1" actId="113"/>
        <pc:sldMkLst>
          <pc:docMk/>
          <pc:sldMk cId="1340388983" sldId="26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3A6902-22AC-4352-A118-6F7228630AA8}" type="datetimeFigureOut">
              <a:rPr lang="en-US" smtClean="0"/>
              <a:t>9/8/25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C983A1-5EA7-46EB-A38E-756E21B721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2853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 credits: </a:t>
            </a:r>
            <a:r>
              <a:rPr lang="en-US" b="1" dirty="0"/>
              <a:t>https://</a:t>
            </a:r>
            <a:r>
              <a:rPr lang="en-US" b="1" dirty="0" err="1"/>
              <a:t>codersite.dev</a:t>
            </a:r>
            <a:r>
              <a:rPr lang="en-US" b="1" dirty="0"/>
              <a:t>/understanding-</a:t>
            </a:r>
            <a:r>
              <a:rPr lang="en-US" b="1" dirty="0" err="1"/>
              <a:t>oop</a:t>
            </a:r>
            <a:r>
              <a:rPr lang="en-US" b="1" dirty="0"/>
              <a:t>-concepts/ </a:t>
            </a:r>
            <a:r>
              <a:rPr lang="en-US" dirty="0"/>
              <a:t>(accessed on 9/8/2025)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C983A1-5EA7-46EB-A38E-756E21B7210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8517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DAF4C-2A91-404D-34CF-1CB2095E65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B46A38-D38C-8D79-5727-987E8886A7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56BBD-E8FA-2728-71B9-BEC635F4C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04060-841D-469F-97B9-8072492DDB86}" type="datetimeFigureOut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CC4981-D5A0-C5DE-853C-C7C438EE2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FB7077-DDF3-ED08-D05F-5681A75F4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26F85-DC8B-4D3B-8619-C75740E0F0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265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1475D-14F4-0293-BAC0-C01C13B20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05139B-D35B-CFB3-0743-058743F9A5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09BC3A-A553-A584-B55F-8E4B6D489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04060-841D-469F-97B9-8072492DDB86}" type="datetimeFigureOut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BC43BB-4789-941E-9D2C-C6B6BDA83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266E2A-8061-E242-51FD-FD853437D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26F85-DC8B-4D3B-8619-C75740E0F0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860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8D7B6-25A2-5833-C93B-DB9AA101E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B5BA95-B2C6-CA3B-8202-F153339AD7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36C851-359F-68A2-D50E-DEC15AFC7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04060-841D-469F-97B9-8072492DDB86}" type="datetimeFigureOut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0B1D0C-D110-29D5-D4DD-BDF076B27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66B583-C2C0-9A6F-5448-C17A7A4F6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26F85-DC8B-4D3B-8619-C75740E0F0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046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6DB64-D9FE-262A-4D98-6A23D5B82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AE6B02-262A-6BBB-A543-62A7C2B29E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C591C9-42D8-E04B-5E09-89B48691D8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7A57E7-CA7B-BEBE-814F-EED8DD8F3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04060-841D-469F-97B9-8072492DDB86}" type="datetimeFigureOut">
              <a:rPr lang="en-US" smtClean="0"/>
              <a:t>9/8/25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0E6EC0-DB14-2270-C66F-EDD756F7A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DB7CB9-C59C-2387-D4E1-B19C36442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26F85-DC8B-4D3B-8619-C75740E0F0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0647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8133D-1BFB-2E5D-A9C8-A4C024551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CE6FC-C118-9A8E-2A33-7FEB97E08A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D72DFB-8F02-01A5-320A-1B50A6009F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D64465-04AB-94D9-FC32-45BCBA41A9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038646-EE86-D1E3-49F4-3514DA204D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E71160-F6CD-1F3C-D40A-3625152BB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04060-841D-469F-97B9-8072492DDB86}" type="datetimeFigureOut">
              <a:rPr lang="en-US" smtClean="0"/>
              <a:t>9/8/25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D4C1-5B16-1A29-BE88-5632A98CF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4F9C67-C933-C77C-1D66-3EED1C427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26F85-DC8B-4D3B-8619-C75740E0F0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199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21F10-5CF3-BA9A-3728-ED225B418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93FA24-F71A-257A-F63A-F922AA28F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04060-841D-469F-97B9-8072492DDB86}" type="datetimeFigureOut">
              <a:rPr lang="en-US" smtClean="0"/>
              <a:t>9/8/25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3DA9C3-4942-00F1-FEA2-BBFC39229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745F68-F7C4-E6B6-8346-5AD1274F9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26F85-DC8B-4D3B-8619-C75740E0F0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372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2E5DA8-C738-2FB0-C094-B31EA2972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04060-841D-469F-97B9-8072492DDB86}" type="datetimeFigureOut">
              <a:rPr lang="en-US" smtClean="0"/>
              <a:t>9/8/25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7EB48E-74CF-B44D-204E-D89D03D26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3FB986-F543-30FC-A3C4-1D95D1218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26F85-DC8B-4D3B-8619-C75740E0F0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7745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1E277-1C5C-1F94-CFF8-6B5524135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9DB6F7-3620-D37D-9381-BE8D411848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6E2F42-EC27-C677-4872-B4092C2F41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F41282-7DD5-12C8-A23E-2374F3385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04060-841D-469F-97B9-8072492DDB86}" type="datetimeFigureOut">
              <a:rPr lang="en-US" smtClean="0"/>
              <a:t>9/8/25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C5BE3A-E3E4-E4C8-CD11-81E172E31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F50B0B-D9E3-F5DA-1EAF-A1121571B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26F85-DC8B-4D3B-8619-C75740E0F0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0305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009B5-8BD8-4E73-988A-6AB6B4B6A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6E8F0F-91D8-1CE6-AA2C-179324787A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7D696E-364E-2C3E-B9F3-968043CE68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15AB4A-36A1-4F0A-8F4B-026FBCB55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04060-841D-469F-97B9-8072492DDB86}" type="datetimeFigureOut">
              <a:rPr lang="en-US" smtClean="0"/>
              <a:t>9/8/25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7DDEF1-26AA-F7B4-38DA-2E636EE5D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CAFCAD-58B1-52D6-3395-C50B79D17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26F85-DC8B-4D3B-8619-C75740E0F0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9620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DDEB4-FF2E-D621-3C5B-BA492D2C8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DF2652-CC06-E50F-2A51-44B9A29AD7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9AC4B9-A45C-A920-1244-5C041A356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04060-841D-469F-97B9-8072492DDB86}" type="datetimeFigureOut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546E9D-3ADF-E697-442D-CD9AAE546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9A5D60-C773-9AEC-EBA9-35277F7B8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26F85-DC8B-4D3B-8619-C75740E0F0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487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BEB1D1-5CF7-AADD-3ECD-24B9FA430C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4D7569-42F7-D2DE-C712-C930FE9BA4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A2C3FF-C41A-31DC-4CFE-B8A3137B4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04060-841D-469F-97B9-8072492DDB86}" type="datetimeFigureOut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782DAE-A870-2633-9BB1-8CABACB8A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440787-44DC-A433-3A0F-394D761A8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26F85-DC8B-4D3B-8619-C75740E0F0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041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2539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9/8/25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32472438"/>
      </p:ext>
    </p:extLst>
  </p:cSld>
  <p:clrMapOvr>
    <a:masterClrMapping/>
  </p:clrMapOvr>
  <p:transition spd="slow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47737" y="278431"/>
            <a:ext cx="10296523" cy="317459"/>
          </a:xfrm>
        </p:spPr>
        <p:txBody>
          <a:bodyPr lIns="0" tIns="0" rIns="0" bIns="0"/>
          <a:lstStyle>
            <a:lvl1pPr>
              <a:defRPr sz="2063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9/8/25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32011642"/>
      </p:ext>
    </p:extLst>
  </p:cSld>
  <p:clrMapOvr>
    <a:masterClrMapping/>
  </p:clrMapOvr>
  <p:transition spd="slow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47737" y="278431"/>
            <a:ext cx="10296523" cy="317459"/>
          </a:xfrm>
        </p:spPr>
        <p:txBody>
          <a:bodyPr lIns="0" tIns="0" rIns="0" bIns="0"/>
          <a:lstStyle>
            <a:lvl1pPr>
              <a:defRPr sz="2063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9/8/25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61242966"/>
      </p:ext>
    </p:extLst>
  </p:cSld>
  <p:clrMapOvr>
    <a:masterClrMapping/>
  </p:clrMapOvr>
  <p:transition spd="slow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47737" y="278431"/>
            <a:ext cx="10296523" cy="317459"/>
          </a:xfrm>
        </p:spPr>
        <p:txBody>
          <a:bodyPr lIns="0" tIns="0" rIns="0" bIns="0"/>
          <a:lstStyle>
            <a:lvl1pPr>
              <a:defRPr sz="2063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9/8/25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71695185"/>
      </p:ext>
    </p:extLst>
  </p:cSld>
  <p:clrMapOvr>
    <a:masterClrMapping/>
  </p:clrMapOvr>
  <p:transition spd="slow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9/8/25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25252310"/>
      </p:ext>
    </p:extLst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FCBF06-EC30-73C8-B270-E481AD045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73B662-F4F5-3974-ACE1-72ABB181D7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86BB25-E7CB-E9FA-791C-7514F1210C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104060-841D-469F-97B9-8072492DDB86}" type="datetimeFigureOut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F0A8CB-58AF-BBA3-7C1A-F6C2D49688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D8684B-B341-926B-9370-936311AF97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726F85-DC8B-4D3B-8619-C75740E0F0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196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68904" y="681441"/>
            <a:ext cx="9313333" cy="0"/>
          </a:xfrm>
          <a:custGeom>
            <a:avLst/>
            <a:gdLst/>
            <a:ahLst/>
            <a:cxnLst/>
            <a:rect l="l" t="t" r="r" b="b"/>
            <a:pathLst>
              <a:path w="5588000">
                <a:moveTo>
                  <a:pt x="0" y="0"/>
                </a:moveTo>
                <a:lnTo>
                  <a:pt x="5587440" y="0"/>
                </a:lnTo>
              </a:path>
            </a:pathLst>
          </a:custGeom>
          <a:ln w="56438">
            <a:solidFill>
              <a:srgbClr val="C72153"/>
            </a:solidFill>
          </a:ln>
        </p:spPr>
        <p:txBody>
          <a:bodyPr wrap="square" lIns="0" tIns="0" rIns="0" bIns="0" rtlCol="0"/>
          <a:lstStyle/>
          <a:p>
            <a:endParaRPr sz="225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47737" y="278431"/>
            <a:ext cx="10296523" cy="2539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5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844880" y="1497324"/>
            <a:ext cx="850223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9/8/25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48047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ransition spd="slow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571500">
        <a:defRPr>
          <a:latin typeface="+mn-lt"/>
          <a:ea typeface="+mn-ea"/>
          <a:cs typeface="+mn-cs"/>
        </a:defRPr>
      </a:lvl2pPr>
      <a:lvl3pPr marL="1143000">
        <a:defRPr>
          <a:latin typeface="+mn-lt"/>
          <a:ea typeface="+mn-ea"/>
          <a:cs typeface="+mn-cs"/>
        </a:defRPr>
      </a:lvl3pPr>
      <a:lvl4pPr marL="1714500">
        <a:defRPr>
          <a:latin typeface="+mn-lt"/>
          <a:ea typeface="+mn-ea"/>
          <a:cs typeface="+mn-cs"/>
        </a:defRPr>
      </a:lvl4pPr>
      <a:lvl5pPr marL="2286000">
        <a:defRPr>
          <a:latin typeface="+mn-lt"/>
          <a:ea typeface="+mn-ea"/>
          <a:cs typeface="+mn-cs"/>
        </a:defRPr>
      </a:lvl5pPr>
      <a:lvl6pPr marL="2857500">
        <a:defRPr>
          <a:latin typeface="+mn-lt"/>
          <a:ea typeface="+mn-ea"/>
          <a:cs typeface="+mn-cs"/>
        </a:defRPr>
      </a:lvl6pPr>
      <a:lvl7pPr marL="3429000">
        <a:defRPr>
          <a:latin typeface="+mn-lt"/>
          <a:ea typeface="+mn-ea"/>
          <a:cs typeface="+mn-cs"/>
        </a:defRPr>
      </a:lvl7pPr>
      <a:lvl8pPr marL="4000500">
        <a:defRPr>
          <a:latin typeface="+mn-lt"/>
          <a:ea typeface="+mn-ea"/>
          <a:cs typeface="+mn-cs"/>
        </a:defRPr>
      </a:lvl8pPr>
      <a:lvl9pPr marL="45720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571500">
        <a:defRPr>
          <a:latin typeface="+mn-lt"/>
          <a:ea typeface="+mn-ea"/>
          <a:cs typeface="+mn-cs"/>
        </a:defRPr>
      </a:lvl2pPr>
      <a:lvl3pPr marL="1143000">
        <a:defRPr>
          <a:latin typeface="+mn-lt"/>
          <a:ea typeface="+mn-ea"/>
          <a:cs typeface="+mn-cs"/>
        </a:defRPr>
      </a:lvl3pPr>
      <a:lvl4pPr marL="1714500">
        <a:defRPr>
          <a:latin typeface="+mn-lt"/>
          <a:ea typeface="+mn-ea"/>
          <a:cs typeface="+mn-cs"/>
        </a:defRPr>
      </a:lvl4pPr>
      <a:lvl5pPr marL="2286000">
        <a:defRPr>
          <a:latin typeface="+mn-lt"/>
          <a:ea typeface="+mn-ea"/>
          <a:cs typeface="+mn-cs"/>
        </a:defRPr>
      </a:lvl5pPr>
      <a:lvl6pPr marL="2857500">
        <a:defRPr>
          <a:latin typeface="+mn-lt"/>
          <a:ea typeface="+mn-ea"/>
          <a:cs typeface="+mn-cs"/>
        </a:defRPr>
      </a:lvl6pPr>
      <a:lvl7pPr marL="3429000">
        <a:defRPr>
          <a:latin typeface="+mn-lt"/>
          <a:ea typeface="+mn-ea"/>
          <a:cs typeface="+mn-cs"/>
        </a:defRPr>
      </a:lvl7pPr>
      <a:lvl8pPr marL="4000500">
        <a:defRPr>
          <a:latin typeface="+mn-lt"/>
          <a:ea typeface="+mn-ea"/>
          <a:cs typeface="+mn-cs"/>
        </a:defRPr>
      </a:lvl8pPr>
      <a:lvl9pPr marL="45720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file:///Users/Mili/Downloads/BJ6_LectureSlides/ch09/code/section_1/Question.java" TargetMode="Externa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file:///Users/Mili/Downloads/BJ6_LectureSlides/ch09/code/section_1/QuestionDemo1.java" TargetMode="Externa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file:///Users/Mili/Downloads/BJ6_LectureSlides/ch09/code/section_3/ChoiceQuestion.java" TargetMode="Externa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file:///Users/Mili/Downloads/BJ6_LectureSlides/ch09/code/section_3/QuestionDemo2.java" TargetMode="Externa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7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file:///Users/Mili/Downloads/BJ6_LectureSlides/ch09/code/section_4/QuestionDemo3.java" TargetMode="Externa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1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8AA57-8720-781D-32C2-37D6E33C5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9</a:t>
            </a:r>
            <a:br>
              <a:rPr lang="en-US" dirty="0"/>
            </a:br>
            <a:r>
              <a:rPr lang="en-US" dirty="0"/>
              <a:t>Inheritance</a:t>
            </a:r>
          </a:p>
        </p:txBody>
      </p:sp>
    </p:spTree>
    <p:extLst>
      <p:ext uri="{BB962C8B-B14F-4D97-AF65-F5344CB8AC3E}">
        <p14:creationId xmlns:p14="http://schemas.microsoft.com/office/powerpoint/2010/main" val="11267365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0ACEAF2-A7D7-9C36-12F3-82FA49914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AA753B9-56EE-DCD5-8E77-E30F5D845C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a </a:t>
            </a:r>
            <a:r>
              <a:rPr lang="en-US" b="1" dirty="0">
                <a:highlight>
                  <a:srgbClr val="FFFF00"/>
                </a:highlight>
              </a:rPr>
              <a:t>class</a:t>
            </a:r>
            <a:r>
              <a:rPr lang="en-US" dirty="0"/>
              <a:t>, and an </a:t>
            </a:r>
            <a:r>
              <a:rPr lang="en-US" b="1" dirty="0">
                <a:highlight>
                  <a:srgbClr val="FFFF00"/>
                </a:highlight>
              </a:rPr>
              <a:t>object</a:t>
            </a:r>
            <a:r>
              <a:rPr lang="en-US" dirty="0"/>
              <a:t> ?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1026" name="Picture 2" descr="class and object">
            <a:extLst>
              <a:ext uri="{FF2B5EF4-FFF2-40B4-BE49-F238E27FC236}">
                <a16:creationId xmlns:a16="http://schemas.microsoft.com/office/drawing/2014/main" id="{FF1FF3DE-4070-C60E-3BBF-324B76CF54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3643" y="2490010"/>
            <a:ext cx="6802051" cy="3568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3060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2F5B49B-CF9B-1F00-1C48-62AEDBFA5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a product of various subscriptions (e.g. Dropbox)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DDB8EE2-D09C-9A4D-4518-77D08001BFE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0303" y="996672"/>
            <a:ext cx="6151394" cy="586132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86EEE99-91F7-EA86-5B54-6B21ABE7D2DE}"/>
              </a:ext>
            </a:extLst>
          </p:cNvPr>
          <p:cNvSpPr/>
          <p:nvPr/>
        </p:nvSpPr>
        <p:spPr>
          <a:xfrm>
            <a:off x="3148013" y="4429125"/>
            <a:ext cx="1247775" cy="17621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B1C3709-93E9-C763-4E05-92ABEF7B5518}"/>
              </a:ext>
            </a:extLst>
          </p:cNvPr>
          <p:cNvSpPr/>
          <p:nvPr/>
        </p:nvSpPr>
        <p:spPr>
          <a:xfrm>
            <a:off x="5195888" y="4252912"/>
            <a:ext cx="1247775" cy="17621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1559087-4AF1-1444-EB45-EB7103F3A21A}"/>
              </a:ext>
            </a:extLst>
          </p:cNvPr>
          <p:cNvSpPr/>
          <p:nvPr/>
        </p:nvSpPr>
        <p:spPr>
          <a:xfrm>
            <a:off x="5195888" y="4800600"/>
            <a:ext cx="1247775" cy="17621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96FD1C2-41C3-F4E8-3BFA-73D7437DCC47}"/>
              </a:ext>
            </a:extLst>
          </p:cNvPr>
          <p:cNvSpPr/>
          <p:nvPr/>
        </p:nvSpPr>
        <p:spPr>
          <a:xfrm>
            <a:off x="3148013" y="5657850"/>
            <a:ext cx="1247775" cy="17621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0B3FA5-0D82-3121-1ABF-2CC86A133D8C}"/>
              </a:ext>
            </a:extLst>
          </p:cNvPr>
          <p:cNvSpPr/>
          <p:nvPr/>
        </p:nvSpPr>
        <p:spPr>
          <a:xfrm>
            <a:off x="3148012" y="5857876"/>
            <a:ext cx="1890713" cy="17621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E5840A6-2996-1092-8812-4D8A86C8E92B}"/>
              </a:ext>
            </a:extLst>
          </p:cNvPr>
          <p:cNvSpPr/>
          <p:nvPr/>
        </p:nvSpPr>
        <p:spPr>
          <a:xfrm>
            <a:off x="5195888" y="5295899"/>
            <a:ext cx="1247775" cy="17621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164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2576D-B7F4-CA32-CC66-452FEA219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Suppose you are designing the system using JAVA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A52A77-231D-C157-C051-01BD43E23E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 </a:t>
            </a:r>
            <a:r>
              <a:rPr lang="en-US" b="1" dirty="0" err="1"/>
              <a:t>DropboxPlus</a:t>
            </a:r>
            <a:endParaRPr lang="en-US" b="1" dirty="0"/>
          </a:p>
          <a:p>
            <a:r>
              <a:rPr lang="en-US" dirty="0"/>
              <a:t>Class </a:t>
            </a:r>
            <a:r>
              <a:rPr lang="en-US" b="1" dirty="0" err="1"/>
              <a:t>DropboxStandard</a:t>
            </a:r>
            <a:endParaRPr lang="en-US" b="1" dirty="0"/>
          </a:p>
          <a:p>
            <a:r>
              <a:rPr lang="en-US" dirty="0"/>
              <a:t>Class </a:t>
            </a:r>
            <a:r>
              <a:rPr lang="en-US" b="1" dirty="0" err="1"/>
              <a:t>DropboxAdvenced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220309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EDC2C-2D8A-019B-F8FC-978FB149F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you need to update some functions.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73F11B-5CD3-48EF-714D-2DF1F3740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Say, update a method in 2FA.</a:t>
            </a:r>
          </a:p>
          <a:p>
            <a:endParaRPr lang="en-US" dirty="0"/>
          </a:p>
          <a:p>
            <a:r>
              <a:rPr lang="en-US" dirty="0"/>
              <a:t>Update several files.</a:t>
            </a:r>
          </a:p>
        </p:txBody>
      </p:sp>
    </p:spTree>
    <p:extLst>
      <p:ext uri="{BB962C8B-B14F-4D97-AF65-F5344CB8AC3E}">
        <p14:creationId xmlns:p14="http://schemas.microsoft.com/office/powerpoint/2010/main" val="40673688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DD1ED-4935-3075-7EC2-9A77BAD55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better way?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2A0D1D-4702-64A1-0532-ADA4DBDFF8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change can be made to all associated methods.</a:t>
            </a:r>
          </a:p>
          <a:p>
            <a:endParaRPr lang="en-US" dirty="0"/>
          </a:p>
          <a:p>
            <a:r>
              <a:rPr lang="en-US" dirty="0"/>
              <a:t>Linking all related classes and sharing code among them.</a:t>
            </a:r>
          </a:p>
          <a:p>
            <a:endParaRPr lang="en-US" dirty="0"/>
          </a:p>
          <a:p>
            <a:r>
              <a:rPr lang="en-US" dirty="0"/>
              <a:t>The solution is inheritance.</a:t>
            </a:r>
          </a:p>
        </p:txBody>
      </p:sp>
    </p:spTree>
    <p:extLst>
      <p:ext uri="{BB962C8B-B14F-4D97-AF65-F5344CB8AC3E}">
        <p14:creationId xmlns:p14="http://schemas.microsoft.com/office/powerpoint/2010/main" val="11148722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E896B-2CCA-3F59-05CC-DDAB6DFDD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03DE6C-5E9E-5C8F-A076-C2198A3D05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348413" cy="4351338"/>
          </a:xfrm>
        </p:spPr>
        <p:txBody>
          <a:bodyPr/>
          <a:lstStyle/>
          <a:p>
            <a:r>
              <a:rPr lang="en-US" dirty="0"/>
              <a:t>Inheritance: the relationship between a more </a:t>
            </a:r>
            <a:r>
              <a:rPr lang="en-US" b="1" dirty="0"/>
              <a:t>general class </a:t>
            </a:r>
            <a:r>
              <a:rPr lang="en-US" dirty="0"/>
              <a:t>(superclass) and a  more </a:t>
            </a:r>
            <a:r>
              <a:rPr lang="en-US" b="1" dirty="0"/>
              <a:t>specialized class </a:t>
            </a:r>
            <a:r>
              <a:rPr lang="en-US" dirty="0"/>
              <a:t>(subclass).</a:t>
            </a:r>
          </a:p>
          <a:p>
            <a:r>
              <a:rPr lang="en-US" dirty="0"/>
              <a:t>The subclass inherits data and behavior from the superclass.  Cars share the common traits of all vehicles</a:t>
            </a:r>
          </a:p>
          <a:p>
            <a:pPr lvl="1"/>
            <a:r>
              <a:rPr lang="en-US" dirty="0"/>
              <a:t>Example: the ability to transport people from one place to another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object 9">
            <a:extLst>
              <a:ext uri="{FF2B5EF4-FFF2-40B4-BE49-F238E27FC236}">
                <a16:creationId xmlns:a16="http://schemas.microsoft.com/office/drawing/2014/main" id="{4AEA2465-6383-3115-2FE6-3959CD632362}"/>
              </a:ext>
            </a:extLst>
          </p:cNvPr>
          <p:cNvSpPr/>
          <p:nvPr/>
        </p:nvSpPr>
        <p:spPr>
          <a:xfrm>
            <a:off x="7619999" y="1690688"/>
            <a:ext cx="4024313" cy="42075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403889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50678" y="722961"/>
            <a:ext cx="6985000" cy="0"/>
          </a:xfrm>
          <a:custGeom>
            <a:avLst/>
            <a:gdLst/>
            <a:ahLst/>
            <a:cxnLst/>
            <a:rect l="l" t="t" r="r" b="b"/>
            <a:pathLst>
              <a:path w="5588000">
                <a:moveTo>
                  <a:pt x="0" y="0"/>
                </a:moveTo>
                <a:lnTo>
                  <a:pt x="5587440" y="0"/>
                </a:lnTo>
              </a:path>
            </a:pathLst>
          </a:custGeom>
          <a:ln w="56438">
            <a:solidFill>
              <a:srgbClr val="FFDF6A"/>
            </a:solidFill>
          </a:ln>
        </p:spPr>
        <p:txBody>
          <a:bodyPr wrap="square" lIns="0" tIns="0" rIns="0" bIns="0" rtlCol="0"/>
          <a:lstStyle/>
          <a:p>
            <a:pPr defTabSz="1143000"/>
            <a:endParaRPr sz="22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/>
            <a:r>
              <a:rPr spc="81" dirty="0"/>
              <a:t>Inheritance</a:t>
            </a:r>
            <a:r>
              <a:rPr spc="-75" dirty="0"/>
              <a:t> </a:t>
            </a:r>
            <a:r>
              <a:rPr spc="100" dirty="0"/>
              <a:t>Hierarchies</a:t>
            </a:r>
          </a:p>
        </p:txBody>
      </p:sp>
      <p:sp>
        <p:nvSpPr>
          <p:cNvPr id="4" name="object 4"/>
          <p:cNvSpPr/>
          <p:nvPr/>
        </p:nvSpPr>
        <p:spPr>
          <a:xfrm>
            <a:off x="2374137" y="1044839"/>
            <a:ext cx="61913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383" y="0"/>
                </a:lnTo>
              </a:path>
            </a:pathLst>
          </a:custGeom>
          <a:ln w="49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1143000"/>
            <a:endParaRPr sz="22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374137" y="1371125"/>
            <a:ext cx="61913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383" y="0"/>
                </a:lnTo>
              </a:path>
            </a:pathLst>
          </a:custGeom>
          <a:ln w="49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1143000"/>
            <a:endParaRPr sz="22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374137" y="1706230"/>
            <a:ext cx="61913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383" y="0"/>
                </a:lnTo>
              </a:path>
            </a:pathLst>
          </a:custGeom>
          <a:ln w="49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1143000"/>
            <a:endParaRPr sz="22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31051" y="903725"/>
            <a:ext cx="4153693" cy="8961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 defTabSz="1143000"/>
            <a:r>
              <a:rPr sz="1563" spc="-6" dirty="0">
                <a:solidFill>
                  <a:prstClr val="black"/>
                </a:solidFill>
                <a:latin typeface="Arial"/>
                <a:cs typeface="Arial"/>
              </a:rPr>
              <a:t>The class </a:t>
            </a:r>
            <a:r>
              <a:rPr sz="1563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Car</a:t>
            </a:r>
            <a:r>
              <a:rPr sz="1563" spc="-538" dirty="0">
                <a:solidFill>
                  <a:prstClr val="black"/>
                </a:solidFill>
                <a:latin typeface="Courier" charset="0"/>
                <a:cs typeface="Courier" charset="0"/>
              </a:rPr>
              <a:t> </a:t>
            </a:r>
            <a:r>
              <a:rPr sz="1563" spc="-6" dirty="0">
                <a:solidFill>
                  <a:prstClr val="black"/>
                </a:solidFill>
                <a:latin typeface="Arial"/>
                <a:cs typeface="Arial"/>
              </a:rPr>
              <a:t>inherits from the class </a:t>
            </a:r>
            <a:r>
              <a:rPr sz="1563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Vehicle</a:t>
            </a:r>
            <a:endParaRPr sz="1563" dirty="0">
              <a:solidFill>
                <a:prstClr val="black"/>
              </a:solidFill>
              <a:latin typeface="Courier" charset="0"/>
              <a:cs typeface="Courier" charset="0"/>
            </a:endParaRPr>
          </a:p>
          <a:p>
            <a:pPr marL="15875" marR="867569" defTabSz="1143000">
              <a:lnSpc>
                <a:spcPts val="2638"/>
              </a:lnSpc>
              <a:spcBef>
                <a:spcPts val="142"/>
              </a:spcBef>
            </a:pPr>
            <a:r>
              <a:rPr sz="1563" spc="-6" dirty="0">
                <a:solidFill>
                  <a:prstClr val="black"/>
                </a:solidFill>
                <a:latin typeface="Arial"/>
                <a:cs typeface="Arial"/>
              </a:rPr>
              <a:t>The </a:t>
            </a:r>
            <a:r>
              <a:rPr sz="1563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Vehicle</a:t>
            </a:r>
            <a:r>
              <a:rPr sz="1563" spc="-563" dirty="0">
                <a:solidFill>
                  <a:prstClr val="black"/>
                </a:solidFill>
                <a:latin typeface="Courier" charset="0"/>
                <a:cs typeface="Courier" charset="0"/>
              </a:rPr>
              <a:t> </a:t>
            </a:r>
            <a:r>
              <a:rPr sz="1563" spc="-6" dirty="0">
                <a:solidFill>
                  <a:prstClr val="black"/>
                </a:solidFill>
                <a:latin typeface="Arial"/>
                <a:cs typeface="Arial"/>
              </a:rPr>
              <a:t>class is the superclass  The </a:t>
            </a:r>
            <a:r>
              <a:rPr sz="1563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Car</a:t>
            </a:r>
            <a:r>
              <a:rPr sz="1563" spc="-574" dirty="0">
                <a:solidFill>
                  <a:prstClr val="black"/>
                </a:solidFill>
                <a:latin typeface="Courier" charset="0"/>
                <a:cs typeface="Courier" charset="0"/>
              </a:rPr>
              <a:t> </a:t>
            </a:r>
            <a:r>
              <a:rPr sz="1563" spc="-6" dirty="0">
                <a:solidFill>
                  <a:prstClr val="black"/>
                </a:solidFill>
                <a:latin typeface="Arial"/>
                <a:cs typeface="Arial"/>
              </a:rPr>
              <a:t>class is the subclass</a:t>
            </a:r>
            <a:endParaRPr sz="1563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576763" y="2133600"/>
            <a:ext cx="2279297" cy="26922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1143000"/>
            <a:endParaRPr sz="22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90626" y="5118203"/>
            <a:ext cx="2633663" cy="240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 defTabSz="1143000"/>
            <a:r>
              <a:rPr sz="1563" b="1" spc="-6" dirty="0">
                <a:solidFill>
                  <a:prstClr val="black"/>
                </a:solidFill>
                <a:latin typeface="Arial"/>
                <a:cs typeface="Arial"/>
              </a:rPr>
              <a:t>Figure 2 </a:t>
            </a:r>
            <a:r>
              <a:rPr sz="1563" spc="-6" dirty="0">
                <a:solidFill>
                  <a:prstClr val="black"/>
                </a:solidFill>
                <a:latin typeface="Arial"/>
                <a:cs typeface="Arial"/>
              </a:rPr>
              <a:t>Inheritance</a:t>
            </a:r>
            <a:r>
              <a:rPr sz="1563" spc="-69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563" spc="-6" dirty="0">
                <a:solidFill>
                  <a:prstClr val="black"/>
                </a:solidFill>
                <a:latin typeface="Arial"/>
                <a:cs typeface="Arial"/>
              </a:rPr>
              <a:t>Diagram</a:t>
            </a:r>
            <a:endParaRPr sz="1563">
              <a:solidFill>
                <a:prstClr val="black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622E2-38E3-1424-6C80-355047479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5CAE74-22A3-7A05-2F57-60A879A25A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44880" y="1497324"/>
            <a:ext cx="8502237" cy="1938992"/>
          </a:xfrm>
        </p:spPr>
        <p:txBody>
          <a:bodyPr/>
          <a:lstStyle/>
          <a:p>
            <a:r>
              <a:rPr lang="en-US" dirty="0"/>
              <a:t>In the Dropbox subscription case, decide if the listed class is a super class, special class, or Both.</a:t>
            </a:r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b="1" dirty="0" err="1"/>
              <a:t>DropboxPlus</a:t>
            </a:r>
            <a:endParaRPr lang="en-US" b="1" dirty="0"/>
          </a:p>
          <a:p>
            <a:r>
              <a:rPr lang="en-US" dirty="0"/>
              <a:t>Class </a:t>
            </a:r>
            <a:r>
              <a:rPr lang="en-US" b="1" dirty="0" err="1"/>
              <a:t>DropboxStandard</a:t>
            </a:r>
            <a:endParaRPr lang="en-US" b="1" dirty="0"/>
          </a:p>
          <a:p>
            <a:r>
              <a:rPr lang="en-US" dirty="0"/>
              <a:t>Class </a:t>
            </a:r>
            <a:r>
              <a:rPr lang="en-US" b="1" dirty="0" err="1"/>
              <a:t>DropboxAdvenced</a:t>
            </a: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6322617"/>
      </p:ext>
    </p:extLst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50678" y="719085"/>
            <a:ext cx="6985000" cy="0"/>
          </a:xfrm>
          <a:custGeom>
            <a:avLst/>
            <a:gdLst/>
            <a:ahLst/>
            <a:cxnLst/>
            <a:rect l="l" t="t" r="r" b="b"/>
            <a:pathLst>
              <a:path w="5588000">
                <a:moveTo>
                  <a:pt x="0" y="0"/>
                </a:moveTo>
                <a:lnTo>
                  <a:pt x="5587440" y="0"/>
                </a:lnTo>
              </a:path>
            </a:pathLst>
          </a:custGeom>
          <a:ln w="56438">
            <a:solidFill>
              <a:srgbClr val="C72153"/>
            </a:solidFill>
          </a:ln>
        </p:spPr>
        <p:txBody>
          <a:bodyPr wrap="square" lIns="0" tIns="0" rIns="0" bIns="0" rtlCol="0"/>
          <a:lstStyle/>
          <a:p>
            <a:endParaRPr sz="225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/>
            <a:r>
              <a:rPr lang="en-US" spc="75" dirty="0"/>
              <a:t>Task 2</a:t>
            </a:r>
            <a:endParaRPr spc="-6" dirty="0"/>
          </a:p>
        </p:txBody>
      </p:sp>
      <p:sp>
        <p:nvSpPr>
          <p:cNvPr id="4" name="object 4"/>
          <p:cNvSpPr txBox="1"/>
          <p:nvPr/>
        </p:nvSpPr>
        <p:spPr>
          <a:xfrm>
            <a:off x="1344215" y="2145767"/>
            <a:ext cx="9242823" cy="16591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 marR="6350">
              <a:lnSpc>
                <a:spcPct val="101800"/>
              </a:lnSpc>
            </a:pPr>
            <a:r>
              <a:rPr sz="3600" spc="19" dirty="0">
                <a:latin typeface="Arial"/>
                <a:cs typeface="Arial"/>
              </a:rPr>
              <a:t>Consider classes </a:t>
            </a:r>
            <a:r>
              <a:rPr sz="3600" spc="25" dirty="0">
                <a:latin typeface="Courier" charset="0"/>
                <a:cs typeface="Courier" charset="0"/>
              </a:rPr>
              <a:t>Manager</a:t>
            </a:r>
            <a:r>
              <a:rPr sz="3600" spc="-450" dirty="0">
                <a:latin typeface="Courier" charset="0"/>
                <a:cs typeface="Courier" charset="0"/>
              </a:rPr>
              <a:t> </a:t>
            </a:r>
            <a:r>
              <a:rPr sz="3600" spc="25" dirty="0">
                <a:latin typeface="Arial"/>
                <a:cs typeface="Arial"/>
              </a:rPr>
              <a:t>and </a:t>
            </a:r>
            <a:r>
              <a:rPr sz="3600" spc="25" dirty="0">
                <a:latin typeface="Courier" charset="0"/>
                <a:cs typeface="Courier" charset="0"/>
              </a:rPr>
              <a:t>Employee</a:t>
            </a:r>
            <a:r>
              <a:rPr sz="3600" spc="25" dirty="0">
                <a:latin typeface="Arial"/>
                <a:cs typeface="Arial"/>
              </a:rPr>
              <a:t>. Which </a:t>
            </a:r>
            <a:r>
              <a:rPr sz="3600" spc="19" dirty="0">
                <a:latin typeface="Arial"/>
                <a:cs typeface="Arial"/>
              </a:rPr>
              <a:t>should </a:t>
            </a:r>
            <a:r>
              <a:rPr sz="3600" spc="25" dirty="0">
                <a:latin typeface="Arial"/>
                <a:cs typeface="Arial"/>
              </a:rPr>
              <a:t>be </a:t>
            </a:r>
            <a:r>
              <a:rPr sz="3600" spc="19" dirty="0">
                <a:latin typeface="Arial"/>
                <a:cs typeface="Arial"/>
              </a:rPr>
              <a:t>the superclass </a:t>
            </a:r>
            <a:r>
              <a:rPr sz="3600" spc="25" dirty="0">
                <a:latin typeface="Arial"/>
                <a:cs typeface="Arial"/>
              </a:rPr>
              <a:t>and </a:t>
            </a:r>
            <a:r>
              <a:rPr sz="3600" spc="19" dirty="0">
                <a:latin typeface="Arial"/>
                <a:cs typeface="Arial"/>
              </a:rPr>
              <a:t>which should </a:t>
            </a:r>
            <a:r>
              <a:rPr sz="3600" spc="25" dirty="0">
                <a:latin typeface="Arial"/>
                <a:cs typeface="Arial"/>
              </a:rPr>
              <a:t>be </a:t>
            </a:r>
            <a:r>
              <a:rPr sz="3600" spc="19" dirty="0">
                <a:latin typeface="Arial"/>
                <a:cs typeface="Arial"/>
              </a:rPr>
              <a:t>the  subclass?</a:t>
            </a:r>
            <a:endParaRPr sz="3600" dirty="0">
              <a:latin typeface="Arial"/>
              <a:cs typeface="Arial"/>
            </a:endParaRPr>
          </a:p>
        </p:txBody>
      </p:sp>
    </p:spTree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50678" y="718545"/>
            <a:ext cx="6985000" cy="0"/>
          </a:xfrm>
          <a:custGeom>
            <a:avLst/>
            <a:gdLst/>
            <a:ahLst/>
            <a:cxnLst/>
            <a:rect l="l" t="t" r="r" b="b"/>
            <a:pathLst>
              <a:path w="5588000">
                <a:moveTo>
                  <a:pt x="0" y="0"/>
                </a:moveTo>
                <a:lnTo>
                  <a:pt x="5587440" y="0"/>
                </a:lnTo>
              </a:path>
            </a:pathLst>
          </a:custGeom>
          <a:ln w="56438">
            <a:solidFill>
              <a:srgbClr val="C72153"/>
            </a:solidFill>
          </a:ln>
        </p:spPr>
        <p:txBody>
          <a:bodyPr wrap="square" lIns="0" tIns="0" rIns="0" bIns="0" rtlCol="0"/>
          <a:lstStyle/>
          <a:p>
            <a:pPr defTabSz="1143000"/>
            <a:endParaRPr sz="22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/>
            <a:r>
              <a:rPr lang="en-US" spc="75" dirty="0"/>
              <a:t>Task 3</a:t>
            </a:r>
            <a:endParaRPr spc="-6" dirty="0"/>
          </a:p>
        </p:txBody>
      </p:sp>
      <p:sp>
        <p:nvSpPr>
          <p:cNvPr id="4" name="object 4"/>
          <p:cNvSpPr txBox="1"/>
          <p:nvPr/>
        </p:nvSpPr>
        <p:spPr>
          <a:xfrm>
            <a:off x="947737" y="2095762"/>
            <a:ext cx="10223897" cy="16748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 defTabSz="1143000"/>
            <a:r>
              <a:rPr sz="3600" spc="25" dirty="0">
                <a:solidFill>
                  <a:prstClr val="black"/>
                </a:solidFill>
                <a:latin typeface="Arial"/>
                <a:cs typeface="Arial"/>
              </a:rPr>
              <a:t>What </a:t>
            </a:r>
            <a:r>
              <a:rPr sz="3600" spc="19" dirty="0">
                <a:solidFill>
                  <a:prstClr val="black"/>
                </a:solidFill>
                <a:latin typeface="Arial"/>
                <a:cs typeface="Arial"/>
              </a:rPr>
              <a:t>are the inheritance relationships between classes </a:t>
            </a:r>
            <a:r>
              <a:rPr sz="3600" spc="25" dirty="0">
                <a:solidFill>
                  <a:prstClr val="black"/>
                </a:solidFill>
                <a:latin typeface="Courier" charset="0"/>
                <a:cs typeface="Courier" charset="0"/>
              </a:rPr>
              <a:t>BankAccount</a:t>
            </a:r>
            <a:r>
              <a:rPr sz="3600" spc="25" dirty="0">
                <a:solidFill>
                  <a:prstClr val="black"/>
                </a:solidFill>
                <a:latin typeface="Arial"/>
                <a:cs typeface="Arial"/>
              </a:rPr>
              <a:t>, </a:t>
            </a:r>
            <a:r>
              <a:rPr sz="3600" spc="25" dirty="0">
                <a:solidFill>
                  <a:prstClr val="black"/>
                </a:solidFill>
                <a:latin typeface="Courier" charset="0"/>
                <a:cs typeface="Courier" charset="0"/>
              </a:rPr>
              <a:t>CheckingAccount</a:t>
            </a:r>
            <a:r>
              <a:rPr sz="3600" spc="2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3600" spc="-44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600" spc="25" dirty="0">
                <a:solidFill>
                  <a:prstClr val="black"/>
                </a:solidFill>
                <a:latin typeface="Arial"/>
                <a:cs typeface="Arial"/>
              </a:rPr>
              <a:t>and</a:t>
            </a:r>
            <a:endParaRPr sz="3600" dirty="0">
              <a:solidFill>
                <a:prstClr val="black"/>
              </a:solidFill>
              <a:latin typeface="Arial"/>
              <a:cs typeface="Arial"/>
            </a:endParaRPr>
          </a:p>
          <a:p>
            <a:pPr marL="15875" defTabSz="1143000">
              <a:spcBef>
                <a:spcPts val="94"/>
              </a:spcBef>
            </a:pPr>
            <a:r>
              <a:rPr sz="3600" spc="25" dirty="0" err="1">
                <a:solidFill>
                  <a:prstClr val="black"/>
                </a:solidFill>
                <a:latin typeface="Courier" charset="0"/>
                <a:cs typeface="Courier" charset="0"/>
              </a:rPr>
              <a:t>SavingsAccount</a:t>
            </a:r>
            <a:r>
              <a:rPr sz="3600" spc="25" dirty="0">
                <a:solidFill>
                  <a:prstClr val="black"/>
                </a:solidFill>
                <a:latin typeface="Arial"/>
                <a:cs typeface="Arial"/>
              </a:rPr>
              <a:t>?</a:t>
            </a:r>
            <a:endParaRPr sz="3600" dirty="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50678" y="721721"/>
            <a:ext cx="6985000" cy="0"/>
          </a:xfrm>
          <a:custGeom>
            <a:avLst/>
            <a:gdLst/>
            <a:ahLst/>
            <a:cxnLst/>
            <a:rect l="l" t="t" r="r" b="b"/>
            <a:pathLst>
              <a:path w="5588000">
                <a:moveTo>
                  <a:pt x="0" y="0"/>
                </a:moveTo>
                <a:lnTo>
                  <a:pt x="5587440" y="0"/>
                </a:lnTo>
              </a:path>
            </a:pathLst>
          </a:custGeom>
          <a:ln w="56438">
            <a:solidFill>
              <a:srgbClr val="FFDF6A"/>
            </a:solidFill>
          </a:ln>
        </p:spPr>
        <p:txBody>
          <a:bodyPr wrap="square" lIns="0" tIns="0" rIns="0" bIns="0" rtlCol="0"/>
          <a:lstStyle/>
          <a:p>
            <a:pPr defTabSz="1143000"/>
            <a:endParaRPr sz="22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/>
            <a:r>
              <a:rPr spc="81" dirty="0"/>
              <a:t>Inheritance</a:t>
            </a:r>
            <a:r>
              <a:rPr spc="-75" dirty="0"/>
              <a:t> </a:t>
            </a:r>
            <a:r>
              <a:rPr spc="100" dirty="0"/>
              <a:t>Hierarchies</a:t>
            </a:r>
          </a:p>
        </p:txBody>
      </p:sp>
      <p:sp>
        <p:nvSpPr>
          <p:cNvPr id="4" name="object 4"/>
          <p:cNvSpPr/>
          <p:nvPr/>
        </p:nvSpPr>
        <p:spPr>
          <a:xfrm>
            <a:off x="2418290" y="920751"/>
            <a:ext cx="5741463" cy="34219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1143000"/>
            <a:endParaRPr sz="22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374137" y="5205961"/>
            <a:ext cx="61913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383" y="0"/>
                </a:lnTo>
              </a:path>
            </a:pathLst>
          </a:custGeom>
          <a:ln w="49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1143000"/>
            <a:endParaRPr sz="22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374137" y="5523429"/>
            <a:ext cx="61913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383" y="0"/>
                </a:lnTo>
              </a:path>
            </a:pathLst>
          </a:custGeom>
          <a:ln w="49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1143000"/>
            <a:endParaRPr sz="22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374137" y="6131910"/>
            <a:ext cx="61913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383" y="0"/>
                </a:lnTo>
              </a:path>
            </a:pathLst>
          </a:custGeom>
          <a:ln w="49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1143000"/>
            <a:endParaRPr sz="22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99324" y="4328502"/>
            <a:ext cx="6982619" cy="1938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 defTabSz="1143000"/>
            <a:r>
              <a:rPr sz="1250" b="1" spc="19" dirty="0">
                <a:solidFill>
                  <a:prstClr val="black"/>
                </a:solidFill>
                <a:latin typeface="Arial"/>
                <a:cs typeface="Arial"/>
              </a:rPr>
              <a:t>Figure </a:t>
            </a:r>
            <a:r>
              <a:rPr sz="1250" b="1" spc="25" dirty="0">
                <a:solidFill>
                  <a:prstClr val="black"/>
                </a:solidFill>
                <a:latin typeface="Arial"/>
                <a:cs typeface="Arial"/>
              </a:rPr>
              <a:t>3 </a:t>
            </a:r>
            <a:r>
              <a:rPr sz="1250" spc="19" dirty="0">
                <a:solidFill>
                  <a:prstClr val="black"/>
                </a:solidFill>
                <a:latin typeface="Arial"/>
                <a:cs typeface="Arial"/>
              </a:rPr>
              <a:t>Inheritance Hierarchy of Question</a:t>
            </a:r>
            <a:r>
              <a:rPr sz="1250" spc="-44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250" spc="25" dirty="0">
                <a:solidFill>
                  <a:prstClr val="black"/>
                </a:solidFill>
                <a:latin typeface="Arial"/>
                <a:cs typeface="Arial"/>
              </a:rPr>
              <a:t>Types</a:t>
            </a:r>
            <a:endParaRPr sz="1250" dirty="0">
              <a:solidFill>
                <a:prstClr val="black"/>
              </a:solidFill>
              <a:latin typeface="Arial"/>
              <a:cs typeface="Arial"/>
            </a:endParaRPr>
          </a:p>
          <a:p>
            <a:pPr defTabSz="1143000">
              <a:spcBef>
                <a:spcPts val="53"/>
              </a:spcBef>
            </a:pPr>
            <a:endParaRPr sz="1125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5875" defTabSz="1143000"/>
            <a:r>
              <a:rPr sz="1250" spc="19" dirty="0">
                <a:solidFill>
                  <a:prstClr val="black"/>
                </a:solidFill>
                <a:latin typeface="Arial"/>
                <a:cs typeface="Arial"/>
              </a:rPr>
              <a:t>Example: Computer-graded</a:t>
            </a:r>
            <a:r>
              <a:rPr sz="1250" spc="6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250" spc="19" dirty="0">
                <a:solidFill>
                  <a:prstClr val="black"/>
                </a:solidFill>
                <a:latin typeface="Arial"/>
                <a:cs typeface="Arial"/>
              </a:rPr>
              <a:t>quiz</a:t>
            </a:r>
            <a:endParaRPr sz="1250" dirty="0">
              <a:solidFill>
                <a:prstClr val="black"/>
              </a:solidFill>
              <a:latin typeface="Arial"/>
              <a:cs typeface="Arial"/>
            </a:endParaRPr>
          </a:p>
          <a:p>
            <a:pPr defTabSz="1143000">
              <a:spcBef>
                <a:spcPts val="13"/>
              </a:spcBef>
            </a:pPr>
            <a:endParaRPr sz="125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46844" defTabSz="1143000"/>
            <a:r>
              <a:rPr sz="1563" spc="-6" dirty="0">
                <a:solidFill>
                  <a:prstClr val="black"/>
                </a:solidFill>
                <a:latin typeface="Arial"/>
                <a:cs typeface="Arial"/>
              </a:rPr>
              <a:t>There are different kinds of</a:t>
            </a:r>
            <a:r>
              <a:rPr sz="1563" spc="-38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563" spc="-6" dirty="0">
                <a:solidFill>
                  <a:prstClr val="black"/>
                </a:solidFill>
                <a:latin typeface="Arial"/>
                <a:cs typeface="Arial"/>
              </a:rPr>
              <a:t>questions</a:t>
            </a:r>
            <a:endParaRPr sz="1563" dirty="0">
              <a:solidFill>
                <a:prstClr val="black"/>
              </a:solidFill>
              <a:latin typeface="Arial"/>
              <a:cs typeface="Arial"/>
            </a:endParaRPr>
          </a:p>
          <a:p>
            <a:pPr marL="146844" marR="6350" defTabSz="1143000">
              <a:lnSpc>
                <a:spcPct val="114799"/>
              </a:lnSpc>
              <a:spcBef>
                <a:spcPts val="344"/>
              </a:spcBef>
            </a:pPr>
            <a:r>
              <a:rPr sz="1563" spc="-6" dirty="0">
                <a:solidFill>
                  <a:prstClr val="black"/>
                </a:solidFill>
                <a:latin typeface="Arial"/>
                <a:cs typeface="Arial"/>
              </a:rPr>
              <a:t>A question can display its text, and it can check whether a given response is a  correct</a:t>
            </a:r>
            <a:r>
              <a:rPr sz="1563" spc="-94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563" spc="-6" dirty="0">
                <a:solidFill>
                  <a:prstClr val="black"/>
                </a:solidFill>
                <a:latin typeface="Arial"/>
                <a:cs typeface="Arial"/>
              </a:rPr>
              <a:t>answer.</a:t>
            </a:r>
            <a:endParaRPr sz="1563" dirty="0">
              <a:solidFill>
                <a:prstClr val="black"/>
              </a:solidFill>
              <a:latin typeface="Arial"/>
              <a:cs typeface="Arial"/>
            </a:endParaRPr>
          </a:p>
          <a:p>
            <a:pPr marL="146844" defTabSz="1143000">
              <a:spcBef>
                <a:spcPts val="763"/>
              </a:spcBef>
            </a:pPr>
            <a:r>
              <a:rPr sz="1563" spc="-6" dirty="0">
                <a:solidFill>
                  <a:prstClr val="black"/>
                </a:solidFill>
                <a:latin typeface="Arial"/>
                <a:cs typeface="Arial"/>
              </a:rPr>
              <a:t>You can form subclasses of the </a:t>
            </a:r>
            <a:r>
              <a:rPr sz="1563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Question</a:t>
            </a:r>
            <a:r>
              <a:rPr sz="1563" spc="-538" dirty="0">
                <a:solidFill>
                  <a:prstClr val="black"/>
                </a:solidFill>
                <a:latin typeface="Courier" charset="0"/>
                <a:cs typeface="Courier" charset="0"/>
              </a:rPr>
              <a:t> </a:t>
            </a:r>
            <a:r>
              <a:rPr sz="1563" spc="-6" dirty="0">
                <a:solidFill>
                  <a:prstClr val="black"/>
                </a:solidFill>
                <a:latin typeface="Arial"/>
                <a:cs typeface="Arial"/>
              </a:rPr>
              <a:t>class.</a:t>
            </a:r>
            <a:endParaRPr sz="1563" dirty="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50678" y="720324"/>
            <a:ext cx="6985000" cy="0"/>
          </a:xfrm>
          <a:custGeom>
            <a:avLst/>
            <a:gdLst/>
            <a:ahLst/>
            <a:cxnLst/>
            <a:rect l="l" t="t" r="r" b="b"/>
            <a:pathLst>
              <a:path w="5588000">
                <a:moveTo>
                  <a:pt x="0" y="0"/>
                </a:moveTo>
                <a:lnTo>
                  <a:pt x="5587440" y="0"/>
                </a:lnTo>
              </a:path>
            </a:pathLst>
          </a:custGeom>
          <a:ln w="56438">
            <a:solidFill>
              <a:srgbClr val="FFDF6A"/>
            </a:solidFill>
          </a:ln>
        </p:spPr>
        <p:txBody>
          <a:bodyPr wrap="square" lIns="0" tIns="0" rIns="0" bIns="0" rtlCol="0"/>
          <a:lstStyle/>
          <a:p>
            <a:pPr defTabSz="1143000"/>
            <a:endParaRPr sz="22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/>
            <a:r>
              <a:rPr spc="281" dirty="0"/>
              <a:t>s</a:t>
            </a:r>
            <a:r>
              <a:rPr spc="25" dirty="0"/>
              <a:t>e</a:t>
            </a:r>
            <a:r>
              <a:rPr spc="44" dirty="0"/>
              <a:t>c</a:t>
            </a:r>
            <a:r>
              <a:rPr spc="19" dirty="0"/>
              <a:t>t</a:t>
            </a:r>
            <a:r>
              <a:rPr spc="56" dirty="0"/>
              <a:t>i</a:t>
            </a:r>
            <a:r>
              <a:rPr spc="156" dirty="0"/>
              <a:t>o</a:t>
            </a:r>
            <a:r>
              <a:rPr spc="142" dirty="0"/>
              <a:t>n</a:t>
            </a:r>
            <a:r>
              <a:rPr spc="-175" dirty="0"/>
              <a:t>_</a:t>
            </a:r>
            <a:r>
              <a:rPr spc="113" dirty="0"/>
              <a:t>1</a:t>
            </a:r>
            <a:r>
              <a:rPr spc="318" dirty="0"/>
              <a:t>/</a:t>
            </a:r>
            <a:r>
              <a:rPr spc="244" dirty="0">
                <a:solidFill>
                  <a:srgbClr val="000080"/>
                </a:solidFill>
                <a:hlinkClick r:id="rId2"/>
              </a:rPr>
              <a:t>Q</a:t>
            </a:r>
            <a:r>
              <a:rPr spc="138" dirty="0">
                <a:solidFill>
                  <a:srgbClr val="000080"/>
                </a:solidFill>
                <a:hlinkClick r:id="rId2"/>
              </a:rPr>
              <a:t>u</a:t>
            </a:r>
            <a:r>
              <a:rPr spc="25" dirty="0">
                <a:solidFill>
                  <a:srgbClr val="000080"/>
                </a:solidFill>
                <a:hlinkClick r:id="rId2"/>
              </a:rPr>
              <a:t>e</a:t>
            </a:r>
            <a:r>
              <a:rPr spc="281" dirty="0">
                <a:solidFill>
                  <a:srgbClr val="000080"/>
                </a:solidFill>
                <a:hlinkClick r:id="rId2"/>
              </a:rPr>
              <a:t>s</a:t>
            </a:r>
            <a:r>
              <a:rPr spc="19" dirty="0">
                <a:solidFill>
                  <a:srgbClr val="000080"/>
                </a:solidFill>
                <a:hlinkClick r:id="rId2"/>
              </a:rPr>
              <a:t>t</a:t>
            </a:r>
            <a:r>
              <a:rPr spc="56" dirty="0">
                <a:solidFill>
                  <a:srgbClr val="000080"/>
                </a:solidFill>
                <a:hlinkClick r:id="rId2"/>
              </a:rPr>
              <a:t>i</a:t>
            </a:r>
            <a:r>
              <a:rPr spc="156" dirty="0">
                <a:solidFill>
                  <a:srgbClr val="000080"/>
                </a:solidFill>
                <a:hlinkClick r:id="rId2"/>
              </a:rPr>
              <a:t>o</a:t>
            </a:r>
            <a:r>
              <a:rPr spc="142" dirty="0">
                <a:solidFill>
                  <a:srgbClr val="000080"/>
                </a:solidFill>
                <a:hlinkClick r:id="rId2"/>
              </a:rPr>
              <a:t>n</a:t>
            </a:r>
            <a:r>
              <a:rPr spc="-250" dirty="0">
                <a:solidFill>
                  <a:srgbClr val="000080"/>
                </a:solidFill>
                <a:hlinkClick r:id="rId2"/>
              </a:rPr>
              <a:t>.</a:t>
            </a:r>
            <a:r>
              <a:rPr spc="-69" dirty="0">
                <a:solidFill>
                  <a:srgbClr val="000080"/>
                </a:solidFill>
                <a:hlinkClick r:id="rId2"/>
              </a:rPr>
              <a:t>j</a:t>
            </a:r>
            <a:r>
              <a:rPr spc="119" dirty="0">
                <a:solidFill>
                  <a:srgbClr val="000080"/>
                </a:solidFill>
                <a:hlinkClick r:id="rId2"/>
              </a:rPr>
              <a:t>a</a:t>
            </a:r>
            <a:r>
              <a:rPr spc="138" dirty="0">
                <a:solidFill>
                  <a:srgbClr val="000080"/>
                </a:solidFill>
                <a:hlinkClick r:id="rId2"/>
              </a:rPr>
              <a:t>v</a:t>
            </a:r>
            <a:r>
              <a:rPr spc="119" dirty="0">
                <a:solidFill>
                  <a:srgbClr val="000080"/>
                </a:solidFill>
                <a:hlinkClick r:id="rId2"/>
              </a:rPr>
              <a:t>a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855592" y="2044220"/>
            <a:ext cx="3350419" cy="10531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 defTabSz="1143000">
              <a:lnSpc>
                <a:spcPts val="1019"/>
              </a:lnSpc>
            </a:pP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/**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222250" defTabSz="1143000">
              <a:lnSpc>
                <a:spcPts val="1243"/>
              </a:lnSpc>
            </a:pPr>
            <a:r>
              <a:rPr sz="1063" spc="19" dirty="0">
                <a:solidFill>
                  <a:srgbClr val="0073FF"/>
                </a:solidFill>
                <a:latin typeface="Times New Roman"/>
                <a:cs typeface="Times New Roman"/>
              </a:rPr>
              <a:t>Constructs a question with empty question and</a:t>
            </a:r>
            <a:r>
              <a:rPr sz="1063" spc="-75" dirty="0">
                <a:solidFill>
                  <a:srgbClr val="0073FF"/>
                </a:solidFill>
                <a:latin typeface="Times New Roman"/>
                <a:cs typeface="Times New Roman"/>
              </a:rPr>
              <a:t> </a:t>
            </a:r>
            <a:r>
              <a:rPr sz="1063" spc="19" dirty="0">
                <a:solidFill>
                  <a:srgbClr val="0073FF"/>
                </a:solidFill>
                <a:latin typeface="Times New Roman"/>
                <a:cs typeface="Times New Roman"/>
              </a:rPr>
              <a:t>answer.</a:t>
            </a:r>
            <a:endParaRPr sz="1063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5875" defTabSz="1143000">
              <a:lnSpc>
                <a:spcPts val="1044"/>
              </a:lnSpc>
              <a:spcBef>
                <a:spcPts val="19"/>
              </a:spcBef>
            </a:pP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*/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75" defTabSz="1143000">
              <a:lnSpc>
                <a:spcPts val="1044"/>
              </a:lnSpc>
            </a:pPr>
            <a:r>
              <a:rPr sz="875" spc="13" dirty="0">
                <a:solidFill>
                  <a:srgbClr val="CC0066"/>
                </a:solidFill>
                <a:latin typeface="Courier New"/>
                <a:cs typeface="Courier New"/>
              </a:rPr>
              <a:t>public</a:t>
            </a:r>
            <a:r>
              <a:rPr sz="875" spc="-50" dirty="0">
                <a:solidFill>
                  <a:srgbClr val="CC0066"/>
                </a:solidFill>
                <a:latin typeface="Courier New"/>
                <a:cs typeface="Courier New"/>
              </a:rPr>
              <a:t> </a:t>
            </a: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Question()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75" defTabSz="1143000">
              <a:lnSpc>
                <a:spcPts val="1044"/>
              </a:lnSpc>
            </a:pP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222250" marR="2292350" defTabSz="1143000">
              <a:lnSpc>
                <a:spcPts val="1038"/>
              </a:lnSpc>
              <a:spcBef>
                <a:spcPts val="38"/>
              </a:spcBef>
            </a:pP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text = </a:t>
            </a:r>
            <a:r>
              <a:rPr sz="875" spc="13" dirty="0">
                <a:solidFill>
                  <a:srgbClr val="1F9060"/>
                </a:solidFill>
                <a:latin typeface="Courier New"/>
                <a:cs typeface="Courier New"/>
              </a:rPr>
              <a:t>""</a:t>
            </a: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;  answer =</a:t>
            </a:r>
            <a:r>
              <a:rPr sz="875" spc="-81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875" spc="13" dirty="0">
                <a:solidFill>
                  <a:srgbClr val="1F9060"/>
                </a:solidFill>
                <a:latin typeface="Courier New"/>
                <a:cs typeface="Courier New"/>
              </a:rPr>
              <a:t>""</a:t>
            </a: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75" defTabSz="1143000">
              <a:lnSpc>
                <a:spcPts val="1006"/>
              </a:lnSpc>
            </a:pP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55592" y="3261181"/>
            <a:ext cx="2905919" cy="10916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 defTabSz="1143000">
              <a:lnSpc>
                <a:spcPts val="1019"/>
              </a:lnSpc>
            </a:pP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/**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222250" defTabSz="1143000">
              <a:lnSpc>
                <a:spcPts val="1231"/>
              </a:lnSpc>
            </a:pPr>
            <a:r>
              <a:rPr sz="1063" spc="19" dirty="0">
                <a:solidFill>
                  <a:srgbClr val="0073FF"/>
                </a:solidFill>
                <a:latin typeface="Times New Roman"/>
                <a:cs typeface="Times New Roman"/>
              </a:rPr>
              <a:t>Sets the question</a:t>
            </a:r>
            <a:r>
              <a:rPr sz="1063" spc="-100" dirty="0">
                <a:solidFill>
                  <a:srgbClr val="0073FF"/>
                </a:solidFill>
                <a:latin typeface="Times New Roman"/>
                <a:cs typeface="Times New Roman"/>
              </a:rPr>
              <a:t> </a:t>
            </a:r>
            <a:r>
              <a:rPr sz="1063" spc="13" dirty="0">
                <a:solidFill>
                  <a:srgbClr val="0073FF"/>
                </a:solidFill>
                <a:latin typeface="Times New Roman"/>
                <a:cs typeface="Times New Roman"/>
              </a:rPr>
              <a:t>text.</a:t>
            </a:r>
            <a:endParaRPr sz="1063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222250" defTabSz="1143000">
              <a:lnSpc>
                <a:spcPts val="1263"/>
              </a:lnSpc>
            </a:pP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@param questionText</a:t>
            </a:r>
            <a:r>
              <a:rPr sz="875" spc="-281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063" spc="19" dirty="0">
                <a:solidFill>
                  <a:srgbClr val="0073FF"/>
                </a:solidFill>
                <a:latin typeface="Times New Roman"/>
                <a:cs typeface="Times New Roman"/>
              </a:rPr>
              <a:t>the </a:t>
            </a:r>
            <a:r>
              <a:rPr sz="1063" spc="13" dirty="0">
                <a:solidFill>
                  <a:srgbClr val="0073FF"/>
                </a:solidFill>
                <a:latin typeface="Times New Roman"/>
                <a:cs typeface="Times New Roman"/>
              </a:rPr>
              <a:t>text </a:t>
            </a:r>
            <a:r>
              <a:rPr sz="1063" spc="19" dirty="0">
                <a:solidFill>
                  <a:srgbClr val="0073FF"/>
                </a:solidFill>
                <a:latin typeface="Times New Roman"/>
                <a:cs typeface="Times New Roman"/>
              </a:rPr>
              <a:t>of </a:t>
            </a:r>
            <a:r>
              <a:rPr sz="1063" spc="13" dirty="0">
                <a:solidFill>
                  <a:srgbClr val="0073FF"/>
                </a:solidFill>
                <a:latin typeface="Times New Roman"/>
                <a:cs typeface="Times New Roman"/>
              </a:rPr>
              <a:t>this </a:t>
            </a:r>
            <a:r>
              <a:rPr sz="1063" spc="19" dirty="0">
                <a:solidFill>
                  <a:srgbClr val="0073FF"/>
                </a:solidFill>
                <a:latin typeface="Times New Roman"/>
                <a:cs typeface="Times New Roman"/>
              </a:rPr>
              <a:t>question</a:t>
            </a:r>
            <a:endParaRPr sz="1063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5875" defTabSz="1143000">
              <a:lnSpc>
                <a:spcPts val="1044"/>
              </a:lnSpc>
              <a:spcBef>
                <a:spcPts val="19"/>
              </a:spcBef>
            </a:pP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*/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75" defTabSz="1143000">
              <a:lnSpc>
                <a:spcPts val="1044"/>
              </a:lnSpc>
            </a:pPr>
            <a:r>
              <a:rPr sz="875" spc="13" dirty="0">
                <a:solidFill>
                  <a:srgbClr val="CC0066"/>
                </a:solidFill>
                <a:latin typeface="Courier New"/>
                <a:cs typeface="Courier New"/>
              </a:rPr>
              <a:t>public void </a:t>
            </a: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setText(String</a:t>
            </a:r>
            <a:r>
              <a:rPr sz="875" spc="38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questionText)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75" defTabSz="1143000">
              <a:lnSpc>
                <a:spcPts val="1044"/>
              </a:lnSpc>
            </a:pP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222250" defTabSz="1143000">
              <a:lnSpc>
                <a:spcPts val="1044"/>
              </a:lnSpc>
            </a:pP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text =</a:t>
            </a:r>
            <a:r>
              <a:rPr sz="875" spc="-44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questionText;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75" defTabSz="1143000">
              <a:lnSpc>
                <a:spcPts val="1044"/>
              </a:lnSpc>
            </a:pP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74192" y="959536"/>
            <a:ext cx="2637631" cy="42912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4138" defTabSz="1143000">
              <a:lnSpc>
                <a:spcPts val="1019"/>
              </a:lnSpc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1</a:t>
            </a:r>
            <a:r>
              <a:rPr sz="875" b="1" spc="444" dirty="0">
                <a:solidFill>
                  <a:srgbClr val="0073FF"/>
                </a:solidFill>
                <a:latin typeface="Courier New"/>
                <a:cs typeface="Courier New"/>
              </a:rPr>
              <a:t> </a:t>
            </a: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/**</a:t>
            </a:r>
            <a:endParaRPr sz="875" dirty="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84138" defTabSz="1143000">
              <a:lnSpc>
                <a:spcPts val="1243"/>
              </a:lnSpc>
              <a:tabLst>
                <a:tab pos="496888" algn="l"/>
              </a:tabLst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2	</a:t>
            </a:r>
            <a:r>
              <a:rPr sz="1063" spc="31" dirty="0">
                <a:solidFill>
                  <a:srgbClr val="0073FF"/>
                </a:solidFill>
                <a:latin typeface="Times New Roman"/>
                <a:cs typeface="Times New Roman"/>
              </a:rPr>
              <a:t>A </a:t>
            </a:r>
            <a:r>
              <a:rPr sz="1063" spc="19" dirty="0">
                <a:solidFill>
                  <a:srgbClr val="0073FF"/>
                </a:solidFill>
                <a:latin typeface="Times New Roman"/>
                <a:cs typeface="Times New Roman"/>
              </a:rPr>
              <a:t>question with a </a:t>
            </a:r>
            <a:r>
              <a:rPr sz="1063" spc="13" dirty="0">
                <a:solidFill>
                  <a:srgbClr val="0073FF"/>
                </a:solidFill>
                <a:latin typeface="Times New Roman"/>
                <a:cs typeface="Times New Roman"/>
              </a:rPr>
              <a:t>text </a:t>
            </a:r>
            <a:r>
              <a:rPr sz="1063" spc="19" dirty="0">
                <a:solidFill>
                  <a:srgbClr val="0073FF"/>
                </a:solidFill>
                <a:latin typeface="Times New Roman"/>
                <a:cs typeface="Times New Roman"/>
              </a:rPr>
              <a:t>and an</a:t>
            </a:r>
            <a:r>
              <a:rPr sz="1063" spc="-106" dirty="0">
                <a:solidFill>
                  <a:srgbClr val="0073FF"/>
                </a:solidFill>
                <a:latin typeface="Times New Roman"/>
                <a:cs typeface="Times New Roman"/>
              </a:rPr>
              <a:t> </a:t>
            </a:r>
            <a:r>
              <a:rPr sz="1063" spc="19" dirty="0">
                <a:solidFill>
                  <a:srgbClr val="0073FF"/>
                </a:solidFill>
                <a:latin typeface="Times New Roman"/>
                <a:cs typeface="Times New Roman"/>
              </a:rPr>
              <a:t>answer.</a:t>
            </a:r>
            <a:endParaRPr sz="1063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84138" defTabSz="1143000">
              <a:lnSpc>
                <a:spcPts val="1044"/>
              </a:lnSpc>
              <a:spcBef>
                <a:spcPts val="19"/>
              </a:spcBef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3</a:t>
            </a:r>
            <a:r>
              <a:rPr sz="875" b="1" spc="444" dirty="0">
                <a:solidFill>
                  <a:srgbClr val="0073FF"/>
                </a:solidFill>
                <a:latin typeface="Courier New"/>
                <a:cs typeface="Courier New"/>
              </a:rPr>
              <a:t> </a:t>
            </a: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*/</a:t>
            </a:r>
            <a:endParaRPr sz="875" dirty="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84138" defTabSz="1143000">
              <a:lnSpc>
                <a:spcPts val="1044"/>
              </a:lnSpc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4  </a:t>
            </a:r>
            <a:r>
              <a:rPr sz="875" spc="13" dirty="0">
                <a:solidFill>
                  <a:srgbClr val="CC0066"/>
                </a:solidFill>
                <a:latin typeface="Courier New"/>
                <a:cs typeface="Courier New"/>
              </a:rPr>
              <a:t>public class</a:t>
            </a:r>
            <a:r>
              <a:rPr sz="875" spc="-25" dirty="0">
                <a:solidFill>
                  <a:srgbClr val="CC0066"/>
                </a:solidFill>
                <a:latin typeface="Courier New"/>
                <a:cs typeface="Courier New"/>
              </a:rPr>
              <a:t> </a:t>
            </a: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Question</a:t>
            </a:r>
            <a:endParaRPr sz="875" dirty="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84138" defTabSz="1143000">
              <a:lnSpc>
                <a:spcPts val="1044"/>
              </a:lnSpc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5</a:t>
            </a:r>
            <a:r>
              <a:rPr sz="875" b="1" spc="438" dirty="0">
                <a:solidFill>
                  <a:srgbClr val="0073FF"/>
                </a:solidFill>
                <a:latin typeface="Courier New"/>
                <a:cs typeface="Courier New"/>
              </a:rPr>
              <a:t> </a:t>
            </a: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875" dirty="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496888" indent="-412750" defTabSz="1143000">
              <a:lnSpc>
                <a:spcPts val="1044"/>
              </a:lnSpc>
              <a:buClr>
                <a:srgbClr val="0073FF"/>
              </a:buClr>
              <a:buFont typeface="Courier New"/>
              <a:buAutoNum type="arabicPlain" startAt="6"/>
              <a:tabLst>
                <a:tab pos="497681" algn="l"/>
              </a:tabLst>
            </a:pPr>
            <a:r>
              <a:rPr sz="875" spc="13" dirty="0">
                <a:solidFill>
                  <a:srgbClr val="CC0066"/>
                </a:solidFill>
                <a:latin typeface="Courier New"/>
                <a:cs typeface="Courier New"/>
              </a:rPr>
              <a:t>private </a:t>
            </a: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String</a:t>
            </a:r>
            <a:r>
              <a:rPr sz="875" spc="-44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text;</a:t>
            </a:r>
            <a:endParaRPr sz="875" dirty="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496888" indent="-412750" defTabSz="1143000">
              <a:lnSpc>
                <a:spcPts val="1044"/>
              </a:lnSpc>
              <a:buClr>
                <a:srgbClr val="0073FF"/>
              </a:buClr>
              <a:buFont typeface="Courier New"/>
              <a:buAutoNum type="arabicPlain" startAt="6"/>
              <a:tabLst>
                <a:tab pos="497681" algn="l"/>
              </a:tabLst>
            </a:pPr>
            <a:r>
              <a:rPr sz="875" spc="13" dirty="0">
                <a:solidFill>
                  <a:srgbClr val="CC0066"/>
                </a:solidFill>
                <a:latin typeface="Courier New"/>
                <a:cs typeface="Courier New"/>
              </a:rPr>
              <a:t>private </a:t>
            </a: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String</a:t>
            </a:r>
            <a:r>
              <a:rPr sz="875" spc="-31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answer;</a:t>
            </a:r>
            <a:endParaRPr sz="875" dirty="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84138" defTabSz="1143000">
              <a:lnSpc>
                <a:spcPts val="1044"/>
              </a:lnSpc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8</a:t>
            </a:r>
            <a:endParaRPr sz="875" dirty="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84138" defTabSz="1143000">
              <a:lnSpc>
                <a:spcPts val="1044"/>
              </a:lnSpc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9</a:t>
            </a:r>
            <a:endParaRPr sz="875" dirty="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75" defTabSz="1143000">
              <a:spcBef>
                <a:spcPts val="131"/>
              </a:spcBef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10</a:t>
            </a:r>
            <a:endParaRPr sz="875" dirty="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75" defTabSz="1143000">
              <a:lnSpc>
                <a:spcPts val="1044"/>
              </a:lnSpc>
              <a:spcBef>
                <a:spcPts val="56"/>
              </a:spcBef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11</a:t>
            </a:r>
            <a:endParaRPr sz="875" dirty="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75" defTabSz="1143000">
              <a:lnSpc>
                <a:spcPts val="1044"/>
              </a:lnSpc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12</a:t>
            </a:r>
            <a:endParaRPr sz="875" dirty="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75" defTabSz="1143000">
              <a:lnSpc>
                <a:spcPts val="1044"/>
              </a:lnSpc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13</a:t>
            </a:r>
            <a:endParaRPr sz="875" dirty="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75" defTabSz="1143000">
              <a:lnSpc>
                <a:spcPts val="1044"/>
              </a:lnSpc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14</a:t>
            </a:r>
            <a:endParaRPr sz="875" dirty="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75" defTabSz="1143000">
              <a:lnSpc>
                <a:spcPts val="1044"/>
              </a:lnSpc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15</a:t>
            </a:r>
            <a:endParaRPr sz="875" dirty="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75" defTabSz="1143000">
              <a:lnSpc>
                <a:spcPts val="1044"/>
              </a:lnSpc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16</a:t>
            </a:r>
            <a:endParaRPr sz="875" dirty="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75" defTabSz="1143000">
              <a:lnSpc>
                <a:spcPts val="1044"/>
              </a:lnSpc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17</a:t>
            </a:r>
            <a:endParaRPr sz="875" dirty="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75" defTabSz="1143000">
              <a:lnSpc>
                <a:spcPts val="1044"/>
              </a:lnSpc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18</a:t>
            </a:r>
            <a:endParaRPr sz="875" dirty="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75" defTabSz="1143000">
              <a:spcBef>
                <a:spcPts val="131"/>
              </a:spcBef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19</a:t>
            </a:r>
            <a:endParaRPr sz="875" dirty="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75" defTabSz="1143000">
              <a:spcBef>
                <a:spcPts val="200"/>
              </a:spcBef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20</a:t>
            </a:r>
            <a:endParaRPr sz="875" dirty="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75" defTabSz="1143000">
              <a:lnSpc>
                <a:spcPts val="1044"/>
              </a:lnSpc>
              <a:spcBef>
                <a:spcPts val="56"/>
              </a:spcBef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21</a:t>
            </a:r>
            <a:endParaRPr sz="875" dirty="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75" defTabSz="1143000">
              <a:lnSpc>
                <a:spcPts val="1044"/>
              </a:lnSpc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22</a:t>
            </a:r>
            <a:endParaRPr sz="875" dirty="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75" defTabSz="1143000">
              <a:lnSpc>
                <a:spcPts val="1044"/>
              </a:lnSpc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23</a:t>
            </a:r>
            <a:endParaRPr sz="875" dirty="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75" defTabSz="1143000">
              <a:lnSpc>
                <a:spcPts val="1044"/>
              </a:lnSpc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24</a:t>
            </a:r>
            <a:endParaRPr sz="875" dirty="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75" defTabSz="1143000">
              <a:lnSpc>
                <a:spcPts val="1044"/>
              </a:lnSpc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25</a:t>
            </a:r>
            <a:endParaRPr sz="875" dirty="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75" defTabSz="1143000">
              <a:lnSpc>
                <a:spcPts val="1044"/>
              </a:lnSpc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26</a:t>
            </a:r>
            <a:endParaRPr sz="875" dirty="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75" defTabSz="1143000">
              <a:lnSpc>
                <a:spcPts val="1044"/>
              </a:lnSpc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27</a:t>
            </a:r>
            <a:endParaRPr sz="875" dirty="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75" defTabSz="1143000">
              <a:spcBef>
                <a:spcPts val="131"/>
              </a:spcBef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28</a:t>
            </a:r>
            <a:endParaRPr sz="875" dirty="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75" defTabSz="1143000">
              <a:spcBef>
                <a:spcPts val="200"/>
              </a:spcBef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29</a:t>
            </a:r>
            <a:endParaRPr sz="875" dirty="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75" defTabSz="1143000">
              <a:lnSpc>
                <a:spcPts val="1044"/>
              </a:lnSpc>
              <a:spcBef>
                <a:spcPts val="56"/>
              </a:spcBef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30</a:t>
            </a:r>
            <a:endParaRPr sz="875" dirty="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75" defTabSz="1143000">
              <a:lnSpc>
                <a:spcPts val="1044"/>
              </a:lnSpc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31</a:t>
            </a:r>
            <a:endParaRPr sz="875" dirty="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75" defTabSz="1143000">
              <a:lnSpc>
                <a:spcPts val="1044"/>
              </a:lnSpc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32</a:t>
            </a:r>
            <a:endParaRPr sz="875" dirty="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55592" y="4504600"/>
            <a:ext cx="3128169" cy="835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 defTabSz="1143000">
              <a:lnSpc>
                <a:spcPts val="1019"/>
              </a:lnSpc>
            </a:pP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/**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222250" defTabSz="1143000">
              <a:lnSpc>
                <a:spcPts val="1231"/>
              </a:lnSpc>
            </a:pPr>
            <a:r>
              <a:rPr sz="1063" spc="19" dirty="0">
                <a:solidFill>
                  <a:srgbClr val="0073FF"/>
                </a:solidFill>
                <a:latin typeface="Times New Roman"/>
                <a:cs typeface="Times New Roman"/>
              </a:rPr>
              <a:t>Sets the answer for </a:t>
            </a:r>
            <a:r>
              <a:rPr sz="1063" spc="13" dirty="0">
                <a:solidFill>
                  <a:srgbClr val="0073FF"/>
                </a:solidFill>
                <a:latin typeface="Times New Roman"/>
                <a:cs typeface="Times New Roman"/>
              </a:rPr>
              <a:t>this</a:t>
            </a:r>
            <a:r>
              <a:rPr sz="1063" spc="-113" dirty="0">
                <a:solidFill>
                  <a:srgbClr val="0073FF"/>
                </a:solidFill>
                <a:latin typeface="Times New Roman"/>
                <a:cs typeface="Times New Roman"/>
              </a:rPr>
              <a:t> </a:t>
            </a:r>
            <a:r>
              <a:rPr sz="1063" spc="19" dirty="0">
                <a:solidFill>
                  <a:srgbClr val="0073FF"/>
                </a:solidFill>
                <a:latin typeface="Times New Roman"/>
                <a:cs typeface="Times New Roman"/>
              </a:rPr>
              <a:t>question.</a:t>
            </a:r>
            <a:endParaRPr sz="1063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222250" defTabSz="1143000">
              <a:lnSpc>
                <a:spcPts val="1263"/>
              </a:lnSpc>
            </a:pP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@param correctResponse</a:t>
            </a:r>
            <a:r>
              <a:rPr sz="875" spc="-27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063" spc="19" dirty="0">
                <a:solidFill>
                  <a:srgbClr val="0073FF"/>
                </a:solidFill>
                <a:latin typeface="Times New Roman"/>
                <a:cs typeface="Times New Roman"/>
              </a:rPr>
              <a:t>the answer</a:t>
            </a:r>
            <a:endParaRPr sz="1063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5875" defTabSz="1143000">
              <a:lnSpc>
                <a:spcPts val="1044"/>
              </a:lnSpc>
              <a:spcBef>
                <a:spcPts val="19"/>
              </a:spcBef>
            </a:pP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*/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75" defTabSz="1143000">
              <a:lnSpc>
                <a:spcPts val="1044"/>
              </a:lnSpc>
            </a:pPr>
            <a:r>
              <a:rPr sz="875" spc="13" dirty="0">
                <a:solidFill>
                  <a:srgbClr val="CC0066"/>
                </a:solidFill>
                <a:latin typeface="Courier New"/>
                <a:cs typeface="Courier New"/>
              </a:rPr>
              <a:t>public void </a:t>
            </a: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setAnswer(String</a:t>
            </a:r>
            <a:r>
              <a:rPr sz="875" spc="56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correctResponse)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75" defTabSz="1143000">
              <a:lnSpc>
                <a:spcPts val="1044"/>
              </a:lnSpc>
            </a:pP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800162" y="894290"/>
            <a:ext cx="141111" cy="44097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1143000"/>
            <a:endParaRPr sz="22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791350" y="894291"/>
            <a:ext cx="149935" cy="262819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1143000"/>
            <a:endParaRPr sz="2250">
              <a:solidFill>
                <a:prstClr val="black"/>
              </a:solidFill>
              <a:latin typeface="Calibri"/>
            </a:endParaRPr>
          </a:p>
        </p:txBody>
      </p:sp>
    </p:spTree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50678" y="719784"/>
            <a:ext cx="6985000" cy="0"/>
          </a:xfrm>
          <a:custGeom>
            <a:avLst/>
            <a:gdLst/>
            <a:ahLst/>
            <a:cxnLst/>
            <a:rect l="l" t="t" r="r" b="b"/>
            <a:pathLst>
              <a:path w="5588000">
                <a:moveTo>
                  <a:pt x="0" y="0"/>
                </a:moveTo>
                <a:lnTo>
                  <a:pt x="5587440" y="0"/>
                </a:lnTo>
              </a:path>
            </a:pathLst>
          </a:custGeom>
          <a:ln w="56438">
            <a:solidFill>
              <a:srgbClr val="FFDF6A"/>
            </a:solidFill>
          </a:ln>
        </p:spPr>
        <p:txBody>
          <a:bodyPr wrap="square" lIns="0" tIns="0" rIns="0" bIns="0" rtlCol="0"/>
          <a:lstStyle/>
          <a:p>
            <a:pPr defTabSz="1143000"/>
            <a:endParaRPr sz="22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/>
            <a:r>
              <a:rPr spc="106" dirty="0"/>
              <a:t>section_1/</a:t>
            </a:r>
            <a:r>
              <a:rPr spc="106" dirty="0">
                <a:solidFill>
                  <a:srgbClr val="000080"/>
                </a:solidFill>
                <a:hlinkClick r:id="rId2"/>
              </a:rPr>
              <a:t>QuestionDemo1.java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062002" y="2441055"/>
            <a:ext cx="2990056" cy="3863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 defTabSz="1143000">
              <a:lnSpc>
                <a:spcPts val="1044"/>
              </a:lnSpc>
            </a:pP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Question q = </a:t>
            </a:r>
            <a:r>
              <a:rPr sz="875" spc="13" dirty="0">
                <a:solidFill>
                  <a:srgbClr val="CC0066"/>
                </a:solidFill>
                <a:latin typeface="Courier New"/>
                <a:cs typeface="Courier New"/>
              </a:rPr>
              <a:t>new</a:t>
            </a:r>
            <a:r>
              <a:rPr sz="875" spc="-19" dirty="0">
                <a:solidFill>
                  <a:srgbClr val="CC0066"/>
                </a:solidFill>
                <a:latin typeface="Courier New"/>
                <a:cs typeface="Courier New"/>
              </a:rPr>
              <a:t> </a:t>
            </a: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Question();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75" marR="6350" defTabSz="1143000">
              <a:lnSpc>
                <a:spcPts val="1038"/>
              </a:lnSpc>
              <a:spcBef>
                <a:spcPts val="38"/>
              </a:spcBef>
            </a:pP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q.setText(</a:t>
            </a:r>
            <a:r>
              <a:rPr sz="875" spc="13" dirty="0">
                <a:solidFill>
                  <a:srgbClr val="1F9060"/>
                </a:solidFill>
                <a:latin typeface="Courier New"/>
                <a:cs typeface="Courier New"/>
              </a:rPr>
              <a:t>"Who was the inventor of Java?"</a:t>
            </a: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);  q.setAnswer(</a:t>
            </a:r>
            <a:r>
              <a:rPr sz="875" spc="13" dirty="0">
                <a:solidFill>
                  <a:srgbClr val="1F9060"/>
                </a:solidFill>
                <a:latin typeface="Courier New"/>
                <a:cs typeface="Courier New"/>
              </a:rPr>
              <a:t>"James</a:t>
            </a:r>
            <a:r>
              <a:rPr sz="875" spc="-13" dirty="0">
                <a:solidFill>
                  <a:srgbClr val="1F9060"/>
                </a:solidFill>
                <a:latin typeface="Courier New"/>
                <a:cs typeface="Courier New"/>
              </a:rPr>
              <a:t> </a:t>
            </a:r>
            <a:r>
              <a:rPr sz="875" spc="13" dirty="0">
                <a:solidFill>
                  <a:srgbClr val="1F9060"/>
                </a:solidFill>
                <a:latin typeface="Courier New"/>
                <a:cs typeface="Courier New"/>
              </a:rPr>
              <a:t>Gosling"</a:t>
            </a: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);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62001" y="2970170"/>
            <a:ext cx="3059113" cy="533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 marR="693738" defTabSz="1143000"/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q.display();  System.out.print(</a:t>
            </a:r>
            <a:r>
              <a:rPr sz="875" spc="13" dirty="0">
                <a:solidFill>
                  <a:srgbClr val="1F9060"/>
                </a:solidFill>
                <a:latin typeface="Courier New"/>
                <a:cs typeface="Courier New"/>
              </a:rPr>
              <a:t>"Your answer: "</a:t>
            </a: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);  String response =</a:t>
            </a:r>
            <a:r>
              <a:rPr sz="875" spc="6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in.nextLine();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75" defTabSz="1143000">
              <a:lnSpc>
                <a:spcPts val="1044"/>
              </a:lnSpc>
            </a:pP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System.out.println(q.checkAnswer(response));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55708" y="3499283"/>
            <a:ext cx="100806" cy="1346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 defTabSz="1143000"/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74191" y="959537"/>
            <a:ext cx="3527425" cy="28485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4138" defTabSz="1143000">
              <a:lnSpc>
                <a:spcPts val="1044"/>
              </a:lnSpc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1  </a:t>
            </a:r>
            <a:r>
              <a:rPr sz="875" spc="13" dirty="0">
                <a:solidFill>
                  <a:srgbClr val="CC0066"/>
                </a:solidFill>
                <a:latin typeface="Courier New"/>
                <a:cs typeface="Courier New"/>
              </a:rPr>
              <a:t>import</a:t>
            </a:r>
            <a:r>
              <a:rPr sz="875" spc="-6" dirty="0">
                <a:solidFill>
                  <a:srgbClr val="CC0066"/>
                </a:solidFill>
                <a:latin typeface="Courier New"/>
                <a:cs typeface="Courier New"/>
              </a:rPr>
              <a:t> </a:t>
            </a: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java.util.Scanner;</a:t>
            </a:r>
            <a:endParaRPr sz="875" dirty="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84138" defTabSz="1143000">
              <a:lnSpc>
                <a:spcPts val="1044"/>
              </a:lnSpc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2</a:t>
            </a:r>
            <a:endParaRPr sz="875" dirty="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84138" defTabSz="1143000">
              <a:lnSpc>
                <a:spcPts val="1019"/>
              </a:lnSpc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3</a:t>
            </a:r>
            <a:r>
              <a:rPr sz="875" b="1" spc="444" dirty="0">
                <a:solidFill>
                  <a:srgbClr val="0073FF"/>
                </a:solidFill>
                <a:latin typeface="Courier New"/>
                <a:cs typeface="Courier New"/>
              </a:rPr>
              <a:t> </a:t>
            </a: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/**</a:t>
            </a:r>
            <a:endParaRPr sz="875" dirty="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84138" defTabSz="1143000">
              <a:lnSpc>
                <a:spcPts val="1243"/>
              </a:lnSpc>
              <a:tabLst>
                <a:tab pos="496888" algn="l"/>
              </a:tabLst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4	</a:t>
            </a:r>
            <a:r>
              <a:rPr sz="1063" spc="19" dirty="0">
                <a:solidFill>
                  <a:srgbClr val="0073FF"/>
                </a:solidFill>
                <a:latin typeface="Times New Roman"/>
                <a:cs typeface="Times New Roman"/>
              </a:rPr>
              <a:t>This program shows a simple quiz with one</a:t>
            </a:r>
            <a:r>
              <a:rPr sz="1063" spc="-75" dirty="0">
                <a:solidFill>
                  <a:srgbClr val="0073FF"/>
                </a:solidFill>
                <a:latin typeface="Times New Roman"/>
                <a:cs typeface="Times New Roman"/>
              </a:rPr>
              <a:t> </a:t>
            </a:r>
            <a:r>
              <a:rPr sz="1063" spc="19" dirty="0">
                <a:solidFill>
                  <a:srgbClr val="0073FF"/>
                </a:solidFill>
                <a:latin typeface="Times New Roman"/>
                <a:cs typeface="Times New Roman"/>
              </a:rPr>
              <a:t>question.</a:t>
            </a:r>
            <a:endParaRPr sz="1063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84138" defTabSz="1143000">
              <a:lnSpc>
                <a:spcPts val="1044"/>
              </a:lnSpc>
              <a:spcBef>
                <a:spcPts val="19"/>
              </a:spcBef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5</a:t>
            </a:r>
            <a:r>
              <a:rPr sz="875" b="1" spc="444" dirty="0">
                <a:solidFill>
                  <a:srgbClr val="0073FF"/>
                </a:solidFill>
                <a:latin typeface="Courier New"/>
                <a:cs typeface="Courier New"/>
              </a:rPr>
              <a:t> </a:t>
            </a: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*/</a:t>
            </a:r>
            <a:endParaRPr sz="875" dirty="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84138" defTabSz="1143000">
              <a:lnSpc>
                <a:spcPts val="1044"/>
              </a:lnSpc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6  </a:t>
            </a:r>
            <a:r>
              <a:rPr sz="875" spc="13" dirty="0">
                <a:solidFill>
                  <a:srgbClr val="CC0066"/>
                </a:solidFill>
                <a:latin typeface="Courier New"/>
                <a:cs typeface="Courier New"/>
              </a:rPr>
              <a:t>public class</a:t>
            </a:r>
            <a:r>
              <a:rPr sz="875" spc="-6" dirty="0">
                <a:solidFill>
                  <a:srgbClr val="CC0066"/>
                </a:solidFill>
                <a:latin typeface="Courier New"/>
                <a:cs typeface="Courier New"/>
              </a:rPr>
              <a:t> </a:t>
            </a: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QuestionDemo1</a:t>
            </a:r>
            <a:endParaRPr sz="875" dirty="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84138" defTabSz="1143000">
              <a:lnSpc>
                <a:spcPts val="1044"/>
              </a:lnSpc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7</a:t>
            </a:r>
            <a:r>
              <a:rPr sz="875" b="1" spc="438" dirty="0">
                <a:solidFill>
                  <a:srgbClr val="0073FF"/>
                </a:solidFill>
                <a:latin typeface="Courier New"/>
                <a:cs typeface="Courier New"/>
              </a:rPr>
              <a:t> </a:t>
            </a: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875" dirty="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84138" defTabSz="1143000">
              <a:lnSpc>
                <a:spcPts val="1044"/>
              </a:lnSpc>
              <a:tabLst>
                <a:tab pos="496888" algn="l"/>
              </a:tabLst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8	</a:t>
            </a:r>
            <a:r>
              <a:rPr sz="875" spc="13" dirty="0">
                <a:solidFill>
                  <a:srgbClr val="CC0066"/>
                </a:solidFill>
                <a:latin typeface="Courier New"/>
                <a:cs typeface="Courier New"/>
              </a:rPr>
              <a:t>public static void </a:t>
            </a: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main(String[]</a:t>
            </a:r>
            <a:r>
              <a:rPr sz="875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args)</a:t>
            </a:r>
            <a:endParaRPr sz="875" dirty="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84138" defTabSz="1143000">
              <a:lnSpc>
                <a:spcPts val="1044"/>
              </a:lnSpc>
              <a:tabLst>
                <a:tab pos="496888" algn="l"/>
              </a:tabLst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9	</a:t>
            </a: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875" dirty="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75" defTabSz="1143000">
              <a:lnSpc>
                <a:spcPts val="1044"/>
              </a:lnSpc>
              <a:tabLst>
                <a:tab pos="703263" algn="l"/>
              </a:tabLst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10	</a:t>
            </a: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Scanner in = </a:t>
            </a:r>
            <a:r>
              <a:rPr sz="875" spc="13" dirty="0">
                <a:solidFill>
                  <a:srgbClr val="CC0066"/>
                </a:solidFill>
                <a:latin typeface="Courier New"/>
                <a:cs typeface="Courier New"/>
              </a:rPr>
              <a:t>new</a:t>
            </a:r>
            <a:r>
              <a:rPr sz="875" spc="19" dirty="0">
                <a:solidFill>
                  <a:srgbClr val="CC0066"/>
                </a:solidFill>
                <a:latin typeface="Courier New"/>
                <a:cs typeface="Courier New"/>
              </a:rPr>
              <a:t> </a:t>
            </a: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Scanner(System.in);</a:t>
            </a:r>
            <a:endParaRPr sz="875" dirty="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75" defTabSz="1143000">
              <a:lnSpc>
                <a:spcPts val="1044"/>
              </a:lnSpc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11</a:t>
            </a:r>
            <a:endParaRPr sz="875" dirty="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75" defTabSz="1143000">
              <a:lnSpc>
                <a:spcPts val="1044"/>
              </a:lnSpc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12</a:t>
            </a:r>
            <a:endParaRPr sz="875" dirty="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75" defTabSz="1143000">
              <a:lnSpc>
                <a:spcPts val="1044"/>
              </a:lnSpc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13</a:t>
            </a:r>
            <a:endParaRPr sz="875" dirty="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75" defTabSz="1143000">
              <a:lnSpc>
                <a:spcPts val="1044"/>
              </a:lnSpc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14</a:t>
            </a:r>
            <a:endParaRPr sz="875" dirty="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75" defTabSz="1143000">
              <a:lnSpc>
                <a:spcPts val="1044"/>
              </a:lnSpc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15</a:t>
            </a:r>
            <a:endParaRPr sz="875" dirty="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75" defTabSz="1143000">
              <a:lnSpc>
                <a:spcPts val="1044"/>
              </a:lnSpc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16</a:t>
            </a:r>
            <a:endParaRPr sz="875" dirty="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75" defTabSz="1143000">
              <a:lnSpc>
                <a:spcPts val="1044"/>
              </a:lnSpc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17</a:t>
            </a:r>
            <a:endParaRPr sz="875" dirty="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75" defTabSz="1143000">
              <a:lnSpc>
                <a:spcPts val="1044"/>
              </a:lnSpc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18</a:t>
            </a:r>
            <a:endParaRPr sz="875" dirty="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75" defTabSz="1143000">
              <a:lnSpc>
                <a:spcPts val="1044"/>
              </a:lnSpc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19</a:t>
            </a:r>
            <a:endParaRPr sz="875" dirty="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75" defTabSz="1143000">
              <a:lnSpc>
                <a:spcPts val="1044"/>
              </a:lnSpc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20</a:t>
            </a:r>
            <a:endParaRPr sz="875" dirty="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75" defTabSz="1143000">
              <a:lnSpc>
                <a:spcPts val="1044"/>
              </a:lnSpc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21</a:t>
            </a:r>
            <a:r>
              <a:rPr sz="875" b="1" spc="444" dirty="0">
                <a:solidFill>
                  <a:srgbClr val="0073FF"/>
                </a:solidFill>
                <a:latin typeface="Courier New"/>
                <a:cs typeface="Courier New"/>
              </a:rPr>
              <a:t> </a:t>
            </a: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875" dirty="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75" defTabSz="1143000">
              <a:lnSpc>
                <a:spcPts val="1044"/>
              </a:lnSpc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22</a:t>
            </a:r>
            <a:endParaRPr sz="875" dirty="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34803" y="4405932"/>
            <a:ext cx="1129506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 defTabSz="1143000"/>
            <a:r>
              <a:rPr sz="1250" b="1" spc="25" dirty="0">
                <a:solidFill>
                  <a:prstClr val="black"/>
                </a:solidFill>
                <a:latin typeface="Arial"/>
                <a:cs typeface="Arial"/>
              </a:rPr>
              <a:t>Program</a:t>
            </a:r>
            <a:r>
              <a:rPr sz="1250" b="1" spc="-1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250" b="1" spc="25" dirty="0">
                <a:solidFill>
                  <a:prstClr val="black"/>
                </a:solidFill>
                <a:latin typeface="Arial"/>
                <a:cs typeface="Arial"/>
              </a:rPr>
              <a:t>Run:</a:t>
            </a:r>
            <a:endParaRPr sz="12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554918" y="4710184"/>
            <a:ext cx="6966744" cy="488082"/>
          </a:xfrm>
          <a:prstGeom prst="rect">
            <a:avLst/>
          </a:prstGeom>
          <a:ln w="7054">
            <a:solidFill>
              <a:srgbClr val="CCCCCC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55563" marR="4821238" defTabSz="1143000">
              <a:lnSpc>
                <a:spcPts val="1113"/>
              </a:lnSpc>
              <a:spcBef>
                <a:spcPts val="500"/>
              </a:spcBef>
            </a:pPr>
            <a:r>
              <a:rPr sz="938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Who was the inventor of Java?  Your answer: James Gosling  true</a:t>
            </a:r>
            <a:endParaRPr sz="938" dirty="0">
              <a:solidFill>
                <a:prstClr val="black"/>
              </a:solidFill>
              <a:latin typeface="Courier" charset="0"/>
              <a:cs typeface="Courier" charset="0"/>
            </a:endParaRPr>
          </a:p>
        </p:txBody>
      </p:sp>
    </p:spTree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50678" y="722263"/>
            <a:ext cx="6985000" cy="0"/>
          </a:xfrm>
          <a:custGeom>
            <a:avLst/>
            <a:gdLst/>
            <a:ahLst/>
            <a:cxnLst/>
            <a:rect l="l" t="t" r="r" b="b"/>
            <a:pathLst>
              <a:path w="5588000">
                <a:moveTo>
                  <a:pt x="0" y="0"/>
                </a:moveTo>
                <a:lnTo>
                  <a:pt x="5587440" y="0"/>
                </a:lnTo>
              </a:path>
            </a:pathLst>
          </a:custGeom>
          <a:ln w="56438">
            <a:solidFill>
              <a:srgbClr val="FFDF6A"/>
            </a:solidFill>
          </a:ln>
        </p:spPr>
        <p:txBody>
          <a:bodyPr wrap="square" lIns="0" tIns="0" rIns="0" bIns="0" rtlCol="0"/>
          <a:lstStyle/>
          <a:p>
            <a:pPr defTabSz="1143000"/>
            <a:endParaRPr sz="22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/>
            <a:r>
              <a:rPr spc="81" dirty="0"/>
              <a:t>Inheritance</a:t>
            </a:r>
            <a:r>
              <a:rPr spc="-75" dirty="0"/>
              <a:t> </a:t>
            </a:r>
            <a:r>
              <a:rPr spc="100" dirty="0"/>
              <a:t>Hierarchies</a:t>
            </a:r>
          </a:p>
        </p:txBody>
      </p:sp>
      <p:sp>
        <p:nvSpPr>
          <p:cNvPr id="4" name="object 4"/>
          <p:cNvSpPr/>
          <p:nvPr/>
        </p:nvSpPr>
        <p:spPr>
          <a:xfrm>
            <a:off x="1650237" y="1954483"/>
            <a:ext cx="61913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383" y="0"/>
                </a:lnTo>
              </a:path>
            </a:pathLst>
          </a:custGeom>
          <a:ln w="49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1143000"/>
            <a:endParaRPr sz="22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650237" y="2271951"/>
            <a:ext cx="61913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383" y="0"/>
                </a:lnTo>
              </a:path>
            </a:pathLst>
          </a:custGeom>
          <a:ln w="49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1143000"/>
            <a:endParaRPr sz="22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029435" y="2576192"/>
            <a:ext cx="44450" cy="4445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9397" y="35274"/>
                </a:moveTo>
                <a:lnTo>
                  <a:pt x="5876" y="35274"/>
                </a:lnTo>
                <a:lnTo>
                  <a:pt x="0" y="29418"/>
                </a:lnTo>
                <a:lnTo>
                  <a:pt x="0" y="5855"/>
                </a:lnTo>
                <a:lnTo>
                  <a:pt x="5876" y="0"/>
                </a:lnTo>
                <a:lnTo>
                  <a:pt x="29397" y="0"/>
                </a:lnTo>
                <a:lnTo>
                  <a:pt x="35274" y="5855"/>
                </a:lnTo>
                <a:lnTo>
                  <a:pt x="35274" y="29418"/>
                </a:lnTo>
                <a:lnTo>
                  <a:pt x="29397" y="352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1143000"/>
            <a:endParaRPr sz="22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029435" y="2831930"/>
            <a:ext cx="44450" cy="4445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9397" y="35274"/>
                </a:moveTo>
                <a:lnTo>
                  <a:pt x="5876" y="35274"/>
                </a:lnTo>
                <a:lnTo>
                  <a:pt x="0" y="29418"/>
                </a:lnTo>
                <a:lnTo>
                  <a:pt x="0" y="5855"/>
                </a:lnTo>
                <a:lnTo>
                  <a:pt x="5876" y="0"/>
                </a:lnTo>
                <a:lnTo>
                  <a:pt x="29397" y="0"/>
                </a:lnTo>
                <a:lnTo>
                  <a:pt x="35274" y="5855"/>
                </a:lnTo>
                <a:lnTo>
                  <a:pt x="35274" y="29418"/>
                </a:lnTo>
                <a:lnTo>
                  <a:pt x="29397" y="352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1143000"/>
            <a:endParaRPr sz="22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650237" y="3391908"/>
            <a:ext cx="61913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383" y="0"/>
                </a:lnTo>
              </a:path>
            </a:pathLst>
          </a:custGeom>
          <a:ln w="49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1143000"/>
            <a:endParaRPr sz="22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029435" y="3696148"/>
            <a:ext cx="44450" cy="4445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9397" y="35274"/>
                </a:moveTo>
                <a:lnTo>
                  <a:pt x="5876" y="35274"/>
                </a:lnTo>
                <a:lnTo>
                  <a:pt x="0" y="29418"/>
                </a:lnTo>
                <a:lnTo>
                  <a:pt x="0" y="5855"/>
                </a:lnTo>
                <a:lnTo>
                  <a:pt x="5876" y="0"/>
                </a:lnTo>
                <a:lnTo>
                  <a:pt x="29397" y="0"/>
                </a:lnTo>
                <a:lnTo>
                  <a:pt x="35274" y="5855"/>
                </a:lnTo>
                <a:lnTo>
                  <a:pt x="35274" y="29418"/>
                </a:lnTo>
                <a:lnTo>
                  <a:pt x="29397" y="352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1143000"/>
            <a:endParaRPr sz="22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650237" y="4053301"/>
            <a:ext cx="61913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383" y="0"/>
                </a:lnTo>
              </a:path>
            </a:pathLst>
          </a:custGeom>
          <a:ln w="49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1143000"/>
            <a:endParaRPr sz="22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807152" y="1734073"/>
            <a:ext cx="6849269" cy="24291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 marR="1585119" defTabSz="1143000">
              <a:lnSpc>
                <a:spcPct val="133300"/>
              </a:lnSpc>
            </a:pPr>
            <a:r>
              <a:rPr sz="1563" spc="-6" dirty="0">
                <a:solidFill>
                  <a:prstClr val="black"/>
                </a:solidFill>
                <a:latin typeface="Arial"/>
                <a:cs typeface="Arial"/>
              </a:rPr>
              <a:t>Inheritance lets you can reuse code instead of duplicating it.  Two types of</a:t>
            </a:r>
            <a:r>
              <a:rPr sz="1563" spc="-94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563" spc="-6" dirty="0">
                <a:solidFill>
                  <a:prstClr val="black"/>
                </a:solidFill>
                <a:latin typeface="Arial"/>
                <a:cs typeface="Arial"/>
              </a:rPr>
              <a:t>reuse</a:t>
            </a:r>
            <a:endParaRPr sz="1563" dirty="0">
              <a:solidFill>
                <a:prstClr val="black"/>
              </a:solidFill>
              <a:latin typeface="Arial"/>
              <a:cs typeface="Arial"/>
            </a:endParaRPr>
          </a:p>
          <a:p>
            <a:pPr marL="370681" defTabSz="1143000">
              <a:spcBef>
                <a:spcPts val="931"/>
              </a:spcBef>
            </a:pPr>
            <a:r>
              <a:rPr sz="1188" dirty="0">
                <a:solidFill>
                  <a:prstClr val="black"/>
                </a:solidFill>
                <a:latin typeface="Arial"/>
                <a:cs typeface="Arial"/>
              </a:rPr>
              <a:t>A subclass inherits the methods of the</a:t>
            </a:r>
            <a:r>
              <a:rPr sz="1188" spc="-88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188" dirty="0">
                <a:solidFill>
                  <a:prstClr val="black"/>
                </a:solidFill>
                <a:latin typeface="Arial"/>
                <a:cs typeface="Arial"/>
              </a:rPr>
              <a:t>superclass</a:t>
            </a:r>
          </a:p>
          <a:p>
            <a:pPr marL="370681" defTabSz="1143000">
              <a:spcBef>
                <a:spcPts val="588"/>
              </a:spcBef>
            </a:pPr>
            <a:r>
              <a:rPr sz="1188" dirty="0">
                <a:solidFill>
                  <a:prstClr val="black"/>
                </a:solidFill>
                <a:latin typeface="Arial"/>
                <a:cs typeface="Arial"/>
              </a:rPr>
              <a:t>Because a car is a special kind of vehicle, we can use a </a:t>
            </a:r>
            <a:r>
              <a:rPr sz="1188" dirty="0">
                <a:solidFill>
                  <a:prstClr val="black"/>
                </a:solidFill>
                <a:latin typeface="Courier" charset="0"/>
                <a:cs typeface="Courier" charset="0"/>
              </a:rPr>
              <a:t>Car</a:t>
            </a:r>
            <a:r>
              <a:rPr sz="1188" spc="-450" dirty="0">
                <a:solidFill>
                  <a:prstClr val="black"/>
                </a:solidFill>
                <a:latin typeface="Courier" charset="0"/>
                <a:cs typeface="Courier" charset="0"/>
              </a:rPr>
              <a:t> </a:t>
            </a:r>
            <a:r>
              <a:rPr sz="1188" dirty="0">
                <a:solidFill>
                  <a:prstClr val="black"/>
                </a:solidFill>
                <a:latin typeface="Arial"/>
                <a:cs typeface="Arial"/>
              </a:rPr>
              <a:t>object in algorithms that manipulate</a:t>
            </a:r>
          </a:p>
          <a:p>
            <a:pPr marL="370681" defTabSz="1143000">
              <a:spcBef>
                <a:spcPts val="238"/>
              </a:spcBef>
            </a:pPr>
            <a:r>
              <a:rPr sz="1188" dirty="0">
                <a:solidFill>
                  <a:prstClr val="black"/>
                </a:solidFill>
                <a:latin typeface="Courier" charset="0"/>
                <a:cs typeface="Courier" charset="0"/>
              </a:rPr>
              <a:t>Vehicle</a:t>
            </a:r>
            <a:r>
              <a:rPr sz="1188" spc="-500" dirty="0">
                <a:solidFill>
                  <a:prstClr val="black"/>
                </a:solidFill>
                <a:latin typeface="Courier" charset="0"/>
                <a:cs typeface="Courier" charset="0"/>
              </a:rPr>
              <a:t> </a:t>
            </a:r>
            <a:r>
              <a:rPr sz="1188" dirty="0">
                <a:solidFill>
                  <a:prstClr val="black"/>
                </a:solidFill>
                <a:latin typeface="Arial"/>
                <a:cs typeface="Arial"/>
              </a:rPr>
              <a:t>objects</a:t>
            </a:r>
          </a:p>
          <a:p>
            <a:pPr marL="15875" defTabSz="1143000">
              <a:spcBef>
                <a:spcPts val="906"/>
              </a:spcBef>
            </a:pPr>
            <a:r>
              <a:rPr sz="1563" spc="-6" dirty="0">
                <a:solidFill>
                  <a:prstClr val="black"/>
                </a:solidFill>
                <a:latin typeface="Arial"/>
                <a:cs typeface="Arial"/>
              </a:rPr>
              <a:t>The substitution</a:t>
            </a:r>
            <a:r>
              <a:rPr sz="1563" spc="-56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563" spc="-6" dirty="0">
                <a:solidFill>
                  <a:prstClr val="black"/>
                </a:solidFill>
                <a:latin typeface="Arial"/>
                <a:cs typeface="Arial"/>
              </a:rPr>
              <a:t>principle:</a:t>
            </a:r>
            <a:endParaRPr sz="1563" dirty="0">
              <a:solidFill>
                <a:prstClr val="black"/>
              </a:solidFill>
              <a:latin typeface="Arial"/>
              <a:cs typeface="Arial"/>
            </a:endParaRPr>
          </a:p>
          <a:p>
            <a:pPr marL="370681" defTabSz="1143000">
              <a:spcBef>
                <a:spcPts val="931"/>
              </a:spcBef>
            </a:pPr>
            <a:r>
              <a:rPr sz="1188" dirty="0">
                <a:solidFill>
                  <a:prstClr val="black"/>
                </a:solidFill>
                <a:latin typeface="Arial"/>
                <a:cs typeface="Arial"/>
              </a:rPr>
              <a:t>You can always use a subclass object when a superclass object is</a:t>
            </a:r>
            <a:r>
              <a:rPr sz="1188" spc="-69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188" dirty="0">
                <a:solidFill>
                  <a:prstClr val="black"/>
                </a:solidFill>
                <a:latin typeface="Arial"/>
                <a:cs typeface="Arial"/>
              </a:rPr>
              <a:t>expected.</a:t>
            </a:r>
          </a:p>
          <a:p>
            <a:pPr marL="15875" defTabSz="1143000">
              <a:spcBef>
                <a:spcPts val="975"/>
              </a:spcBef>
            </a:pPr>
            <a:r>
              <a:rPr sz="1563" spc="-6" dirty="0">
                <a:solidFill>
                  <a:prstClr val="black"/>
                </a:solidFill>
                <a:latin typeface="Arial"/>
                <a:cs typeface="Arial"/>
              </a:rPr>
              <a:t>A method that processes </a:t>
            </a:r>
            <a:r>
              <a:rPr sz="1563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Vehicle</a:t>
            </a:r>
            <a:r>
              <a:rPr sz="1563" spc="-481" dirty="0">
                <a:solidFill>
                  <a:prstClr val="black"/>
                </a:solidFill>
                <a:latin typeface="Courier" charset="0"/>
                <a:cs typeface="Courier" charset="0"/>
              </a:rPr>
              <a:t> </a:t>
            </a:r>
            <a:r>
              <a:rPr sz="1563" spc="-6" dirty="0">
                <a:solidFill>
                  <a:prstClr val="black"/>
                </a:solidFill>
                <a:latin typeface="Arial"/>
                <a:cs typeface="Arial"/>
              </a:rPr>
              <a:t>objects can handle any kind of vehicle</a:t>
            </a:r>
            <a:endParaRPr sz="1563" dirty="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50678" y="716068"/>
            <a:ext cx="6985000" cy="0"/>
          </a:xfrm>
          <a:custGeom>
            <a:avLst/>
            <a:gdLst/>
            <a:ahLst/>
            <a:cxnLst/>
            <a:rect l="l" t="t" r="r" b="b"/>
            <a:pathLst>
              <a:path w="5588000">
                <a:moveTo>
                  <a:pt x="0" y="0"/>
                </a:moveTo>
                <a:lnTo>
                  <a:pt x="5587440" y="0"/>
                </a:lnTo>
              </a:path>
            </a:pathLst>
          </a:custGeom>
          <a:ln w="56438">
            <a:solidFill>
              <a:srgbClr val="FFDF6A"/>
            </a:solidFill>
          </a:ln>
        </p:spPr>
        <p:txBody>
          <a:bodyPr wrap="square" lIns="0" tIns="0" rIns="0" bIns="0" rtlCol="0"/>
          <a:lstStyle/>
          <a:p>
            <a:pPr defTabSz="1143000"/>
            <a:endParaRPr sz="22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/>
            <a:r>
              <a:rPr spc="131" dirty="0"/>
              <a:t>Implementing</a:t>
            </a:r>
            <a:r>
              <a:rPr spc="-75" dirty="0"/>
              <a:t> </a:t>
            </a:r>
            <a:r>
              <a:rPr spc="156" dirty="0"/>
              <a:t>Subclasses</a:t>
            </a:r>
          </a:p>
        </p:txBody>
      </p:sp>
      <p:sp>
        <p:nvSpPr>
          <p:cNvPr id="4" name="object 4"/>
          <p:cNvSpPr/>
          <p:nvPr/>
        </p:nvSpPr>
        <p:spPr>
          <a:xfrm>
            <a:off x="2418291" y="920750"/>
            <a:ext cx="2637011" cy="196673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1143000"/>
            <a:endParaRPr sz="22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374137" y="3630603"/>
            <a:ext cx="61913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383" y="0"/>
                </a:lnTo>
              </a:path>
            </a:pathLst>
          </a:custGeom>
          <a:ln w="49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1143000"/>
            <a:endParaRPr sz="22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753335" y="3934843"/>
            <a:ext cx="44450" cy="4445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9397" y="35274"/>
                </a:moveTo>
                <a:lnTo>
                  <a:pt x="5876" y="35274"/>
                </a:lnTo>
                <a:lnTo>
                  <a:pt x="0" y="29630"/>
                </a:lnTo>
                <a:lnTo>
                  <a:pt x="0" y="5643"/>
                </a:lnTo>
                <a:lnTo>
                  <a:pt x="5876" y="0"/>
                </a:lnTo>
                <a:lnTo>
                  <a:pt x="29397" y="0"/>
                </a:lnTo>
                <a:lnTo>
                  <a:pt x="35274" y="5643"/>
                </a:lnTo>
                <a:lnTo>
                  <a:pt x="35274" y="29630"/>
                </a:lnTo>
                <a:lnTo>
                  <a:pt x="29397" y="352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1143000"/>
            <a:endParaRPr sz="22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753335" y="4172944"/>
            <a:ext cx="44450" cy="4445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9397" y="35274"/>
                </a:moveTo>
                <a:lnTo>
                  <a:pt x="5876" y="35274"/>
                </a:lnTo>
                <a:lnTo>
                  <a:pt x="0" y="29630"/>
                </a:lnTo>
                <a:lnTo>
                  <a:pt x="0" y="5643"/>
                </a:lnTo>
                <a:lnTo>
                  <a:pt x="5876" y="0"/>
                </a:lnTo>
                <a:lnTo>
                  <a:pt x="29397" y="0"/>
                </a:lnTo>
                <a:lnTo>
                  <a:pt x="35274" y="5643"/>
                </a:lnTo>
                <a:lnTo>
                  <a:pt x="35274" y="29630"/>
                </a:lnTo>
                <a:lnTo>
                  <a:pt x="29397" y="352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1143000"/>
            <a:endParaRPr sz="22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753335" y="4419864"/>
            <a:ext cx="44450" cy="4445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9397" y="35274"/>
                </a:moveTo>
                <a:lnTo>
                  <a:pt x="5876" y="35274"/>
                </a:lnTo>
                <a:lnTo>
                  <a:pt x="0" y="29630"/>
                </a:lnTo>
                <a:lnTo>
                  <a:pt x="0" y="5643"/>
                </a:lnTo>
                <a:lnTo>
                  <a:pt x="5876" y="0"/>
                </a:lnTo>
                <a:lnTo>
                  <a:pt x="29397" y="0"/>
                </a:lnTo>
                <a:lnTo>
                  <a:pt x="35274" y="5643"/>
                </a:lnTo>
                <a:lnTo>
                  <a:pt x="35274" y="29630"/>
                </a:lnTo>
                <a:lnTo>
                  <a:pt x="29397" y="352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1143000"/>
            <a:endParaRPr sz="22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374137" y="4768196"/>
            <a:ext cx="61913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383" y="0"/>
                </a:lnTo>
              </a:path>
            </a:pathLst>
          </a:custGeom>
          <a:ln w="49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1143000"/>
            <a:endParaRPr sz="22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99324" y="2908450"/>
            <a:ext cx="7211219" cy="20020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 marR="6350" defTabSz="1143000">
              <a:lnSpc>
                <a:spcPct val="101800"/>
              </a:lnSpc>
            </a:pPr>
            <a:r>
              <a:rPr sz="1250" spc="19" dirty="0">
                <a:solidFill>
                  <a:prstClr val="black"/>
                </a:solidFill>
                <a:latin typeface="Arial"/>
                <a:cs typeface="Arial"/>
              </a:rPr>
              <a:t>Like the manufacturer of </a:t>
            </a:r>
            <a:r>
              <a:rPr sz="1250" spc="2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1250" spc="19" dirty="0">
                <a:solidFill>
                  <a:prstClr val="black"/>
                </a:solidFill>
                <a:latin typeface="Arial"/>
                <a:cs typeface="Arial"/>
              </a:rPr>
              <a:t>stretch limo, </a:t>
            </a:r>
            <a:r>
              <a:rPr sz="1250" spc="25" dirty="0">
                <a:solidFill>
                  <a:prstClr val="black"/>
                </a:solidFill>
                <a:latin typeface="Arial"/>
                <a:cs typeface="Arial"/>
              </a:rPr>
              <a:t>who </a:t>
            </a:r>
            <a:r>
              <a:rPr sz="1250" spc="13" dirty="0">
                <a:solidFill>
                  <a:prstClr val="black"/>
                </a:solidFill>
                <a:latin typeface="Arial"/>
                <a:cs typeface="Arial"/>
              </a:rPr>
              <a:t>starts </a:t>
            </a:r>
            <a:r>
              <a:rPr sz="1250" spc="19" dirty="0">
                <a:solidFill>
                  <a:prstClr val="black"/>
                </a:solidFill>
                <a:latin typeface="Arial"/>
                <a:cs typeface="Arial"/>
              </a:rPr>
              <a:t>with </a:t>
            </a:r>
            <a:r>
              <a:rPr sz="1250" spc="2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1250" spc="19" dirty="0">
                <a:solidFill>
                  <a:prstClr val="black"/>
                </a:solidFill>
                <a:latin typeface="Arial"/>
                <a:cs typeface="Arial"/>
              </a:rPr>
              <a:t>regular car </a:t>
            </a:r>
            <a:r>
              <a:rPr sz="1250" spc="25" dirty="0">
                <a:solidFill>
                  <a:prstClr val="black"/>
                </a:solidFill>
                <a:latin typeface="Arial"/>
                <a:cs typeface="Arial"/>
              </a:rPr>
              <a:t>and </a:t>
            </a:r>
            <a:r>
              <a:rPr sz="1250" spc="19" dirty="0">
                <a:solidFill>
                  <a:prstClr val="black"/>
                </a:solidFill>
                <a:latin typeface="Arial"/>
                <a:cs typeface="Arial"/>
              </a:rPr>
              <a:t>modifies </a:t>
            </a:r>
            <a:r>
              <a:rPr sz="1250" spc="6" dirty="0">
                <a:solidFill>
                  <a:prstClr val="black"/>
                </a:solidFill>
                <a:latin typeface="Arial"/>
                <a:cs typeface="Arial"/>
              </a:rPr>
              <a:t>it, </a:t>
            </a:r>
            <a:r>
              <a:rPr sz="125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1250" spc="-44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250" spc="25" dirty="0">
                <a:solidFill>
                  <a:prstClr val="black"/>
                </a:solidFill>
                <a:latin typeface="Arial"/>
                <a:cs typeface="Arial"/>
              </a:rPr>
              <a:t>programmer  makes a </a:t>
            </a:r>
            <a:r>
              <a:rPr sz="1250" spc="19" dirty="0">
                <a:solidFill>
                  <a:prstClr val="black"/>
                </a:solidFill>
                <a:latin typeface="Arial"/>
                <a:cs typeface="Arial"/>
              </a:rPr>
              <a:t>subclass by modifying another</a:t>
            </a:r>
            <a:r>
              <a:rPr sz="1250" spc="-56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250" spc="19" dirty="0">
                <a:solidFill>
                  <a:prstClr val="black"/>
                </a:solidFill>
                <a:latin typeface="Arial"/>
                <a:cs typeface="Arial"/>
              </a:rPr>
              <a:t>class.</a:t>
            </a:r>
            <a:endParaRPr sz="1250" dirty="0">
              <a:solidFill>
                <a:prstClr val="black"/>
              </a:solidFill>
              <a:latin typeface="Arial"/>
              <a:cs typeface="Arial"/>
            </a:endParaRPr>
          </a:p>
          <a:p>
            <a:pPr defTabSz="1143000">
              <a:spcBef>
                <a:spcPts val="11"/>
              </a:spcBef>
            </a:pPr>
            <a:endParaRPr sz="1313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46844" defTabSz="1143000"/>
            <a:r>
              <a:rPr sz="1563" spc="-6" dirty="0">
                <a:solidFill>
                  <a:prstClr val="black"/>
                </a:solidFill>
                <a:latin typeface="Arial"/>
                <a:cs typeface="Arial"/>
              </a:rPr>
              <a:t>To get a </a:t>
            </a:r>
            <a:r>
              <a:rPr sz="1563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ChoiceQuestion</a:t>
            </a:r>
            <a:r>
              <a:rPr sz="1563" spc="-494" dirty="0">
                <a:solidFill>
                  <a:prstClr val="black"/>
                </a:solidFill>
                <a:latin typeface="Courier" charset="0"/>
                <a:cs typeface="Courier" charset="0"/>
              </a:rPr>
              <a:t> </a:t>
            </a:r>
            <a:r>
              <a:rPr sz="1563" spc="-6" dirty="0">
                <a:solidFill>
                  <a:prstClr val="black"/>
                </a:solidFill>
                <a:latin typeface="Arial"/>
                <a:cs typeface="Arial"/>
              </a:rPr>
              <a:t>class, implement it as a subclass of </a:t>
            </a:r>
            <a:r>
              <a:rPr sz="1563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Question</a:t>
            </a:r>
            <a:endParaRPr sz="1563" dirty="0">
              <a:solidFill>
                <a:prstClr val="black"/>
              </a:solidFill>
              <a:latin typeface="Courier" charset="0"/>
              <a:cs typeface="Courier" charset="0"/>
            </a:endParaRPr>
          </a:p>
          <a:p>
            <a:pPr marL="502444" defTabSz="1143000">
              <a:spcBef>
                <a:spcPts val="931"/>
              </a:spcBef>
            </a:pPr>
            <a:r>
              <a:rPr sz="1188" dirty="0">
                <a:solidFill>
                  <a:prstClr val="black"/>
                </a:solidFill>
                <a:latin typeface="Arial"/>
                <a:cs typeface="Arial"/>
              </a:rPr>
              <a:t>Specify what makes the subclass different from its</a:t>
            </a:r>
            <a:r>
              <a:rPr sz="1188" spc="-8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188" dirty="0">
                <a:solidFill>
                  <a:prstClr val="black"/>
                </a:solidFill>
                <a:latin typeface="Arial"/>
                <a:cs typeface="Arial"/>
              </a:rPr>
              <a:t>superclass.</a:t>
            </a:r>
          </a:p>
          <a:p>
            <a:pPr marL="502444" marR="375444" defTabSz="1143000">
              <a:lnSpc>
                <a:spcPts val="1950"/>
              </a:lnSpc>
              <a:spcBef>
                <a:spcPts val="75"/>
              </a:spcBef>
            </a:pPr>
            <a:r>
              <a:rPr sz="1188" dirty="0">
                <a:solidFill>
                  <a:prstClr val="black"/>
                </a:solidFill>
                <a:latin typeface="Arial"/>
                <a:cs typeface="Arial"/>
              </a:rPr>
              <a:t>Subclass objects automatically have the instance variables that are declared in the</a:t>
            </a:r>
            <a:r>
              <a:rPr sz="1188" spc="-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188" dirty="0">
                <a:solidFill>
                  <a:prstClr val="black"/>
                </a:solidFill>
                <a:latin typeface="Arial"/>
                <a:cs typeface="Arial"/>
              </a:rPr>
              <a:t>superclass.  Only declare instance variables that are not part of the superclass</a:t>
            </a:r>
            <a:r>
              <a:rPr sz="1188" spc="-69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188" dirty="0">
                <a:solidFill>
                  <a:prstClr val="black"/>
                </a:solidFill>
                <a:latin typeface="Arial"/>
                <a:cs typeface="Arial"/>
              </a:rPr>
              <a:t>objects.</a:t>
            </a:r>
          </a:p>
          <a:p>
            <a:pPr marL="146844" defTabSz="1143000">
              <a:spcBef>
                <a:spcPts val="756"/>
              </a:spcBef>
            </a:pPr>
            <a:r>
              <a:rPr sz="1563" spc="-6" dirty="0">
                <a:solidFill>
                  <a:prstClr val="black"/>
                </a:solidFill>
                <a:latin typeface="Arial"/>
                <a:cs typeface="Arial"/>
              </a:rPr>
              <a:t>A subclass inherits all methods that it does not</a:t>
            </a:r>
            <a:r>
              <a:rPr sz="1563" spc="13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563" spc="-6" dirty="0">
                <a:solidFill>
                  <a:prstClr val="black"/>
                </a:solidFill>
                <a:latin typeface="Arial"/>
                <a:cs typeface="Arial"/>
              </a:rPr>
              <a:t>override.</a:t>
            </a:r>
            <a:endParaRPr sz="1563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1" name="object 2"/>
          <p:cNvSpPr>
            <a:spLocks noChangeAspect="1"/>
          </p:cNvSpPr>
          <p:nvPr/>
        </p:nvSpPr>
        <p:spPr>
          <a:xfrm>
            <a:off x="2755621" y="4932278"/>
            <a:ext cx="924959" cy="14859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1143000"/>
            <a:endParaRPr sz="22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" name="object 3"/>
          <p:cNvSpPr txBox="1"/>
          <p:nvPr/>
        </p:nvSpPr>
        <p:spPr>
          <a:xfrm>
            <a:off x="4000500" y="6034511"/>
            <a:ext cx="6240463" cy="4360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 defTabSz="1143000">
              <a:lnSpc>
                <a:spcPts val="1700"/>
              </a:lnSpc>
            </a:pPr>
            <a:r>
              <a:rPr sz="1563" b="1" spc="-6" dirty="0">
                <a:solidFill>
                  <a:prstClr val="black"/>
                </a:solidFill>
                <a:latin typeface="Arial"/>
                <a:cs typeface="Arial"/>
              </a:rPr>
              <a:t>Figure 4 </a:t>
            </a:r>
            <a:r>
              <a:rPr sz="1563" spc="-6" dirty="0">
                <a:solidFill>
                  <a:prstClr val="black"/>
                </a:solidFill>
                <a:latin typeface="Arial"/>
                <a:cs typeface="Arial"/>
              </a:rPr>
              <a:t>The </a:t>
            </a:r>
            <a:r>
              <a:rPr sz="1563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ChoiceQuestion</a:t>
            </a:r>
            <a:r>
              <a:rPr sz="1563" spc="-511" dirty="0">
                <a:solidFill>
                  <a:prstClr val="black"/>
                </a:solidFill>
                <a:latin typeface="Courier" charset="0"/>
                <a:cs typeface="Courier" charset="0"/>
              </a:rPr>
              <a:t> </a:t>
            </a:r>
            <a:r>
              <a:rPr sz="1563" spc="-6" dirty="0">
                <a:solidFill>
                  <a:prstClr val="black"/>
                </a:solidFill>
                <a:latin typeface="Arial"/>
                <a:cs typeface="Arial"/>
              </a:rPr>
              <a:t>Class is a Subclass of the </a:t>
            </a:r>
            <a:r>
              <a:rPr sz="1563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Question</a:t>
            </a:r>
            <a:endParaRPr sz="1563" dirty="0">
              <a:solidFill>
                <a:prstClr val="black"/>
              </a:solidFill>
              <a:latin typeface="Courier" charset="0"/>
              <a:cs typeface="Courier" charset="0"/>
            </a:endParaRPr>
          </a:p>
          <a:p>
            <a:pPr marL="15875" defTabSz="1143000">
              <a:lnSpc>
                <a:spcPts val="1700"/>
              </a:lnSpc>
            </a:pPr>
            <a:r>
              <a:rPr sz="1563" spc="-6" dirty="0">
                <a:solidFill>
                  <a:prstClr val="black"/>
                </a:solidFill>
                <a:latin typeface="Arial"/>
                <a:cs typeface="Arial"/>
              </a:rPr>
              <a:t>Class.</a:t>
            </a:r>
            <a:endParaRPr sz="1563" dirty="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50678" y="714130"/>
            <a:ext cx="6985000" cy="0"/>
          </a:xfrm>
          <a:custGeom>
            <a:avLst/>
            <a:gdLst/>
            <a:ahLst/>
            <a:cxnLst/>
            <a:rect l="l" t="t" r="r" b="b"/>
            <a:pathLst>
              <a:path w="5588000">
                <a:moveTo>
                  <a:pt x="0" y="0"/>
                </a:moveTo>
                <a:lnTo>
                  <a:pt x="5587440" y="0"/>
                </a:lnTo>
              </a:path>
            </a:pathLst>
          </a:custGeom>
          <a:ln w="56438">
            <a:solidFill>
              <a:srgbClr val="FFDF6A"/>
            </a:solidFill>
          </a:ln>
        </p:spPr>
        <p:txBody>
          <a:bodyPr wrap="square" lIns="0" tIns="0" rIns="0" bIns="0" rtlCol="0"/>
          <a:lstStyle/>
          <a:p>
            <a:pPr defTabSz="1143000"/>
            <a:endParaRPr sz="22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/>
            <a:r>
              <a:rPr spc="131" dirty="0"/>
              <a:t>Implementing</a:t>
            </a:r>
            <a:r>
              <a:rPr spc="-75" dirty="0"/>
              <a:t> </a:t>
            </a:r>
            <a:r>
              <a:rPr spc="156" dirty="0"/>
              <a:t>Subclasses</a:t>
            </a:r>
          </a:p>
        </p:txBody>
      </p:sp>
      <p:sp>
        <p:nvSpPr>
          <p:cNvPr id="4" name="object 4"/>
          <p:cNvSpPr/>
          <p:nvPr/>
        </p:nvSpPr>
        <p:spPr>
          <a:xfrm>
            <a:off x="2374137" y="1424024"/>
            <a:ext cx="61913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383" y="0"/>
                </a:lnTo>
              </a:path>
            </a:pathLst>
          </a:custGeom>
          <a:ln w="49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1143000"/>
            <a:endParaRPr sz="22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374137" y="1750311"/>
            <a:ext cx="61913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383" y="0"/>
                </a:lnTo>
              </a:path>
            </a:pathLst>
          </a:custGeom>
          <a:ln w="49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1143000"/>
            <a:endParaRPr sz="22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374137" y="2076598"/>
            <a:ext cx="61913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383" y="0"/>
                </a:lnTo>
              </a:path>
            </a:pathLst>
          </a:custGeom>
          <a:ln w="49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1143000"/>
            <a:endParaRPr sz="22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99324" y="908129"/>
            <a:ext cx="7188200" cy="15349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 defTabSz="1143000"/>
            <a:r>
              <a:rPr sz="125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1250" spc="6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250" spc="25" dirty="0">
                <a:solidFill>
                  <a:prstClr val="black"/>
                </a:solidFill>
                <a:latin typeface="Courier" charset="0"/>
                <a:cs typeface="Courier" charset="0"/>
              </a:rPr>
              <a:t>ChoiceQuestion</a:t>
            </a:r>
            <a:r>
              <a:rPr sz="1250" spc="-394" dirty="0">
                <a:solidFill>
                  <a:prstClr val="black"/>
                </a:solidFill>
                <a:latin typeface="Courier" charset="0"/>
                <a:cs typeface="Courier" charset="0"/>
              </a:rPr>
              <a:t> </a:t>
            </a:r>
            <a:r>
              <a:rPr sz="1250" spc="19" dirty="0">
                <a:solidFill>
                  <a:prstClr val="black"/>
                </a:solidFill>
                <a:latin typeface="Arial"/>
                <a:cs typeface="Arial"/>
              </a:rPr>
              <a:t>object</a:t>
            </a:r>
            <a:r>
              <a:rPr sz="1250" spc="13" dirty="0">
                <a:solidFill>
                  <a:prstClr val="black"/>
                </a:solidFill>
                <a:latin typeface="Arial"/>
                <a:cs typeface="Arial"/>
              </a:rPr>
              <a:t> differs </a:t>
            </a:r>
            <a:r>
              <a:rPr sz="1250" spc="19" dirty="0">
                <a:solidFill>
                  <a:prstClr val="black"/>
                </a:solidFill>
                <a:latin typeface="Arial"/>
                <a:cs typeface="Arial"/>
              </a:rPr>
              <a:t>from</a:t>
            </a:r>
            <a:r>
              <a:rPr sz="1250" spc="13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25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1250" spc="6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250" spc="25" dirty="0">
                <a:solidFill>
                  <a:prstClr val="black"/>
                </a:solidFill>
                <a:latin typeface="Courier" charset="0"/>
                <a:cs typeface="Courier" charset="0"/>
              </a:rPr>
              <a:t>Question</a:t>
            </a:r>
            <a:r>
              <a:rPr sz="1250" spc="-394" dirty="0">
                <a:solidFill>
                  <a:prstClr val="black"/>
                </a:solidFill>
                <a:latin typeface="Courier" charset="0"/>
                <a:cs typeface="Courier" charset="0"/>
              </a:rPr>
              <a:t> </a:t>
            </a:r>
            <a:r>
              <a:rPr sz="1250" spc="19" dirty="0">
                <a:solidFill>
                  <a:prstClr val="black"/>
                </a:solidFill>
                <a:latin typeface="Arial"/>
                <a:cs typeface="Arial"/>
              </a:rPr>
              <a:t>object</a:t>
            </a:r>
            <a:r>
              <a:rPr sz="1250" spc="13" dirty="0">
                <a:solidFill>
                  <a:prstClr val="black"/>
                </a:solidFill>
                <a:latin typeface="Arial"/>
                <a:cs typeface="Arial"/>
              </a:rPr>
              <a:t> in </a:t>
            </a:r>
            <a:r>
              <a:rPr sz="1250" spc="19" dirty="0">
                <a:solidFill>
                  <a:prstClr val="black"/>
                </a:solidFill>
                <a:latin typeface="Arial"/>
                <a:cs typeface="Arial"/>
              </a:rPr>
              <a:t>three</a:t>
            </a:r>
            <a:r>
              <a:rPr sz="1250" spc="13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250" spc="19" dirty="0">
                <a:solidFill>
                  <a:prstClr val="black"/>
                </a:solidFill>
                <a:latin typeface="Arial"/>
                <a:cs typeface="Arial"/>
              </a:rPr>
              <a:t>ways:</a:t>
            </a:r>
            <a:endParaRPr sz="1250" dirty="0">
              <a:solidFill>
                <a:prstClr val="black"/>
              </a:solidFill>
              <a:latin typeface="Arial"/>
              <a:cs typeface="Arial"/>
            </a:endParaRPr>
          </a:p>
          <a:p>
            <a:pPr marL="146844" marR="2540000" defTabSz="1143000">
              <a:lnSpc>
                <a:spcPct val="137000"/>
              </a:lnSpc>
              <a:spcBef>
                <a:spcPts val="756"/>
              </a:spcBef>
            </a:pPr>
            <a:r>
              <a:rPr sz="1563" spc="-6" dirty="0">
                <a:solidFill>
                  <a:prstClr val="black"/>
                </a:solidFill>
                <a:latin typeface="Arial"/>
                <a:cs typeface="Arial"/>
              </a:rPr>
              <a:t>Its objects store the various choices for the answer.  There is a method for adding answer</a:t>
            </a:r>
            <a:r>
              <a:rPr sz="1563" spc="-3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563" spc="-6" dirty="0">
                <a:solidFill>
                  <a:prstClr val="black"/>
                </a:solidFill>
                <a:latin typeface="Arial"/>
                <a:cs typeface="Arial"/>
              </a:rPr>
              <a:t>choices.</a:t>
            </a:r>
            <a:endParaRPr sz="1563" dirty="0">
              <a:solidFill>
                <a:prstClr val="black"/>
              </a:solidFill>
              <a:latin typeface="Arial"/>
              <a:cs typeface="Arial"/>
            </a:endParaRPr>
          </a:p>
          <a:p>
            <a:pPr marL="146844" marR="6350" defTabSz="1143000">
              <a:lnSpc>
                <a:spcPct val="114799"/>
              </a:lnSpc>
              <a:spcBef>
                <a:spcPts val="413"/>
              </a:spcBef>
            </a:pPr>
            <a:r>
              <a:rPr sz="1563" spc="-6" dirty="0">
                <a:solidFill>
                  <a:prstClr val="black"/>
                </a:solidFill>
                <a:latin typeface="Arial"/>
                <a:cs typeface="Arial"/>
              </a:rPr>
              <a:t>The display method of the </a:t>
            </a:r>
            <a:r>
              <a:rPr sz="1563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ChoiceQuestion</a:t>
            </a:r>
            <a:r>
              <a:rPr sz="1563" spc="-475" dirty="0">
                <a:solidFill>
                  <a:prstClr val="black"/>
                </a:solidFill>
                <a:latin typeface="Courier" charset="0"/>
                <a:cs typeface="Courier" charset="0"/>
              </a:rPr>
              <a:t> </a:t>
            </a:r>
            <a:r>
              <a:rPr sz="1563" spc="-6" dirty="0">
                <a:solidFill>
                  <a:prstClr val="black"/>
                </a:solidFill>
                <a:latin typeface="Arial"/>
                <a:cs typeface="Arial"/>
              </a:rPr>
              <a:t>class shows these choices so that  the respondent can choose one of</a:t>
            </a:r>
            <a:r>
              <a:rPr sz="1563" spc="-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563" spc="-6" dirty="0">
                <a:solidFill>
                  <a:prstClr val="black"/>
                </a:solidFill>
                <a:latin typeface="Arial"/>
                <a:cs typeface="Arial"/>
              </a:rPr>
              <a:t>them.</a:t>
            </a:r>
            <a:endParaRPr sz="1563" dirty="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/>
            <a:r>
              <a:rPr spc="100" dirty="0">
                <a:solidFill>
                  <a:srgbClr val="125859"/>
                </a:solidFill>
              </a:rPr>
              <a:t>Syntax </a:t>
            </a:r>
            <a:r>
              <a:rPr spc="-6" dirty="0">
                <a:solidFill>
                  <a:srgbClr val="125859"/>
                </a:solidFill>
              </a:rPr>
              <a:t>9.1 </a:t>
            </a:r>
            <a:r>
              <a:rPr spc="156" dirty="0"/>
              <a:t>Subclass</a:t>
            </a:r>
            <a:r>
              <a:rPr spc="-44" dirty="0"/>
              <a:t> </a:t>
            </a:r>
            <a:r>
              <a:rPr spc="100" dirty="0"/>
              <a:t>Declaration</a:t>
            </a:r>
          </a:p>
        </p:txBody>
      </p:sp>
      <p:sp>
        <p:nvSpPr>
          <p:cNvPr id="3" name="object 3"/>
          <p:cNvSpPr/>
          <p:nvPr/>
        </p:nvSpPr>
        <p:spPr>
          <a:xfrm>
            <a:off x="1462087" y="1343025"/>
            <a:ext cx="9267825" cy="45005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1143000"/>
            <a:endParaRPr sz="2250">
              <a:solidFill>
                <a:prstClr val="black"/>
              </a:solidFill>
              <a:latin typeface="Calibri"/>
            </a:endParaRPr>
          </a:p>
        </p:txBody>
      </p:sp>
    </p:spTree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/>
            <a:r>
              <a:rPr spc="131" dirty="0"/>
              <a:t>Implementing</a:t>
            </a:r>
            <a:r>
              <a:rPr spc="-75" dirty="0"/>
              <a:t> </a:t>
            </a:r>
            <a:r>
              <a:rPr spc="156" dirty="0"/>
              <a:t>Subclasses</a:t>
            </a:r>
          </a:p>
        </p:txBody>
      </p:sp>
      <p:sp>
        <p:nvSpPr>
          <p:cNvPr id="3" name="object 3"/>
          <p:cNvSpPr/>
          <p:nvPr/>
        </p:nvSpPr>
        <p:spPr>
          <a:xfrm>
            <a:off x="2374137" y="1034769"/>
            <a:ext cx="61913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383" y="0"/>
                </a:lnTo>
              </a:path>
            </a:pathLst>
          </a:custGeom>
          <a:ln w="49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1143000"/>
            <a:endParaRPr sz="22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31051" y="893660"/>
            <a:ext cx="3781425" cy="240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 defTabSz="1143000"/>
            <a:r>
              <a:rPr sz="1563" spc="-6" dirty="0">
                <a:solidFill>
                  <a:prstClr val="black"/>
                </a:solidFill>
                <a:latin typeface="Arial"/>
                <a:cs typeface="Arial"/>
              </a:rPr>
              <a:t>UML of </a:t>
            </a:r>
            <a:r>
              <a:rPr sz="1563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ChoiceQuestion</a:t>
            </a:r>
            <a:r>
              <a:rPr sz="1563" spc="-581" dirty="0">
                <a:solidFill>
                  <a:prstClr val="black"/>
                </a:solidFill>
                <a:latin typeface="Courier" charset="0"/>
                <a:cs typeface="Courier" charset="0"/>
              </a:rPr>
              <a:t> </a:t>
            </a:r>
            <a:r>
              <a:rPr sz="1563" spc="-6" dirty="0">
                <a:solidFill>
                  <a:prstClr val="black"/>
                </a:solidFill>
                <a:latin typeface="Arial"/>
                <a:cs typeface="Arial"/>
              </a:rPr>
              <a:t>and </a:t>
            </a:r>
            <a:r>
              <a:rPr sz="1563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Question</a:t>
            </a:r>
            <a:endParaRPr sz="1563" dirty="0">
              <a:solidFill>
                <a:prstClr val="black"/>
              </a:solidFill>
              <a:latin typeface="Courier" charset="0"/>
              <a:cs typeface="Courier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636559" y="1770769"/>
            <a:ext cx="2125488" cy="300742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1143000"/>
            <a:endParaRPr sz="22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36050" y="5584316"/>
            <a:ext cx="7173119" cy="3798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 marR="6350" defTabSz="1143000">
              <a:lnSpc>
                <a:spcPct val="101800"/>
              </a:lnSpc>
            </a:pPr>
            <a:r>
              <a:rPr sz="1250" b="1" spc="19" dirty="0">
                <a:solidFill>
                  <a:prstClr val="black"/>
                </a:solidFill>
                <a:latin typeface="Arial"/>
                <a:cs typeface="Arial"/>
              </a:rPr>
              <a:t>Figure </a:t>
            </a:r>
            <a:r>
              <a:rPr sz="1250" b="1" spc="25" dirty="0">
                <a:solidFill>
                  <a:prstClr val="black"/>
                </a:solidFill>
                <a:latin typeface="Arial"/>
                <a:cs typeface="Arial"/>
              </a:rPr>
              <a:t>5 </a:t>
            </a:r>
            <a:r>
              <a:rPr sz="1250" spc="25" dirty="0">
                <a:solidFill>
                  <a:prstClr val="black"/>
                </a:solidFill>
                <a:latin typeface="Arial"/>
                <a:cs typeface="Arial"/>
              </a:rPr>
              <a:t>The </a:t>
            </a:r>
            <a:r>
              <a:rPr sz="1250" spc="25" dirty="0">
                <a:solidFill>
                  <a:prstClr val="black"/>
                </a:solidFill>
                <a:latin typeface="Courier" charset="0"/>
                <a:cs typeface="Courier" charset="0"/>
              </a:rPr>
              <a:t>ChoiceQuestion</a:t>
            </a:r>
            <a:r>
              <a:rPr sz="1250" spc="-456" dirty="0">
                <a:solidFill>
                  <a:prstClr val="black"/>
                </a:solidFill>
                <a:latin typeface="Courier" charset="0"/>
                <a:cs typeface="Courier" charset="0"/>
              </a:rPr>
              <a:t> </a:t>
            </a:r>
            <a:r>
              <a:rPr sz="1250" spc="19" dirty="0">
                <a:solidFill>
                  <a:prstClr val="black"/>
                </a:solidFill>
                <a:latin typeface="Arial"/>
                <a:cs typeface="Arial"/>
              </a:rPr>
              <a:t>Class </a:t>
            </a:r>
            <a:r>
              <a:rPr sz="1250" b="1" spc="25" dirty="0">
                <a:solidFill>
                  <a:prstClr val="black"/>
                </a:solidFill>
                <a:latin typeface="Arial"/>
                <a:cs typeface="Arial"/>
              </a:rPr>
              <a:t>Adds</a:t>
            </a:r>
            <a:r>
              <a:rPr sz="1250" spc="25" dirty="0">
                <a:solidFill>
                  <a:prstClr val="black"/>
                </a:solidFill>
                <a:latin typeface="Arial"/>
                <a:cs typeface="Arial"/>
              </a:rPr>
              <a:t> an </a:t>
            </a:r>
            <a:r>
              <a:rPr sz="1250" spc="19" dirty="0">
                <a:solidFill>
                  <a:prstClr val="black"/>
                </a:solidFill>
                <a:latin typeface="Arial"/>
                <a:cs typeface="Arial"/>
              </a:rPr>
              <a:t>Instance Variable </a:t>
            </a:r>
            <a:r>
              <a:rPr sz="1250" spc="25" dirty="0">
                <a:solidFill>
                  <a:prstClr val="black"/>
                </a:solidFill>
                <a:latin typeface="Arial"/>
                <a:cs typeface="Arial"/>
              </a:rPr>
              <a:t>and a </a:t>
            </a:r>
            <a:r>
              <a:rPr sz="1250" spc="19" dirty="0">
                <a:solidFill>
                  <a:prstClr val="black"/>
                </a:solidFill>
                <a:latin typeface="Arial"/>
                <a:cs typeface="Arial"/>
              </a:rPr>
              <a:t>Method, </a:t>
            </a:r>
            <a:r>
              <a:rPr sz="1250" spc="25" dirty="0">
                <a:solidFill>
                  <a:prstClr val="black"/>
                </a:solidFill>
                <a:latin typeface="Arial"/>
                <a:cs typeface="Arial"/>
              </a:rPr>
              <a:t>and </a:t>
            </a:r>
            <a:r>
              <a:rPr sz="1250" b="1" spc="19" dirty="0">
                <a:solidFill>
                  <a:prstClr val="black"/>
                </a:solidFill>
                <a:latin typeface="Arial"/>
                <a:cs typeface="Arial"/>
              </a:rPr>
              <a:t>Overrides</a:t>
            </a:r>
            <a:r>
              <a:rPr sz="1250" spc="19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250" spc="25" dirty="0">
                <a:solidFill>
                  <a:prstClr val="black"/>
                </a:solidFill>
                <a:latin typeface="Arial"/>
                <a:cs typeface="Arial"/>
              </a:rPr>
              <a:t>a  Method</a:t>
            </a:r>
            <a:endParaRPr sz="1250" dirty="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/>
            <a:r>
              <a:rPr spc="131" dirty="0"/>
              <a:t>Implementing</a:t>
            </a:r>
            <a:r>
              <a:rPr spc="-75" dirty="0"/>
              <a:t> </a:t>
            </a:r>
            <a:r>
              <a:rPr spc="156" dirty="0"/>
              <a:t>Subclasses</a:t>
            </a:r>
          </a:p>
        </p:txBody>
      </p:sp>
      <p:sp>
        <p:nvSpPr>
          <p:cNvPr id="3" name="object 3"/>
          <p:cNvSpPr/>
          <p:nvPr/>
        </p:nvSpPr>
        <p:spPr>
          <a:xfrm>
            <a:off x="2374137" y="1033529"/>
            <a:ext cx="61913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383" y="0"/>
                </a:lnTo>
              </a:path>
            </a:pathLst>
          </a:custGeom>
          <a:ln w="49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1143000"/>
            <a:endParaRPr sz="22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31051" y="892422"/>
            <a:ext cx="2466975" cy="240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 defTabSz="1143000"/>
            <a:r>
              <a:rPr sz="1563" spc="-6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1563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ChoiceQuestion</a:t>
            </a:r>
            <a:r>
              <a:rPr sz="1563" spc="-594" dirty="0">
                <a:solidFill>
                  <a:prstClr val="black"/>
                </a:solidFill>
                <a:latin typeface="Courier" charset="0"/>
                <a:cs typeface="Courier" charset="0"/>
              </a:rPr>
              <a:t> </a:t>
            </a:r>
            <a:r>
              <a:rPr sz="1563" spc="-6" dirty="0">
                <a:solidFill>
                  <a:prstClr val="black"/>
                </a:solidFill>
                <a:latin typeface="Arial"/>
                <a:cs typeface="Arial"/>
              </a:rPr>
              <a:t>object</a:t>
            </a:r>
            <a:endParaRPr sz="1563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550585" y="1176511"/>
            <a:ext cx="5415136" cy="1631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1143000"/>
            <a:endParaRPr sz="22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374137" y="3052980"/>
            <a:ext cx="61913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383" y="0"/>
                </a:lnTo>
              </a:path>
            </a:pathLst>
          </a:custGeom>
          <a:ln w="49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1143000"/>
            <a:endParaRPr sz="22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31051" y="2911872"/>
            <a:ext cx="4962525" cy="240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 defTabSz="1143000"/>
            <a:r>
              <a:rPr sz="1563" spc="-6" dirty="0">
                <a:solidFill>
                  <a:prstClr val="black"/>
                </a:solidFill>
                <a:latin typeface="Arial"/>
                <a:cs typeface="Arial"/>
              </a:rPr>
              <a:t>You can call the inherited methods on a subclass</a:t>
            </a:r>
            <a:r>
              <a:rPr sz="1563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563" spc="-6" dirty="0">
                <a:solidFill>
                  <a:prstClr val="black"/>
                </a:solidFill>
                <a:latin typeface="Arial"/>
                <a:cs typeface="Arial"/>
              </a:rPr>
              <a:t>object:</a:t>
            </a:r>
            <a:endParaRPr sz="1563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54918" y="3246990"/>
            <a:ext cx="6966744" cy="365485"/>
          </a:xfrm>
          <a:prstGeom prst="rect">
            <a:avLst/>
          </a:prstGeom>
          <a:ln w="7054">
            <a:solidFill>
              <a:srgbClr val="CCCCCC"/>
            </a:solidFill>
          </a:ln>
        </p:spPr>
        <p:txBody>
          <a:bodyPr vert="horz" wrap="square" lIns="0" tIns="57150" rIns="0" bIns="0" rtlCol="0">
            <a:spAutoFit/>
          </a:bodyPr>
          <a:lstStyle/>
          <a:p>
            <a:pPr marL="55563" algn="ctr" defTabSz="1143000">
              <a:spcBef>
                <a:spcPts val="450"/>
              </a:spcBef>
            </a:pPr>
            <a:r>
              <a:rPr sz="2000" b="1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choiceQuestion.setAnswer("2");</a:t>
            </a:r>
            <a:endParaRPr sz="2000" b="1" dirty="0">
              <a:solidFill>
                <a:prstClr val="black"/>
              </a:solidFill>
              <a:latin typeface="Courier" charset="0"/>
              <a:cs typeface="Courier" charset="0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312224" y="4351841"/>
            <a:ext cx="61913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383" y="0"/>
                </a:lnTo>
              </a:path>
            </a:pathLst>
          </a:custGeom>
          <a:ln w="49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1143000"/>
            <a:endParaRPr sz="22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312224" y="4686946"/>
            <a:ext cx="61913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383" y="0"/>
                </a:lnTo>
              </a:path>
            </a:pathLst>
          </a:custGeom>
          <a:ln w="49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1143000"/>
            <a:endParaRPr sz="22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312224" y="5295428"/>
            <a:ext cx="61913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383" y="0"/>
                </a:lnTo>
              </a:path>
            </a:pathLst>
          </a:custGeom>
          <a:ln w="49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1143000"/>
            <a:endParaRPr sz="22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531051" y="4195383"/>
            <a:ext cx="6771481" cy="1471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 defTabSz="1143000"/>
            <a:r>
              <a:rPr sz="1563" spc="-6" dirty="0">
                <a:solidFill>
                  <a:prstClr val="black"/>
                </a:solidFill>
                <a:latin typeface="Arial"/>
                <a:cs typeface="Arial"/>
              </a:rPr>
              <a:t>The private instance variables of the superclass are</a:t>
            </a:r>
            <a:r>
              <a:rPr sz="1563" spc="38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563" spc="-6" dirty="0">
                <a:solidFill>
                  <a:prstClr val="black"/>
                </a:solidFill>
                <a:latin typeface="Arial"/>
                <a:cs typeface="Arial"/>
              </a:rPr>
              <a:t>inaccessible.</a:t>
            </a:r>
            <a:r>
              <a:rPr lang="en-US" sz="1563" spc="-6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endParaRPr sz="1563" dirty="0">
              <a:solidFill>
                <a:prstClr val="black"/>
              </a:solidFill>
              <a:latin typeface="Arial"/>
              <a:cs typeface="Arial"/>
            </a:endParaRPr>
          </a:p>
          <a:p>
            <a:pPr marL="15875" defTabSz="1143000">
              <a:spcBef>
                <a:spcPts val="763"/>
              </a:spcBef>
            </a:pPr>
            <a:r>
              <a:rPr sz="1563" spc="-6" dirty="0">
                <a:solidFill>
                  <a:prstClr val="black"/>
                </a:solidFill>
                <a:latin typeface="Arial"/>
                <a:cs typeface="Arial"/>
              </a:rPr>
              <a:t>The </a:t>
            </a:r>
            <a:r>
              <a:rPr sz="1563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ChoiceQuestion</a:t>
            </a:r>
            <a:r>
              <a:rPr sz="1563" spc="-475" dirty="0">
                <a:solidFill>
                  <a:prstClr val="black"/>
                </a:solidFill>
                <a:latin typeface="Courier" charset="0"/>
                <a:cs typeface="Courier" charset="0"/>
              </a:rPr>
              <a:t> </a:t>
            </a:r>
            <a:r>
              <a:rPr sz="1563" spc="-6" dirty="0">
                <a:solidFill>
                  <a:prstClr val="black"/>
                </a:solidFill>
                <a:latin typeface="Arial"/>
                <a:cs typeface="Arial"/>
              </a:rPr>
              <a:t>methods cannot directly access the instance variable</a:t>
            </a:r>
            <a:endParaRPr sz="1563" dirty="0">
              <a:solidFill>
                <a:prstClr val="black"/>
              </a:solidFill>
              <a:latin typeface="Arial"/>
              <a:cs typeface="Arial"/>
            </a:endParaRPr>
          </a:p>
          <a:p>
            <a:pPr marL="15875" defTabSz="1143000">
              <a:spcBef>
                <a:spcPts val="344"/>
              </a:spcBef>
            </a:pPr>
            <a:r>
              <a:rPr sz="1563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answer</a:t>
            </a:r>
            <a:r>
              <a:rPr sz="1563" spc="-6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1563" dirty="0">
              <a:solidFill>
                <a:prstClr val="black"/>
              </a:solidFill>
              <a:latin typeface="Arial"/>
              <a:cs typeface="Arial"/>
            </a:endParaRPr>
          </a:p>
          <a:p>
            <a:pPr marL="15875" defTabSz="1143000">
              <a:spcBef>
                <a:spcPts val="694"/>
              </a:spcBef>
            </a:pPr>
            <a:r>
              <a:rPr sz="1563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ChoiceQuestion</a:t>
            </a:r>
            <a:r>
              <a:rPr sz="1563" spc="-494" dirty="0">
                <a:solidFill>
                  <a:prstClr val="black"/>
                </a:solidFill>
                <a:latin typeface="Courier" charset="0"/>
                <a:cs typeface="Courier" charset="0"/>
              </a:rPr>
              <a:t> </a:t>
            </a:r>
            <a:r>
              <a:rPr sz="1563" spc="-6" dirty="0">
                <a:solidFill>
                  <a:prstClr val="black"/>
                </a:solidFill>
                <a:latin typeface="Arial"/>
                <a:cs typeface="Arial"/>
              </a:rPr>
              <a:t>methods must use the public interface of the </a:t>
            </a:r>
            <a:r>
              <a:rPr sz="1563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Question</a:t>
            </a:r>
            <a:endParaRPr sz="1563" dirty="0">
              <a:solidFill>
                <a:prstClr val="black"/>
              </a:solidFill>
              <a:latin typeface="Courier" charset="0"/>
              <a:cs typeface="Courier" charset="0"/>
            </a:endParaRPr>
          </a:p>
          <a:p>
            <a:pPr marL="15875" defTabSz="1143000">
              <a:spcBef>
                <a:spcPts val="275"/>
              </a:spcBef>
            </a:pPr>
            <a:r>
              <a:rPr sz="1563" spc="-6" dirty="0">
                <a:solidFill>
                  <a:prstClr val="black"/>
                </a:solidFill>
                <a:latin typeface="Arial"/>
                <a:cs typeface="Arial"/>
              </a:rPr>
              <a:t>class to access its private</a:t>
            </a:r>
            <a:r>
              <a:rPr sz="1563" spc="-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563" spc="-6" dirty="0">
                <a:solidFill>
                  <a:prstClr val="black"/>
                </a:solidFill>
                <a:latin typeface="Arial"/>
                <a:cs typeface="Arial"/>
              </a:rPr>
              <a:t>data.</a:t>
            </a:r>
            <a:endParaRPr sz="1563" dirty="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50678" y="714670"/>
            <a:ext cx="6985000" cy="0"/>
          </a:xfrm>
          <a:custGeom>
            <a:avLst/>
            <a:gdLst/>
            <a:ahLst/>
            <a:cxnLst/>
            <a:rect l="l" t="t" r="r" b="b"/>
            <a:pathLst>
              <a:path w="5588000">
                <a:moveTo>
                  <a:pt x="0" y="0"/>
                </a:moveTo>
                <a:lnTo>
                  <a:pt x="5587440" y="0"/>
                </a:lnTo>
              </a:path>
            </a:pathLst>
          </a:custGeom>
          <a:ln w="56438">
            <a:solidFill>
              <a:srgbClr val="FFDF6A"/>
            </a:solidFill>
          </a:ln>
        </p:spPr>
        <p:txBody>
          <a:bodyPr wrap="square" lIns="0" tIns="0" rIns="0" bIns="0" rtlCol="0"/>
          <a:lstStyle/>
          <a:p>
            <a:pPr defTabSz="1143000"/>
            <a:endParaRPr sz="22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/>
            <a:r>
              <a:rPr spc="131" dirty="0"/>
              <a:t>Implementing</a:t>
            </a:r>
            <a:r>
              <a:rPr spc="-75" dirty="0"/>
              <a:t> </a:t>
            </a:r>
            <a:r>
              <a:rPr spc="156" dirty="0"/>
              <a:t>Subclasses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330900" y="1449902"/>
            <a:ext cx="9570463" cy="1285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 marR="1609725" defTabSz="1143000">
              <a:lnSpc>
                <a:spcPct val="133300"/>
              </a:lnSpc>
            </a:pPr>
            <a:r>
              <a:rPr sz="1563" spc="-6" dirty="0">
                <a:solidFill>
                  <a:prstClr val="black"/>
                </a:solidFill>
                <a:latin typeface="Arial"/>
                <a:cs typeface="Arial"/>
              </a:rPr>
              <a:t>The subclass inherits all public methods from the</a:t>
            </a:r>
            <a:r>
              <a:rPr lang="en-US" sz="1563" spc="-6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563" spc="-6" dirty="0">
                <a:solidFill>
                  <a:prstClr val="black"/>
                </a:solidFill>
                <a:latin typeface="Arial"/>
                <a:cs typeface="Arial"/>
              </a:rPr>
              <a:t>superclass.  You declare any methods that are new to the</a:t>
            </a:r>
            <a:r>
              <a:rPr sz="1563" spc="-13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563" spc="-6" dirty="0">
                <a:solidFill>
                  <a:prstClr val="black"/>
                </a:solidFill>
                <a:latin typeface="Arial"/>
                <a:cs typeface="Arial"/>
              </a:rPr>
              <a:t>subclass.</a:t>
            </a:r>
            <a:endParaRPr sz="1563" dirty="0">
              <a:solidFill>
                <a:prstClr val="black"/>
              </a:solidFill>
              <a:latin typeface="Arial"/>
              <a:cs typeface="Arial"/>
            </a:endParaRPr>
          </a:p>
          <a:p>
            <a:pPr marL="15875" marR="6350" defTabSz="1143000">
              <a:lnSpc>
                <a:spcPct val="114799"/>
              </a:lnSpc>
              <a:spcBef>
                <a:spcPts val="413"/>
              </a:spcBef>
            </a:pPr>
            <a:r>
              <a:rPr sz="1563" spc="-6" dirty="0">
                <a:solidFill>
                  <a:prstClr val="black"/>
                </a:solidFill>
                <a:latin typeface="Arial"/>
                <a:cs typeface="Arial"/>
              </a:rPr>
              <a:t>You change the implementation of inherited methods if the inherited behavior is  not</a:t>
            </a:r>
            <a:r>
              <a:rPr sz="1563" spc="-88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563" spc="-6" dirty="0">
                <a:solidFill>
                  <a:prstClr val="black"/>
                </a:solidFill>
                <a:latin typeface="Arial"/>
                <a:cs typeface="Arial"/>
              </a:rPr>
              <a:t>appropriate.</a:t>
            </a:r>
            <a:endParaRPr sz="1563" dirty="0">
              <a:solidFill>
                <a:prstClr val="black"/>
              </a:solidFill>
              <a:latin typeface="Arial"/>
              <a:cs typeface="Arial"/>
            </a:endParaRPr>
          </a:p>
          <a:p>
            <a:pPr marL="15875" defTabSz="1143000">
              <a:spcBef>
                <a:spcPts val="625"/>
              </a:spcBef>
            </a:pPr>
            <a:r>
              <a:rPr sz="1563" b="1" spc="-6" dirty="0">
                <a:solidFill>
                  <a:prstClr val="black"/>
                </a:solidFill>
                <a:latin typeface="Arial"/>
                <a:cs typeface="Arial"/>
              </a:rPr>
              <a:t>Override a method</a:t>
            </a:r>
            <a:r>
              <a:rPr sz="1563" spc="-6" dirty="0">
                <a:solidFill>
                  <a:prstClr val="black"/>
                </a:solidFill>
                <a:latin typeface="Arial"/>
                <a:cs typeface="Arial"/>
              </a:rPr>
              <a:t>: supply a new implementation for an inherited</a:t>
            </a:r>
            <a:r>
              <a:rPr sz="1563" spc="19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563" spc="-6" dirty="0">
                <a:solidFill>
                  <a:prstClr val="black"/>
                </a:solidFill>
                <a:latin typeface="Arial"/>
                <a:cs typeface="Arial"/>
              </a:rPr>
              <a:t>method</a:t>
            </a:r>
            <a:endParaRPr sz="1563" dirty="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/>
            <a:r>
              <a:rPr spc="131" dirty="0"/>
              <a:t>Implementing</a:t>
            </a:r>
            <a:r>
              <a:rPr spc="-75" dirty="0"/>
              <a:t> </a:t>
            </a:r>
            <a:r>
              <a:rPr spc="156" dirty="0"/>
              <a:t>Subclasses</a:t>
            </a:r>
          </a:p>
        </p:txBody>
      </p:sp>
      <p:sp>
        <p:nvSpPr>
          <p:cNvPr id="3" name="object 3"/>
          <p:cNvSpPr/>
          <p:nvPr/>
        </p:nvSpPr>
        <p:spPr>
          <a:xfrm>
            <a:off x="2374137" y="1032830"/>
            <a:ext cx="61913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383" y="0"/>
                </a:lnTo>
              </a:path>
            </a:pathLst>
          </a:custGeom>
          <a:ln w="49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1143000"/>
            <a:endParaRPr sz="22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31051" y="891723"/>
            <a:ext cx="3124200" cy="240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 defTabSz="1143000"/>
            <a:r>
              <a:rPr sz="1563" spc="-6" dirty="0">
                <a:solidFill>
                  <a:prstClr val="black"/>
                </a:solidFill>
                <a:latin typeface="Arial"/>
                <a:cs typeface="Arial"/>
              </a:rPr>
              <a:t>Adding a new method:</a:t>
            </a:r>
            <a:r>
              <a:rPr sz="1563" spc="-7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563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addChoice</a:t>
            </a:r>
            <a:endParaRPr sz="1563" dirty="0">
              <a:solidFill>
                <a:prstClr val="black"/>
              </a:solidFill>
              <a:latin typeface="Courier" charset="0"/>
              <a:cs typeface="Courier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23988" y="1239590"/>
            <a:ext cx="9505950" cy="2519921"/>
          </a:xfrm>
          <a:prstGeom prst="rect">
            <a:avLst/>
          </a:prstGeom>
          <a:ln w="7054">
            <a:solidFill>
              <a:srgbClr val="CCCCCC"/>
            </a:solidFill>
          </a:ln>
        </p:spPr>
        <p:txBody>
          <a:bodyPr vert="horz" wrap="square" lIns="0" tIns="57150" rIns="0" bIns="0" rtlCol="0">
            <a:spAutoFit/>
          </a:bodyPr>
          <a:lstStyle/>
          <a:p>
            <a:pPr marL="55563" defTabSz="1143000">
              <a:spcBef>
                <a:spcPts val="450"/>
              </a:spcBef>
            </a:pPr>
            <a:r>
              <a:rPr sz="1600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public void addChoice(String choice, boolean</a:t>
            </a:r>
            <a:r>
              <a:rPr sz="1600" spc="44" dirty="0">
                <a:solidFill>
                  <a:prstClr val="black"/>
                </a:solidFill>
                <a:latin typeface="Courier" charset="0"/>
                <a:cs typeface="Courier" charset="0"/>
              </a:rPr>
              <a:t> </a:t>
            </a:r>
            <a:r>
              <a:rPr sz="1600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correct)</a:t>
            </a:r>
            <a:endParaRPr sz="1600" dirty="0">
              <a:solidFill>
                <a:prstClr val="black"/>
              </a:solidFill>
              <a:latin typeface="Courier" charset="0"/>
              <a:cs typeface="Courier" charset="0"/>
            </a:endParaRPr>
          </a:p>
          <a:p>
            <a:pPr marL="55563" defTabSz="1143000"/>
            <a:r>
              <a:rPr sz="1600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{</a:t>
            </a:r>
            <a:endParaRPr sz="1600" dirty="0">
              <a:solidFill>
                <a:prstClr val="black"/>
              </a:solidFill>
              <a:latin typeface="Courier" charset="0"/>
              <a:cs typeface="Courier" charset="0"/>
            </a:endParaRPr>
          </a:p>
          <a:p>
            <a:pPr marL="269875" marR="5249863" defTabSz="1143000">
              <a:spcBef>
                <a:spcPts val="38"/>
              </a:spcBef>
            </a:pPr>
            <a:r>
              <a:rPr sz="1600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choices.add(choice);  </a:t>
            </a:r>
            <a:endParaRPr lang="en-US" sz="1600" spc="-6" dirty="0">
              <a:solidFill>
                <a:prstClr val="black"/>
              </a:solidFill>
              <a:latin typeface="Courier" charset="0"/>
              <a:cs typeface="Courier" charset="0"/>
            </a:endParaRPr>
          </a:p>
          <a:p>
            <a:pPr marL="269875" marR="5249863" defTabSz="1143000">
              <a:spcBef>
                <a:spcPts val="38"/>
              </a:spcBef>
            </a:pPr>
            <a:r>
              <a:rPr sz="1600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if</a:t>
            </a:r>
            <a:r>
              <a:rPr sz="1600" spc="-94" dirty="0">
                <a:solidFill>
                  <a:prstClr val="black"/>
                </a:solidFill>
                <a:latin typeface="Courier" charset="0"/>
                <a:cs typeface="Courier" charset="0"/>
              </a:rPr>
              <a:t> </a:t>
            </a:r>
            <a:r>
              <a:rPr sz="1600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(correct)</a:t>
            </a:r>
            <a:endParaRPr sz="1600" dirty="0">
              <a:solidFill>
                <a:prstClr val="black"/>
              </a:solidFill>
              <a:latin typeface="Courier" charset="0"/>
              <a:cs typeface="Courier" charset="0"/>
            </a:endParaRPr>
          </a:p>
          <a:p>
            <a:pPr marL="269875" defTabSz="1143000"/>
            <a:r>
              <a:rPr sz="1600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{</a:t>
            </a:r>
            <a:endParaRPr sz="1600" dirty="0">
              <a:solidFill>
                <a:prstClr val="black"/>
              </a:solidFill>
              <a:latin typeface="Courier" charset="0"/>
              <a:cs typeface="Courier" charset="0"/>
            </a:endParaRPr>
          </a:p>
          <a:p>
            <a:pPr marL="483394" defTabSz="1143000"/>
            <a:r>
              <a:rPr sz="1600" b="1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// Convert choices.size() to</a:t>
            </a:r>
            <a:r>
              <a:rPr sz="1600" b="1" spc="-19" dirty="0">
                <a:solidFill>
                  <a:prstClr val="black"/>
                </a:solidFill>
                <a:latin typeface="Courier" charset="0"/>
                <a:cs typeface="Courier" charset="0"/>
              </a:rPr>
              <a:t> </a:t>
            </a:r>
            <a:r>
              <a:rPr sz="1600" b="1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string</a:t>
            </a:r>
            <a:endParaRPr sz="1600" b="1" dirty="0">
              <a:solidFill>
                <a:prstClr val="black"/>
              </a:solidFill>
              <a:latin typeface="Courier" charset="0"/>
              <a:cs typeface="Courier" charset="0"/>
            </a:endParaRPr>
          </a:p>
          <a:p>
            <a:pPr marL="483394" marR="3464719" defTabSz="1143000">
              <a:spcBef>
                <a:spcPts val="38"/>
              </a:spcBef>
            </a:pPr>
            <a:r>
              <a:rPr sz="1600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String choiceString = "" + choices.size();  </a:t>
            </a:r>
            <a:endParaRPr lang="en-US" sz="1600" spc="-6" dirty="0">
              <a:solidFill>
                <a:prstClr val="black"/>
              </a:solidFill>
              <a:latin typeface="Courier" charset="0"/>
              <a:cs typeface="Courier" charset="0"/>
            </a:endParaRPr>
          </a:p>
          <a:p>
            <a:pPr marL="483394" marR="3464719" defTabSz="1143000">
              <a:spcBef>
                <a:spcPts val="38"/>
              </a:spcBef>
            </a:pPr>
            <a:r>
              <a:rPr sz="1600" spc="-6" dirty="0" err="1">
                <a:solidFill>
                  <a:prstClr val="black"/>
                </a:solidFill>
                <a:latin typeface="Courier" charset="0"/>
                <a:cs typeface="Courier" charset="0"/>
              </a:rPr>
              <a:t>setAnswer</a:t>
            </a:r>
            <a:r>
              <a:rPr sz="1600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(choiceString);</a:t>
            </a:r>
            <a:endParaRPr sz="1600" dirty="0">
              <a:solidFill>
                <a:prstClr val="black"/>
              </a:solidFill>
              <a:latin typeface="Courier" charset="0"/>
              <a:cs typeface="Courier" charset="0"/>
            </a:endParaRPr>
          </a:p>
          <a:p>
            <a:pPr marL="269875" defTabSz="1143000"/>
            <a:r>
              <a:rPr sz="1600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}</a:t>
            </a:r>
            <a:endParaRPr sz="1600" dirty="0">
              <a:solidFill>
                <a:prstClr val="black"/>
              </a:solidFill>
              <a:latin typeface="Courier" charset="0"/>
              <a:cs typeface="Courier" charset="0"/>
            </a:endParaRPr>
          </a:p>
          <a:p>
            <a:pPr marL="55563" defTabSz="1143000"/>
            <a:r>
              <a:rPr sz="1600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}</a:t>
            </a:r>
            <a:endParaRPr sz="1600" dirty="0">
              <a:solidFill>
                <a:prstClr val="black"/>
              </a:solidFill>
              <a:latin typeface="Courier" charset="0"/>
              <a:cs typeface="Courier" charset="0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372496" y="4238622"/>
            <a:ext cx="61913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383" y="0"/>
                </a:lnTo>
              </a:path>
            </a:pathLst>
          </a:custGeom>
          <a:ln w="49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1143000"/>
            <a:endParaRPr sz="22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372496" y="4573728"/>
            <a:ext cx="61913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383" y="0"/>
                </a:lnTo>
              </a:path>
            </a:pathLst>
          </a:custGeom>
          <a:ln w="49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1143000"/>
            <a:endParaRPr sz="22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372496" y="4908833"/>
            <a:ext cx="61913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383" y="0"/>
                </a:lnTo>
              </a:path>
            </a:pathLst>
          </a:custGeom>
          <a:ln w="49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1143000"/>
            <a:endParaRPr sz="22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531052" y="4029763"/>
            <a:ext cx="6988969" cy="1021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 marR="6350" defTabSz="1143000">
              <a:lnSpc>
                <a:spcPct val="140700"/>
              </a:lnSpc>
            </a:pPr>
            <a:r>
              <a:rPr sz="1563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addChoice</a:t>
            </a:r>
            <a:r>
              <a:rPr sz="1563" spc="-511" dirty="0">
                <a:solidFill>
                  <a:prstClr val="black"/>
                </a:solidFill>
                <a:latin typeface="Courier" charset="0"/>
                <a:cs typeface="Courier" charset="0"/>
              </a:rPr>
              <a:t> </a:t>
            </a:r>
            <a:r>
              <a:rPr sz="1563" spc="-6" dirty="0">
                <a:solidFill>
                  <a:prstClr val="black"/>
                </a:solidFill>
                <a:latin typeface="Arial"/>
                <a:cs typeface="Arial"/>
              </a:rPr>
              <a:t>method can not just access the </a:t>
            </a:r>
            <a:r>
              <a:rPr sz="1563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answer</a:t>
            </a:r>
            <a:r>
              <a:rPr sz="1563" spc="-511" dirty="0">
                <a:solidFill>
                  <a:prstClr val="black"/>
                </a:solidFill>
                <a:latin typeface="Courier" charset="0"/>
                <a:cs typeface="Courier" charset="0"/>
              </a:rPr>
              <a:t> </a:t>
            </a:r>
            <a:r>
              <a:rPr sz="1563" spc="-6" dirty="0">
                <a:solidFill>
                  <a:prstClr val="black"/>
                </a:solidFill>
                <a:latin typeface="Arial"/>
                <a:cs typeface="Arial"/>
              </a:rPr>
              <a:t>variable in the superclass:  It must use the </a:t>
            </a:r>
            <a:r>
              <a:rPr sz="1563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setAnswer</a:t>
            </a:r>
            <a:r>
              <a:rPr sz="1563" spc="-574" dirty="0">
                <a:solidFill>
                  <a:prstClr val="black"/>
                </a:solidFill>
                <a:latin typeface="Courier" charset="0"/>
                <a:cs typeface="Courier" charset="0"/>
              </a:rPr>
              <a:t> </a:t>
            </a:r>
            <a:r>
              <a:rPr sz="1563" spc="-6" dirty="0">
                <a:solidFill>
                  <a:prstClr val="black"/>
                </a:solidFill>
                <a:latin typeface="Arial"/>
                <a:cs typeface="Arial"/>
              </a:rPr>
              <a:t>method</a:t>
            </a:r>
            <a:endParaRPr sz="1563" dirty="0">
              <a:solidFill>
                <a:prstClr val="black"/>
              </a:solidFill>
              <a:latin typeface="Arial"/>
              <a:cs typeface="Arial"/>
            </a:endParaRPr>
          </a:p>
          <a:p>
            <a:pPr marL="15875" defTabSz="1143000">
              <a:spcBef>
                <a:spcPts val="763"/>
              </a:spcBef>
            </a:pPr>
            <a:r>
              <a:rPr sz="1563" spc="-6" dirty="0">
                <a:solidFill>
                  <a:prstClr val="black"/>
                </a:solidFill>
                <a:latin typeface="Arial"/>
                <a:cs typeface="Arial"/>
              </a:rPr>
              <a:t>Invoke </a:t>
            </a:r>
            <a:r>
              <a:rPr sz="1563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setAnswer</a:t>
            </a:r>
            <a:r>
              <a:rPr sz="1563" spc="-538" dirty="0">
                <a:solidFill>
                  <a:prstClr val="black"/>
                </a:solidFill>
                <a:latin typeface="Courier" charset="0"/>
                <a:cs typeface="Courier" charset="0"/>
              </a:rPr>
              <a:t> </a:t>
            </a:r>
            <a:r>
              <a:rPr sz="1563" spc="-6" dirty="0">
                <a:solidFill>
                  <a:prstClr val="black"/>
                </a:solidFill>
                <a:latin typeface="Arial"/>
                <a:cs typeface="Arial"/>
              </a:rPr>
              <a:t>on the implicit parameter:</a:t>
            </a:r>
            <a:endParaRPr sz="1563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53277" y="5094024"/>
            <a:ext cx="6966744" cy="303929"/>
          </a:xfrm>
          <a:prstGeom prst="rect">
            <a:avLst/>
          </a:prstGeom>
          <a:ln w="7054">
            <a:solidFill>
              <a:srgbClr val="CCCCCC"/>
            </a:solidFill>
          </a:ln>
        </p:spPr>
        <p:txBody>
          <a:bodyPr vert="horz" wrap="square" lIns="0" tIns="57150" rIns="0" bIns="0" rtlCol="0">
            <a:spAutoFit/>
          </a:bodyPr>
          <a:lstStyle/>
          <a:p>
            <a:pPr marL="55563" defTabSz="1143000">
              <a:spcBef>
                <a:spcPts val="450"/>
              </a:spcBef>
            </a:pPr>
            <a:r>
              <a:rPr sz="1600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setAnswer(choiceString);</a:t>
            </a:r>
            <a:endParaRPr sz="1600" dirty="0">
              <a:solidFill>
                <a:prstClr val="black"/>
              </a:solidFill>
              <a:latin typeface="Courier" charset="0"/>
              <a:cs typeface="Courier" charset="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529410" y="5437936"/>
            <a:ext cx="328613" cy="240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 defTabSz="1143000"/>
            <a:r>
              <a:rPr sz="1563" spc="-6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endParaRPr sz="1563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553277" y="5764234"/>
            <a:ext cx="6966744" cy="303929"/>
          </a:xfrm>
          <a:prstGeom prst="rect">
            <a:avLst/>
          </a:prstGeom>
          <a:ln w="7054">
            <a:solidFill>
              <a:srgbClr val="CCCCCC"/>
            </a:solidFill>
          </a:ln>
        </p:spPr>
        <p:txBody>
          <a:bodyPr vert="horz" wrap="square" lIns="0" tIns="57150" rIns="0" bIns="0" rtlCol="0">
            <a:spAutoFit/>
          </a:bodyPr>
          <a:lstStyle/>
          <a:p>
            <a:pPr marL="55563" defTabSz="1143000">
              <a:spcBef>
                <a:spcPts val="450"/>
              </a:spcBef>
            </a:pPr>
            <a:r>
              <a:rPr sz="1600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this.setAnswer(choiceString);</a:t>
            </a:r>
            <a:endParaRPr sz="1600" dirty="0">
              <a:solidFill>
                <a:prstClr val="black"/>
              </a:solidFill>
              <a:latin typeface="Courier" charset="0"/>
              <a:cs typeface="Courier" charset="0"/>
            </a:endParaRPr>
          </a:p>
        </p:txBody>
      </p:sp>
    </p:spTree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/>
            <a:r>
              <a:rPr spc="131" dirty="0"/>
              <a:t>Overriding</a:t>
            </a:r>
            <a:r>
              <a:rPr spc="-63" dirty="0"/>
              <a:t> </a:t>
            </a:r>
            <a:r>
              <a:rPr spc="163" dirty="0"/>
              <a:t>Methods</a:t>
            </a:r>
          </a:p>
        </p:txBody>
      </p:sp>
      <p:sp>
        <p:nvSpPr>
          <p:cNvPr id="3" name="object 3"/>
          <p:cNvSpPr/>
          <p:nvPr/>
        </p:nvSpPr>
        <p:spPr>
          <a:xfrm>
            <a:off x="2374137" y="1027018"/>
            <a:ext cx="61913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383" y="0"/>
                </a:lnTo>
              </a:path>
            </a:pathLst>
          </a:custGeom>
          <a:ln w="49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1143000"/>
            <a:endParaRPr sz="22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74137" y="1626680"/>
            <a:ext cx="61913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383" y="0"/>
                </a:lnTo>
              </a:path>
            </a:pathLst>
          </a:custGeom>
          <a:ln w="49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1143000"/>
            <a:endParaRPr sz="22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31052" y="850670"/>
            <a:ext cx="7030244" cy="11519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 marR="6350" defTabSz="1143000">
              <a:lnSpc>
                <a:spcPct val="114799"/>
              </a:lnSpc>
            </a:pPr>
            <a:r>
              <a:rPr sz="1563" spc="-6" dirty="0">
                <a:solidFill>
                  <a:prstClr val="black"/>
                </a:solidFill>
                <a:latin typeface="Arial"/>
                <a:cs typeface="Arial"/>
              </a:rPr>
              <a:t>Problem: </a:t>
            </a:r>
            <a:r>
              <a:rPr sz="1563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ChoiceQuestion</a:t>
            </a:r>
            <a:r>
              <a:rPr sz="1563" spc="-6" dirty="0">
                <a:solidFill>
                  <a:prstClr val="black"/>
                </a:solidFill>
                <a:latin typeface="Arial"/>
                <a:cs typeface="Arial"/>
              </a:rPr>
              <a:t>'s </a:t>
            </a:r>
            <a:r>
              <a:rPr sz="1563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display</a:t>
            </a:r>
            <a:r>
              <a:rPr sz="1563" spc="-511" dirty="0">
                <a:solidFill>
                  <a:prstClr val="black"/>
                </a:solidFill>
                <a:latin typeface="Courier" charset="0"/>
                <a:cs typeface="Courier" charset="0"/>
              </a:rPr>
              <a:t> </a:t>
            </a:r>
            <a:r>
              <a:rPr sz="1563" spc="-6" dirty="0">
                <a:solidFill>
                  <a:prstClr val="black"/>
                </a:solidFill>
                <a:latin typeface="Arial"/>
                <a:cs typeface="Arial"/>
              </a:rPr>
              <a:t>method can’t access the </a:t>
            </a:r>
            <a:r>
              <a:rPr sz="1563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text</a:t>
            </a:r>
            <a:r>
              <a:rPr sz="1563" spc="-511" dirty="0">
                <a:solidFill>
                  <a:prstClr val="black"/>
                </a:solidFill>
                <a:latin typeface="Courier" charset="0"/>
                <a:cs typeface="Courier" charset="0"/>
              </a:rPr>
              <a:t> </a:t>
            </a:r>
            <a:r>
              <a:rPr sz="1563" spc="-6" dirty="0">
                <a:solidFill>
                  <a:prstClr val="black"/>
                </a:solidFill>
                <a:latin typeface="Arial"/>
                <a:cs typeface="Arial"/>
              </a:rPr>
              <a:t>variable  of the superclass directly because it is</a:t>
            </a:r>
            <a:r>
              <a:rPr sz="1563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563" spc="-6" dirty="0">
                <a:solidFill>
                  <a:prstClr val="black"/>
                </a:solidFill>
                <a:latin typeface="Arial"/>
                <a:cs typeface="Arial"/>
              </a:rPr>
              <a:t>private.</a:t>
            </a:r>
            <a:endParaRPr sz="1563" dirty="0">
              <a:solidFill>
                <a:prstClr val="black"/>
              </a:solidFill>
              <a:latin typeface="Arial"/>
              <a:cs typeface="Arial"/>
            </a:endParaRPr>
          </a:p>
          <a:p>
            <a:pPr marL="15875" marR="692150" defTabSz="1143000">
              <a:lnSpc>
                <a:spcPct val="118500"/>
              </a:lnSpc>
              <a:spcBef>
                <a:spcPts val="344"/>
              </a:spcBef>
            </a:pPr>
            <a:r>
              <a:rPr sz="1563" spc="-6" dirty="0">
                <a:solidFill>
                  <a:prstClr val="black"/>
                </a:solidFill>
                <a:latin typeface="Arial"/>
                <a:cs typeface="Arial"/>
              </a:rPr>
              <a:t>Solution: It can call the </a:t>
            </a:r>
            <a:r>
              <a:rPr sz="1563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display</a:t>
            </a:r>
            <a:r>
              <a:rPr sz="1563" spc="-469" dirty="0">
                <a:solidFill>
                  <a:prstClr val="black"/>
                </a:solidFill>
                <a:latin typeface="Courier" charset="0"/>
                <a:cs typeface="Courier" charset="0"/>
              </a:rPr>
              <a:t> </a:t>
            </a:r>
            <a:r>
              <a:rPr sz="1563" spc="-6" dirty="0">
                <a:solidFill>
                  <a:prstClr val="black"/>
                </a:solidFill>
                <a:latin typeface="Arial"/>
                <a:cs typeface="Arial"/>
              </a:rPr>
              <a:t>method of the superclass, by using the  reserved word</a:t>
            </a:r>
            <a:r>
              <a:rPr sz="1563" spc="-94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563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super</a:t>
            </a:r>
            <a:endParaRPr sz="1563" dirty="0">
              <a:solidFill>
                <a:prstClr val="black"/>
              </a:solidFill>
              <a:latin typeface="Courier" charset="0"/>
              <a:cs typeface="Courier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52513" y="2441100"/>
            <a:ext cx="9544050" cy="1996700"/>
          </a:xfrm>
          <a:prstGeom prst="rect">
            <a:avLst/>
          </a:prstGeom>
          <a:ln w="7054">
            <a:solidFill>
              <a:srgbClr val="CCCCCC"/>
            </a:solidFill>
          </a:ln>
        </p:spPr>
        <p:txBody>
          <a:bodyPr vert="horz" wrap="square" lIns="0" tIns="57150" rIns="0" bIns="0" rtlCol="0">
            <a:spAutoFit/>
          </a:bodyPr>
          <a:lstStyle/>
          <a:p>
            <a:pPr marL="55563" defTabSz="1143000">
              <a:spcBef>
                <a:spcPts val="450"/>
              </a:spcBef>
            </a:pPr>
            <a:r>
              <a:rPr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public void</a:t>
            </a:r>
            <a:r>
              <a:rPr spc="-63" dirty="0">
                <a:solidFill>
                  <a:prstClr val="black"/>
                </a:solidFill>
                <a:latin typeface="Courier" charset="0"/>
                <a:cs typeface="Courier" charset="0"/>
              </a:rPr>
              <a:t> </a:t>
            </a:r>
            <a:r>
              <a:rPr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display()</a:t>
            </a:r>
            <a:endParaRPr dirty="0">
              <a:solidFill>
                <a:prstClr val="black"/>
              </a:solidFill>
              <a:latin typeface="Courier" charset="0"/>
              <a:cs typeface="Courier" charset="0"/>
            </a:endParaRPr>
          </a:p>
          <a:p>
            <a:pPr marL="55563" defTabSz="1143000"/>
            <a:r>
              <a:rPr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{</a:t>
            </a:r>
            <a:endParaRPr dirty="0">
              <a:solidFill>
                <a:prstClr val="black"/>
              </a:solidFill>
              <a:latin typeface="Courier" charset="0"/>
              <a:cs typeface="Courier" charset="0"/>
            </a:endParaRPr>
          </a:p>
          <a:p>
            <a:pPr marL="269875" marR="4678363" defTabSz="1143000">
              <a:spcBef>
                <a:spcPts val="38"/>
              </a:spcBef>
            </a:pPr>
            <a:r>
              <a:rPr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// Display the question text  super.display(); //</a:t>
            </a:r>
            <a:r>
              <a:rPr spc="-63" dirty="0">
                <a:solidFill>
                  <a:prstClr val="black"/>
                </a:solidFill>
                <a:latin typeface="Courier" charset="0"/>
                <a:cs typeface="Courier" charset="0"/>
              </a:rPr>
              <a:t> </a:t>
            </a:r>
            <a:r>
              <a:rPr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OK</a:t>
            </a:r>
            <a:endParaRPr dirty="0">
              <a:solidFill>
                <a:prstClr val="black"/>
              </a:solidFill>
              <a:latin typeface="Courier" charset="0"/>
              <a:cs typeface="Courier" charset="0"/>
            </a:endParaRPr>
          </a:p>
          <a:p>
            <a:pPr marL="269875" defTabSz="1143000"/>
            <a:r>
              <a:rPr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// Display the answer</a:t>
            </a:r>
            <a:r>
              <a:rPr spc="-44" dirty="0">
                <a:solidFill>
                  <a:prstClr val="black"/>
                </a:solidFill>
                <a:latin typeface="Courier" charset="0"/>
                <a:cs typeface="Courier" charset="0"/>
              </a:rPr>
              <a:t> </a:t>
            </a:r>
            <a:r>
              <a:rPr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choices</a:t>
            </a:r>
            <a:endParaRPr dirty="0">
              <a:solidFill>
                <a:prstClr val="black"/>
              </a:solidFill>
              <a:latin typeface="Courier" charset="0"/>
              <a:cs typeface="Courier" charset="0"/>
            </a:endParaRPr>
          </a:p>
          <a:p>
            <a:pPr marL="269875" defTabSz="1143000"/>
            <a:r>
              <a:rPr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. .</a:t>
            </a:r>
            <a:r>
              <a:rPr spc="-125" dirty="0">
                <a:solidFill>
                  <a:prstClr val="black"/>
                </a:solidFill>
                <a:latin typeface="Courier" charset="0"/>
                <a:cs typeface="Courier" charset="0"/>
              </a:rPr>
              <a:t> </a:t>
            </a:r>
            <a:r>
              <a:rPr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.</a:t>
            </a:r>
            <a:endParaRPr dirty="0">
              <a:solidFill>
                <a:prstClr val="black"/>
              </a:solidFill>
              <a:latin typeface="Courier" charset="0"/>
              <a:cs typeface="Courier" charset="0"/>
            </a:endParaRPr>
          </a:p>
          <a:p>
            <a:pPr marL="55563" defTabSz="1143000"/>
            <a:r>
              <a:rPr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}</a:t>
            </a:r>
            <a:endParaRPr dirty="0">
              <a:solidFill>
                <a:prstClr val="black"/>
              </a:solidFill>
              <a:latin typeface="Courier" charset="0"/>
              <a:cs typeface="Courier" charset="0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374137" y="5358535"/>
            <a:ext cx="61913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383" y="0"/>
                </a:lnTo>
              </a:path>
            </a:pathLst>
          </a:custGeom>
          <a:ln w="49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1143000"/>
            <a:endParaRPr sz="22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31052" y="5217430"/>
            <a:ext cx="6490494" cy="4810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 defTabSz="1143000"/>
            <a:r>
              <a:rPr sz="1563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super</a:t>
            </a:r>
            <a:r>
              <a:rPr sz="1563" spc="-469" dirty="0">
                <a:solidFill>
                  <a:prstClr val="black"/>
                </a:solidFill>
                <a:latin typeface="Courier" charset="0"/>
                <a:cs typeface="Courier" charset="0"/>
              </a:rPr>
              <a:t> </a:t>
            </a:r>
            <a:r>
              <a:rPr sz="1563" spc="-6" dirty="0">
                <a:solidFill>
                  <a:prstClr val="black"/>
                </a:solidFill>
                <a:latin typeface="Arial"/>
                <a:cs typeface="Arial"/>
              </a:rPr>
              <a:t>is a reserved word that forces execution of the superclass method.</a:t>
            </a:r>
            <a:endParaRPr sz="1563" dirty="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p:transition spd="slow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/>
            <a:r>
              <a:rPr spc="100" dirty="0">
                <a:solidFill>
                  <a:srgbClr val="125859"/>
                </a:solidFill>
              </a:rPr>
              <a:t>Syntax </a:t>
            </a:r>
            <a:r>
              <a:rPr spc="-6" dirty="0">
                <a:solidFill>
                  <a:srgbClr val="125859"/>
                </a:solidFill>
              </a:rPr>
              <a:t>9.3 </a:t>
            </a:r>
            <a:r>
              <a:rPr spc="119" dirty="0"/>
              <a:t>Constructor </a:t>
            </a:r>
            <a:r>
              <a:rPr spc="94" dirty="0"/>
              <a:t>with </a:t>
            </a:r>
            <a:r>
              <a:rPr spc="131" dirty="0"/>
              <a:t>Superclass</a:t>
            </a:r>
            <a:r>
              <a:rPr spc="-131" dirty="0"/>
              <a:t> </a:t>
            </a:r>
            <a:r>
              <a:rPr spc="75" dirty="0"/>
              <a:t>Initializer</a:t>
            </a:r>
          </a:p>
        </p:txBody>
      </p:sp>
      <p:sp>
        <p:nvSpPr>
          <p:cNvPr id="3" name="object 3"/>
          <p:cNvSpPr/>
          <p:nvPr/>
        </p:nvSpPr>
        <p:spPr>
          <a:xfrm>
            <a:off x="2527827" y="1963738"/>
            <a:ext cx="6032500" cy="264583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1143000"/>
            <a:endParaRPr sz="2250">
              <a:solidFill>
                <a:prstClr val="black"/>
              </a:solidFill>
              <a:latin typeface="Calibri"/>
            </a:endParaRPr>
          </a:p>
        </p:txBody>
      </p:sp>
    </p:spTree>
  </p:cSld>
  <p:clrMapOvr>
    <a:masterClrMapping/>
  </p:clrMapOvr>
  <p:transition spd="slow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/>
            <a:r>
              <a:rPr lang="en-US" spc="75" dirty="0"/>
              <a:t>Task 4</a:t>
            </a:r>
            <a:endParaRPr spc="-6" dirty="0"/>
          </a:p>
        </p:txBody>
      </p:sp>
      <p:sp>
        <p:nvSpPr>
          <p:cNvPr id="3" name="object 3"/>
          <p:cNvSpPr txBox="1"/>
          <p:nvPr/>
        </p:nvSpPr>
        <p:spPr>
          <a:xfrm>
            <a:off x="2399324" y="901620"/>
            <a:ext cx="7056438" cy="2861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 marR="6350" defTabSz="1143000">
              <a:lnSpc>
                <a:spcPct val="101800"/>
              </a:lnSpc>
            </a:pPr>
            <a:r>
              <a:rPr sz="2000" spc="25" dirty="0">
                <a:solidFill>
                  <a:prstClr val="black"/>
                </a:solidFill>
                <a:latin typeface="Arial"/>
                <a:cs typeface="Arial"/>
              </a:rPr>
              <a:t>Suppose</a:t>
            </a:r>
            <a:r>
              <a:rPr sz="20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00" spc="25" dirty="0">
                <a:solidFill>
                  <a:prstClr val="black"/>
                </a:solidFill>
                <a:latin typeface="Courier" charset="0"/>
                <a:cs typeface="Courier" charset="0"/>
              </a:rPr>
              <a:t>q</a:t>
            </a:r>
            <a:r>
              <a:rPr sz="2000" spc="-394" dirty="0">
                <a:solidFill>
                  <a:prstClr val="black"/>
                </a:solidFill>
                <a:latin typeface="Courier" charset="0"/>
                <a:cs typeface="Courier" charset="0"/>
              </a:rPr>
              <a:t> </a:t>
            </a:r>
            <a:r>
              <a:rPr sz="2000" spc="13" dirty="0">
                <a:solidFill>
                  <a:prstClr val="black"/>
                </a:solidFill>
                <a:latin typeface="Arial"/>
                <a:cs typeface="Arial"/>
              </a:rPr>
              <a:t>is</a:t>
            </a:r>
            <a:r>
              <a:rPr sz="2000" spc="6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00" spc="25" dirty="0">
                <a:solidFill>
                  <a:prstClr val="black"/>
                </a:solidFill>
                <a:latin typeface="Arial"/>
                <a:cs typeface="Arial"/>
              </a:rPr>
              <a:t>an</a:t>
            </a:r>
            <a:r>
              <a:rPr sz="2000" spc="6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00" spc="19" dirty="0">
                <a:solidFill>
                  <a:prstClr val="black"/>
                </a:solidFill>
                <a:latin typeface="Arial"/>
                <a:cs typeface="Arial"/>
              </a:rPr>
              <a:t>object</a:t>
            </a:r>
            <a:r>
              <a:rPr sz="2000" spc="6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00" spc="19" dirty="0">
                <a:solidFill>
                  <a:prstClr val="black"/>
                </a:solidFill>
                <a:latin typeface="Arial"/>
                <a:cs typeface="Arial"/>
              </a:rPr>
              <a:t>of</a:t>
            </a:r>
            <a:r>
              <a:rPr sz="2000" spc="6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00" spc="19" dirty="0">
                <a:solidFill>
                  <a:prstClr val="black"/>
                </a:solidFill>
                <a:latin typeface="Arial"/>
                <a:cs typeface="Arial"/>
              </a:rPr>
              <a:t>the</a:t>
            </a:r>
            <a:r>
              <a:rPr sz="2000" spc="6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00" spc="19" dirty="0">
                <a:solidFill>
                  <a:prstClr val="black"/>
                </a:solidFill>
                <a:latin typeface="Arial"/>
                <a:cs typeface="Arial"/>
              </a:rPr>
              <a:t>class</a:t>
            </a:r>
            <a:r>
              <a:rPr sz="2000" spc="6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00" spc="25" dirty="0">
                <a:solidFill>
                  <a:prstClr val="black"/>
                </a:solidFill>
                <a:latin typeface="Courier" charset="0"/>
                <a:cs typeface="Courier" charset="0"/>
              </a:rPr>
              <a:t>Question</a:t>
            </a:r>
            <a:r>
              <a:rPr sz="2000" spc="-394" dirty="0">
                <a:solidFill>
                  <a:prstClr val="black"/>
                </a:solidFill>
                <a:latin typeface="Courier" charset="0"/>
                <a:cs typeface="Courier" charset="0"/>
              </a:rPr>
              <a:t> </a:t>
            </a:r>
            <a:r>
              <a:rPr sz="2000" spc="25" dirty="0">
                <a:solidFill>
                  <a:prstClr val="black"/>
                </a:solidFill>
                <a:latin typeface="Arial"/>
                <a:cs typeface="Arial"/>
              </a:rPr>
              <a:t>and</a:t>
            </a:r>
            <a:r>
              <a:rPr sz="2000" spc="6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00" spc="25" dirty="0">
                <a:solidFill>
                  <a:prstClr val="black"/>
                </a:solidFill>
                <a:latin typeface="Courier" charset="0"/>
                <a:cs typeface="Courier" charset="0"/>
              </a:rPr>
              <a:t>cq</a:t>
            </a:r>
            <a:r>
              <a:rPr sz="2000" spc="-394" dirty="0">
                <a:solidFill>
                  <a:prstClr val="black"/>
                </a:solidFill>
                <a:latin typeface="Courier" charset="0"/>
                <a:cs typeface="Courier" charset="0"/>
              </a:rPr>
              <a:t> </a:t>
            </a:r>
            <a:r>
              <a:rPr sz="2000" spc="25" dirty="0">
                <a:solidFill>
                  <a:prstClr val="black"/>
                </a:solidFill>
                <a:latin typeface="Arial"/>
                <a:cs typeface="Arial"/>
              </a:rPr>
              <a:t>an</a:t>
            </a:r>
            <a:r>
              <a:rPr sz="2000" spc="6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00" spc="19" dirty="0">
                <a:solidFill>
                  <a:prstClr val="black"/>
                </a:solidFill>
                <a:latin typeface="Arial"/>
                <a:cs typeface="Arial"/>
              </a:rPr>
              <a:t>object</a:t>
            </a:r>
            <a:r>
              <a:rPr sz="2000" spc="6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00" spc="19" dirty="0">
                <a:solidFill>
                  <a:prstClr val="black"/>
                </a:solidFill>
                <a:latin typeface="Arial"/>
                <a:cs typeface="Arial"/>
              </a:rPr>
              <a:t>of</a:t>
            </a:r>
            <a:r>
              <a:rPr sz="2000" spc="6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00" spc="19" dirty="0">
                <a:solidFill>
                  <a:prstClr val="black"/>
                </a:solidFill>
                <a:latin typeface="Arial"/>
                <a:cs typeface="Arial"/>
              </a:rPr>
              <a:t>the</a:t>
            </a:r>
            <a:r>
              <a:rPr sz="2000" spc="6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00" spc="19" dirty="0">
                <a:solidFill>
                  <a:prstClr val="black"/>
                </a:solidFill>
                <a:latin typeface="Arial"/>
                <a:cs typeface="Arial"/>
              </a:rPr>
              <a:t>class</a:t>
            </a:r>
            <a:r>
              <a:rPr sz="20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00" spc="25" dirty="0">
                <a:solidFill>
                  <a:prstClr val="black"/>
                </a:solidFill>
                <a:latin typeface="Courier" charset="0"/>
                <a:cs typeface="Courier" charset="0"/>
              </a:rPr>
              <a:t>ChoiceQuestion</a:t>
            </a:r>
            <a:r>
              <a:rPr sz="2000" spc="25" dirty="0">
                <a:solidFill>
                  <a:prstClr val="black"/>
                </a:solidFill>
                <a:latin typeface="Arial"/>
                <a:cs typeface="Arial"/>
              </a:rPr>
              <a:t>.  Which </a:t>
            </a:r>
            <a:r>
              <a:rPr sz="2000" spc="19" dirty="0">
                <a:solidFill>
                  <a:prstClr val="black"/>
                </a:solidFill>
                <a:latin typeface="Arial"/>
                <a:cs typeface="Arial"/>
              </a:rPr>
              <a:t>of the following </a:t>
            </a:r>
            <a:r>
              <a:rPr sz="2000" spc="13" dirty="0">
                <a:solidFill>
                  <a:prstClr val="black"/>
                </a:solidFill>
                <a:latin typeface="Arial"/>
                <a:cs typeface="Arial"/>
              </a:rPr>
              <a:t>calls </a:t>
            </a:r>
            <a:r>
              <a:rPr sz="2000" spc="19" dirty="0">
                <a:solidFill>
                  <a:prstClr val="black"/>
                </a:solidFill>
                <a:latin typeface="Arial"/>
                <a:cs typeface="Arial"/>
              </a:rPr>
              <a:t>are</a:t>
            </a:r>
            <a:r>
              <a:rPr sz="2000" spc="-8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00" spc="19" dirty="0">
                <a:solidFill>
                  <a:prstClr val="black"/>
                </a:solidFill>
                <a:latin typeface="Arial"/>
                <a:cs typeface="Arial"/>
              </a:rPr>
              <a:t>legal?</a:t>
            </a:r>
            <a:endParaRPr sz="2000" dirty="0">
              <a:solidFill>
                <a:prstClr val="black"/>
              </a:solidFill>
              <a:latin typeface="Arial"/>
              <a:cs typeface="Arial"/>
            </a:endParaRPr>
          </a:p>
          <a:p>
            <a:pPr defTabSz="1143000">
              <a:spcBef>
                <a:spcPts val="43"/>
              </a:spcBef>
            </a:pPr>
            <a:endParaRPr sz="1375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98438" indent="-182563" defTabSz="1143000">
              <a:buFont typeface="Arial"/>
              <a:buAutoNum type="alphaLcPeriod"/>
              <a:tabLst>
                <a:tab pos="199231" algn="l"/>
              </a:tabLst>
            </a:pPr>
            <a:r>
              <a:rPr sz="2400" spc="25" dirty="0">
                <a:solidFill>
                  <a:prstClr val="black"/>
                </a:solidFill>
                <a:latin typeface="Courier" charset="0"/>
                <a:cs typeface="Courier" charset="0"/>
              </a:rPr>
              <a:t>q.setAnswer(response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endParaRPr sz="2400" dirty="0">
              <a:solidFill>
                <a:prstClr val="black"/>
              </a:solidFill>
              <a:latin typeface="Arial"/>
              <a:cs typeface="Arial"/>
            </a:endParaRPr>
          </a:p>
          <a:p>
            <a:pPr marL="198438" indent="-182563" defTabSz="1143000">
              <a:spcBef>
                <a:spcPts val="94"/>
              </a:spcBef>
              <a:buFont typeface="Arial"/>
              <a:buAutoNum type="alphaLcPeriod"/>
              <a:tabLst>
                <a:tab pos="199231" algn="l"/>
              </a:tabLst>
            </a:pPr>
            <a:r>
              <a:rPr sz="2400" spc="25" dirty="0">
                <a:solidFill>
                  <a:prstClr val="black"/>
                </a:solidFill>
                <a:latin typeface="Courier" charset="0"/>
                <a:cs typeface="Courier" charset="0"/>
              </a:rPr>
              <a:t>cq.setAnswer(response)</a:t>
            </a:r>
            <a:endParaRPr sz="2400" dirty="0">
              <a:solidFill>
                <a:prstClr val="black"/>
              </a:solidFill>
              <a:latin typeface="Courier" charset="0"/>
              <a:cs typeface="Courier" charset="0"/>
            </a:endParaRPr>
          </a:p>
          <a:p>
            <a:pPr marL="188913" indent="-173038" defTabSz="1143000">
              <a:spcBef>
                <a:spcPts val="94"/>
              </a:spcBef>
              <a:buFont typeface="Arial"/>
              <a:buAutoNum type="alphaLcPeriod"/>
              <a:tabLst>
                <a:tab pos="189706" algn="l"/>
              </a:tabLst>
            </a:pPr>
            <a:r>
              <a:rPr sz="2400" spc="25" dirty="0">
                <a:solidFill>
                  <a:prstClr val="black"/>
                </a:solidFill>
                <a:latin typeface="Courier" charset="0"/>
                <a:cs typeface="Courier" charset="0"/>
              </a:rPr>
              <a:t>q.addChoice(choice,</a:t>
            </a:r>
            <a:r>
              <a:rPr sz="2400" spc="-44" dirty="0">
                <a:solidFill>
                  <a:prstClr val="black"/>
                </a:solidFill>
                <a:latin typeface="Courier" charset="0"/>
                <a:cs typeface="Courier" charset="0"/>
              </a:rPr>
              <a:t> </a:t>
            </a:r>
            <a:r>
              <a:rPr sz="2400" spc="25" dirty="0">
                <a:solidFill>
                  <a:prstClr val="black"/>
                </a:solidFill>
                <a:latin typeface="Courier" charset="0"/>
                <a:cs typeface="Courier" charset="0"/>
              </a:rPr>
              <a:t>true)</a:t>
            </a:r>
            <a:endParaRPr sz="2400" dirty="0">
              <a:solidFill>
                <a:prstClr val="black"/>
              </a:solidFill>
              <a:latin typeface="Courier" charset="0"/>
              <a:cs typeface="Courier" charset="0"/>
            </a:endParaRPr>
          </a:p>
          <a:p>
            <a:pPr marL="198438" indent="-182563" defTabSz="1143000">
              <a:spcBef>
                <a:spcPts val="94"/>
              </a:spcBef>
              <a:buFont typeface="Arial"/>
              <a:buAutoNum type="alphaLcPeriod"/>
              <a:tabLst>
                <a:tab pos="199231" algn="l"/>
              </a:tabLst>
            </a:pPr>
            <a:r>
              <a:rPr sz="2400" spc="25" dirty="0">
                <a:solidFill>
                  <a:prstClr val="black"/>
                </a:solidFill>
                <a:latin typeface="Courier" charset="0"/>
                <a:cs typeface="Courier" charset="0"/>
              </a:rPr>
              <a:t>cq.addChoice(choice,</a:t>
            </a:r>
            <a:r>
              <a:rPr sz="2400" spc="-38" dirty="0">
                <a:solidFill>
                  <a:prstClr val="black"/>
                </a:solidFill>
                <a:latin typeface="Courier" charset="0"/>
                <a:cs typeface="Courier" charset="0"/>
              </a:rPr>
              <a:t> </a:t>
            </a:r>
            <a:r>
              <a:rPr sz="2400" spc="25" dirty="0">
                <a:solidFill>
                  <a:prstClr val="black"/>
                </a:solidFill>
                <a:latin typeface="Courier" charset="0"/>
                <a:cs typeface="Courier" charset="0"/>
              </a:rPr>
              <a:t>true)</a:t>
            </a:r>
            <a:endParaRPr sz="2400" dirty="0">
              <a:solidFill>
                <a:prstClr val="black"/>
              </a:solidFill>
              <a:latin typeface="Courier" charset="0"/>
              <a:cs typeface="Courier" charset="0"/>
            </a:endParaRPr>
          </a:p>
          <a:p>
            <a:pPr defTabSz="1143000">
              <a:spcBef>
                <a:spcPts val="13"/>
              </a:spcBef>
            </a:pPr>
            <a:endParaRPr sz="1250" dirty="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slow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/>
            <a:r>
              <a:rPr lang="en-US" spc="75" dirty="0"/>
              <a:t>Task 5</a:t>
            </a:r>
            <a:endParaRPr spc="-6" dirty="0"/>
          </a:p>
        </p:txBody>
      </p:sp>
      <p:sp>
        <p:nvSpPr>
          <p:cNvPr id="3" name="object 3"/>
          <p:cNvSpPr txBox="1"/>
          <p:nvPr/>
        </p:nvSpPr>
        <p:spPr>
          <a:xfrm>
            <a:off x="2234803" y="877261"/>
            <a:ext cx="3871119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 defTabSz="1143000"/>
            <a:r>
              <a:rPr sz="1250" spc="25" dirty="0">
                <a:solidFill>
                  <a:prstClr val="black"/>
                </a:solidFill>
                <a:latin typeface="Arial"/>
                <a:cs typeface="Arial"/>
              </a:rPr>
              <a:t>Suppose </a:t>
            </a:r>
            <a:r>
              <a:rPr sz="1250" spc="19" dirty="0">
                <a:solidFill>
                  <a:prstClr val="black"/>
                </a:solidFill>
                <a:latin typeface="Arial"/>
                <a:cs typeface="Arial"/>
              </a:rPr>
              <a:t>the class </a:t>
            </a:r>
            <a:r>
              <a:rPr sz="1250" spc="25" dirty="0">
                <a:solidFill>
                  <a:prstClr val="black"/>
                </a:solidFill>
                <a:latin typeface="Courier" charset="0"/>
                <a:cs typeface="Courier" charset="0"/>
              </a:rPr>
              <a:t>Employee</a:t>
            </a:r>
            <a:r>
              <a:rPr sz="1250" spc="-475" dirty="0">
                <a:solidFill>
                  <a:prstClr val="black"/>
                </a:solidFill>
                <a:latin typeface="Courier" charset="0"/>
                <a:cs typeface="Courier" charset="0"/>
              </a:rPr>
              <a:t> </a:t>
            </a:r>
            <a:r>
              <a:rPr sz="1250" spc="13" dirty="0">
                <a:solidFill>
                  <a:prstClr val="black"/>
                </a:solidFill>
                <a:latin typeface="Arial"/>
                <a:cs typeface="Arial"/>
              </a:rPr>
              <a:t>is </a:t>
            </a:r>
            <a:r>
              <a:rPr sz="1250" spc="19" dirty="0">
                <a:solidFill>
                  <a:prstClr val="black"/>
                </a:solidFill>
                <a:latin typeface="Arial"/>
                <a:cs typeface="Arial"/>
              </a:rPr>
              <a:t>declared as follows:</a:t>
            </a:r>
            <a:endParaRPr sz="125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6225" y="1128596"/>
            <a:ext cx="11149013" cy="2517516"/>
          </a:xfrm>
          <a:prstGeom prst="rect">
            <a:avLst/>
          </a:prstGeom>
          <a:ln w="7054">
            <a:solidFill>
              <a:srgbClr val="CCCCCC"/>
            </a:solidFill>
          </a:ln>
        </p:spPr>
        <p:txBody>
          <a:bodyPr vert="horz" wrap="square" lIns="0" tIns="54769" rIns="0" bIns="0" rtlCol="0">
            <a:spAutoFit/>
          </a:bodyPr>
          <a:lstStyle/>
          <a:p>
            <a:pPr marL="50800" defTabSz="1143000">
              <a:spcBef>
                <a:spcPts val="431"/>
              </a:spcBef>
            </a:pPr>
            <a:r>
              <a:rPr sz="1600" spc="13" dirty="0">
                <a:solidFill>
                  <a:prstClr val="black"/>
                </a:solidFill>
                <a:latin typeface="Courier" charset="0"/>
                <a:cs typeface="Courier" charset="0"/>
              </a:rPr>
              <a:t>public class</a:t>
            </a:r>
            <a:r>
              <a:rPr sz="1600" spc="-38" dirty="0">
                <a:solidFill>
                  <a:prstClr val="black"/>
                </a:solidFill>
                <a:latin typeface="Courier" charset="0"/>
                <a:cs typeface="Courier" charset="0"/>
              </a:rPr>
              <a:t> </a:t>
            </a:r>
            <a:r>
              <a:rPr sz="1600" spc="13" dirty="0">
                <a:solidFill>
                  <a:prstClr val="black"/>
                </a:solidFill>
                <a:latin typeface="Courier" charset="0"/>
                <a:cs typeface="Courier" charset="0"/>
              </a:rPr>
              <a:t>Employee</a:t>
            </a:r>
            <a:endParaRPr sz="1600" dirty="0">
              <a:solidFill>
                <a:prstClr val="black"/>
              </a:solidFill>
              <a:latin typeface="Courier" charset="0"/>
              <a:cs typeface="Courier" charset="0"/>
            </a:endParaRPr>
          </a:p>
          <a:p>
            <a:pPr marL="50800" defTabSz="1143000"/>
            <a:r>
              <a:rPr sz="1600" spc="13" dirty="0">
                <a:solidFill>
                  <a:prstClr val="black"/>
                </a:solidFill>
                <a:latin typeface="Courier" charset="0"/>
                <a:cs typeface="Courier" charset="0"/>
              </a:rPr>
              <a:t>{</a:t>
            </a:r>
            <a:endParaRPr sz="1600" dirty="0">
              <a:solidFill>
                <a:prstClr val="black"/>
              </a:solidFill>
              <a:latin typeface="Courier" charset="0"/>
              <a:cs typeface="Courier" charset="0"/>
            </a:endParaRPr>
          </a:p>
          <a:p>
            <a:pPr marL="229394" marR="5691188" defTabSz="1143000"/>
            <a:r>
              <a:rPr sz="1600" spc="13" dirty="0">
                <a:solidFill>
                  <a:prstClr val="black"/>
                </a:solidFill>
                <a:latin typeface="Courier" charset="0"/>
                <a:cs typeface="Courier" charset="0"/>
              </a:rPr>
              <a:t>private String name;  </a:t>
            </a:r>
            <a:endParaRPr lang="en-US" sz="1600" spc="13" dirty="0">
              <a:solidFill>
                <a:prstClr val="black"/>
              </a:solidFill>
              <a:latin typeface="Courier" charset="0"/>
              <a:cs typeface="Courier" charset="0"/>
            </a:endParaRPr>
          </a:p>
          <a:p>
            <a:pPr marL="229394" marR="5691188" defTabSz="1143000"/>
            <a:r>
              <a:rPr sz="1600" spc="13" dirty="0">
                <a:solidFill>
                  <a:prstClr val="black"/>
                </a:solidFill>
                <a:latin typeface="Courier" charset="0"/>
                <a:cs typeface="Courier" charset="0"/>
              </a:rPr>
              <a:t>private double</a:t>
            </a:r>
            <a:r>
              <a:rPr sz="1600" spc="-13" dirty="0">
                <a:solidFill>
                  <a:prstClr val="black"/>
                </a:solidFill>
                <a:latin typeface="Courier" charset="0"/>
                <a:cs typeface="Courier" charset="0"/>
              </a:rPr>
              <a:t> </a:t>
            </a:r>
            <a:r>
              <a:rPr sz="1600" spc="13" dirty="0">
                <a:solidFill>
                  <a:prstClr val="black"/>
                </a:solidFill>
                <a:latin typeface="Courier" charset="0"/>
                <a:cs typeface="Courier" charset="0"/>
              </a:rPr>
              <a:t>baseSalary;</a:t>
            </a:r>
            <a:endParaRPr sz="1600" dirty="0">
              <a:solidFill>
                <a:prstClr val="black"/>
              </a:solidFill>
              <a:latin typeface="Courier" charset="0"/>
              <a:cs typeface="Courier" charset="0"/>
            </a:endParaRPr>
          </a:p>
          <a:p>
            <a:pPr defTabSz="1143000">
              <a:spcBef>
                <a:spcPts val="43"/>
              </a:spcBef>
            </a:pPr>
            <a:endParaRPr sz="16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229394" defTabSz="1143000"/>
            <a:r>
              <a:rPr sz="1600" spc="13" dirty="0">
                <a:solidFill>
                  <a:prstClr val="black"/>
                </a:solidFill>
                <a:latin typeface="Courier" charset="0"/>
                <a:cs typeface="Courier" charset="0"/>
              </a:rPr>
              <a:t>public void setName(String newName) { . . .</a:t>
            </a:r>
            <a:r>
              <a:rPr sz="1600" spc="38" dirty="0">
                <a:solidFill>
                  <a:prstClr val="black"/>
                </a:solidFill>
                <a:latin typeface="Courier" charset="0"/>
                <a:cs typeface="Courier" charset="0"/>
              </a:rPr>
              <a:t> </a:t>
            </a:r>
            <a:r>
              <a:rPr sz="1600" spc="13" dirty="0">
                <a:solidFill>
                  <a:prstClr val="black"/>
                </a:solidFill>
                <a:latin typeface="Courier" charset="0"/>
                <a:cs typeface="Courier" charset="0"/>
              </a:rPr>
              <a:t>}</a:t>
            </a:r>
            <a:endParaRPr sz="1600" dirty="0">
              <a:solidFill>
                <a:prstClr val="black"/>
              </a:solidFill>
              <a:latin typeface="Courier" charset="0"/>
              <a:cs typeface="Courier" charset="0"/>
            </a:endParaRPr>
          </a:p>
          <a:p>
            <a:pPr marL="229394" marR="4084638" defTabSz="1143000"/>
            <a:r>
              <a:rPr sz="1600" spc="13" dirty="0">
                <a:solidFill>
                  <a:prstClr val="black"/>
                </a:solidFill>
                <a:latin typeface="Courier" charset="0"/>
                <a:cs typeface="Courier" charset="0"/>
              </a:rPr>
              <a:t>public void setBaseSalary(double newSalary) { . . . }  </a:t>
            </a:r>
            <a:endParaRPr lang="en-US" sz="1600" spc="13" dirty="0">
              <a:solidFill>
                <a:prstClr val="black"/>
              </a:solidFill>
              <a:latin typeface="Courier" charset="0"/>
              <a:cs typeface="Courier" charset="0"/>
            </a:endParaRPr>
          </a:p>
          <a:p>
            <a:pPr marL="229394" marR="4084638" defTabSz="1143000"/>
            <a:r>
              <a:rPr sz="1600" spc="13" dirty="0">
                <a:solidFill>
                  <a:prstClr val="black"/>
                </a:solidFill>
                <a:latin typeface="Courier" charset="0"/>
                <a:cs typeface="Courier" charset="0"/>
              </a:rPr>
              <a:t>public String getName() { . . .</a:t>
            </a:r>
            <a:r>
              <a:rPr sz="1600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 </a:t>
            </a:r>
            <a:r>
              <a:rPr sz="1600" spc="13" dirty="0">
                <a:solidFill>
                  <a:prstClr val="black"/>
                </a:solidFill>
                <a:latin typeface="Courier" charset="0"/>
                <a:cs typeface="Courier" charset="0"/>
              </a:rPr>
              <a:t>}</a:t>
            </a:r>
            <a:endParaRPr sz="1600" dirty="0">
              <a:solidFill>
                <a:prstClr val="black"/>
              </a:solidFill>
              <a:latin typeface="Courier" charset="0"/>
              <a:cs typeface="Courier" charset="0"/>
            </a:endParaRPr>
          </a:p>
          <a:p>
            <a:pPr marL="229394" defTabSz="1143000"/>
            <a:r>
              <a:rPr sz="1600" spc="13" dirty="0">
                <a:solidFill>
                  <a:prstClr val="black"/>
                </a:solidFill>
                <a:latin typeface="Courier" charset="0"/>
                <a:cs typeface="Courier" charset="0"/>
              </a:rPr>
              <a:t>public double getSalary() { . . .</a:t>
            </a:r>
            <a:r>
              <a:rPr sz="1600" dirty="0">
                <a:solidFill>
                  <a:prstClr val="black"/>
                </a:solidFill>
                <a:latin typeface="Courier" charset="0"/>
                <a:cs typeface="Courier" charset="0"/>
              </a:rPr>
              <a:t> </a:t>
            </a:r>
            <a:r>
              <a:rPr sz="1600" spc="13" dirty="0">
                <a:solidFill>
                  <a:prstClr val="black"/>
                </a:solidFill>
                <a:latin typeface="Courier" charset="0"/>
                <a:cs typeface="Courier" charset="0"/>
              </a:rPr>
              <a:t>}</a:t>
            </a:r>
            <a:endParaRPr sz="1600" dirty="0">
              <a:solidFill>
                <a:prstClr val="black"/>
              </a:solidFill>
              <a:latin typeface="Courier" charset="0"/>
              <a:cs typeface="Courier" charset="0"/>
            </a:endParaRPr>
          </a:p>
          <a:p>
            <a:pPr marL="50800" defTabSz="1143000"/>
            <a:r>
              <a:rPr sz="1600" spc="13" dirty="0">
                <a:solidFill>
                  <a:prstClr val="black"/>
                </a:solidFill>
                <a:latin typeface="Courier" charset="0"/>
                <a:cs typeface="Courier" charset="0"/>
              </a:rPr>
              <a:t>}</a:t>
            </a:r>
            <a:endParaRPr sz="1600" dirty="0">
              <a:solidFill>
                <a:prstClr val="black"/>
              </a:solidFill>
              <a:latin typeface="Courier" charset="0"/>
              <a:cs typeface="Courier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49437" y="4111116"/>
            <a:ext cx="7712869" cy="8295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 marR="6350" defTabSz="1143000">
              <a:lnSpc>
                <a:spcPct val="101800"/>
              </a:lnSpc>
            </a:pPr>
            <a:r>
              <a:rPr spc="19" dirty="0">
                <a:solidFill>
                  <a:prstClr val="black"/>
                </a:solidFill>
                <a:latin typeface="Arial"/>
                <a:cs typeface="Arial"/>
              </a:rPr>
              <a:t>Declare </a:t>
            </a:r>
            <a:r>
              <a:rPr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pc="19" dirty="0">
                <a:solidFill>
                  <a:prstClr val="black"/>
                </a:solidFill>
                <a:latin typeface="Arial"/>
                <a:cs typeface="Arial"/>
              </a:rPr>
              <a:t> class</a:t>
            </a:r>
            <a:r>
              <a:rPr spc="13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pc="25" dirty="0">
                <a:solidFill>
                  <a:prstClr val="black"/>
                </a:solidFill>
                <a:latin typeface="Courier" charset="0"/>
                <a:cs typeface="Courier" charset="0"/>
              </a:rPr>
              <a:t>Manager</a:t>
            </a:r>
            <a:r>
              <a:rPr spc="-388" dirty="0">
                <a:solidFill>
                  <a:prstClr val="black"/>
                </a:solidFill>
                <a:latin typeface="Courier" charset="0"/>
                <a:cs typeface="Courier" charset="0"/>
              </a:rPr>
              <a:t> </a:t>
            </a:r>
            <a:r>
              <a:rPr spc="19" dirty="0">
                <a:solidFill>
                  <a:prstClr val="black"/>
                </a:solidFill>
                <a:latin typeface="Arial"/>
                <a:cs typeface="Arial"/>
              </a:rPr>
              <a:t>that </a:t>
            </a:r>
            <a:r>
              <a:rPr spc="13" dirty="0">
                <a:solidFill>
                  <a:prstClr val="black"/>
                </a:solidFill>
                <a:latin typeface="Arial"/>
                <a:cs typeface="Arial"/>
              </a:rPr>
              <a:t>inherits</a:t>
            </a:r>
            <a:r>
              <a:rPr spc="19" dirty="0">
                <a:solidFill>
                  <a:prstClr val="black"/>
                </a:solidFill>
                <a:latin typeface="Arial"/>
                <a:cs typeface="Arial"/>
              </a:rPr>
              <a:t> from the class </a:t>
            </a:r>
            <a:r>
              <a:rPr spc="25" dirty="0">
                <a:solidFill>
                  <a:prstClr val="black"/>
                </a:solidFill>
                <a:latin typeface="Courier" charset="0"/>
                <a:cs typeface="Courier" charset="0"/>
              </a:rPr>
              <a:t>Employee</a:t>
            </a:r>
            <a:r>
              <a:rPr spc="-388" dirty="0">
                <a:solidFill>
                  <a:prstClr val="black"/>
                </a:solidFill>
                <a:latin typeface="Courier" charset="0"/>
                <a:cs typeface="Courier" charset="0"/>
              </a:rPr>
              <a:t> </a:t>
            </a:r>
            <a:r>
              <a:rPr spc="25" dirty="0">
                <a:solidFill>
                  <a:prstClr val="black"/>
                </a:solidFill>
                <a:latin typeface="Arial"/>
                <a:cs typeface="Arial"/>
              </a:rPr>
              <a:t>and</a:t>
            </a:r>
            <a:r>
              <a:rPr spc="19" dirty="0">
                <a:solidFill>
                  <a:prstClr val="black"/>
                </a:solidFill>
                <a:latin typeface="Arial"/>
                <a:cs typeface="Arial"/>
              </a:rPr>
              <a:t> adds </a:t>
            </a:r>
            <a:r>
              <a:rPr spc="25" dirty="0">
                <a:solidFill>
                  <a:prstClr val="black"/>
                </a:solidFill>
                <a:latin typeface="Arial"/>
                <a:cs typeface="Arial"/>
              </a:rPr>
              <a:t>an</a:t>
            </a:r>
            <a:r>
              <a:rPr spc="19" dirty="0">
                <a:solidFill>
                  <a:prstClr val="black"/>
                </a:solidFill>
                <a:latin typeface="Arial"/>
                <a:cs typeface="Arial"/>
              </a:rPr>
              <a:t> instance variable</a:t>
            </a:r>
            <a:r>
              <a:rPr spc="13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pc="25" dirty="0">
                <a:solidFill>
                  <a:prstClr val="black"/>
                </a:solidFill>
                <a:latin typeface="Courier" charset="0"/>
                <a:cs typeface="Courier" charset="0"/>
              </a:rPr>
              <a:t>bonus</a:t>
            </a:r>
            <a:r>
              <a:rPr spc="-394" dirty="0">
                <a:solidFill>
                  <a:prstClr val="black"/>
                </a:solidFill>
                <a:latin typeface="Courier" charset="0"/>
                <a:cs typeface="Courier" charset="0"/>
              </a:rPr>
              <a:t> </a:t>
            </a:r>
            <a:r>
              <a:rPr spc="13" dirty="0">
                <a:solidFill>
                  <a:prstClr val="black"/>
                </a:solidFill>
                <a:latin typeface="Arial"/>
                <a:cs typeface="Arial"/>
              </a:rPr>
              <a:t>for  </a:t>
            </a:r>
            <a:r>
              <a:rPr spc="19" dirty="0">
                <a:solidFill>
                  <a:prstClr val="black"/>
                </a:solidFill>
                <a:latin typeface="Arial"/>
                <a:cs typeface="Arial"/>
              </a:rPr>
              <a:t>storing </a:t>
            </a:r>
            <a:r>
              <a:rPr spc="2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pc="19" dirty="0">
                <a:solidFill>
                  <a:prstClr val="black"/>
                </a:solidFill>
                <a:latin typeface="Arial"/>
                <a:cs typeface="Arial"/>
              </a:rPr>
              <a:t>salary bonus. Omit constructors </a:t>
            </a:r>
            <a:r>
              <a:rPr spc="25" dirty="0">
                <a:solidFill>
                  <a:prstClr val="black"/>
                </a:solidFill>
                <a:latin typeface="Arial"/>
                <a:cs typeface="Arial"/>
              </a:rPr>
              <a:t>and</a:t>
            </a:r>
            <a:r>
              <a:rPr spc="-38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pc="19" dirty="0">
                <a:solidFill>
                  <a:prstClr val="black"/>
                </a:solidFill>
                <a:latin typeface="Arial"/>
                <a:cs typeface="Arial"/>
              </a:rPr>
              <a:t>methods.</a:t>
            </a:r>
            <a:endParaRPr dirty="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p:transition spd="slow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/>
            <a:r>
              <a:rPr lang="en-US" spc="75" dirty="0"/>
              <a:t>Task 6</a:t>
            </a:r>
            <a:endParaRPr spc="-6" dirty="0"/>
          </a:p>
        </p:txBody>
      </p:sp>
      <p:sp>
        <p:nvSpPr>
          <p:cNvPr id="3" name="object 3"/>
          <p:cNvSpPr txBox="1"/>
          <p:nvPr/>
        </p:nvSpPr>
        <p:spPr>
          <a:xfrm>
            <a:off x="2234802" y="863798"/>
            <a:ext cx="7046913" cy="1572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 marR="6350" defTabSz="1143000">
              <a:lnSpc>
                <a:spcPct val="106500"/>
              </a:lnSpc>
            </a:pPr>
            <a:r>
              <a:rPr sz="2400" spc="19" dirty="0">
                <a:solidFill>
                  <a:prstClr val="black"/>
                </a:solidFill>
                <a:latin typeface="Arial"/>
                <a:cs typeface="Arial"/>
              </a:rPr>
              <a:t>In the </a:t>
            </a:r>
            <a:r>
              <a:rPr sz="2400" spc="25" dirty="0">
                <a:solidFill>
                  <a:prstClr val="black"/>
                </a:solidFill>
                <a:latin typeface="Courier" charset="0"/>
                <a:cs typeface="Courier" charset="0"/>
              </a:rPr>
              <a:t>Manager</a:t>
            </a:r>
            <a:r>
              <a:rPr sz="2400" spc="-456" dirty="0">
                <a:solidFill>
                  <a:prstClr val="black"/>
                </a:solidFill>
                <a:latin typeface="Courier" charset="0"/>
                <a:cs typeface="Courier" charset="0"/>
              </a:rPr>
              <a:t> </a:t>
            </a:r>
            <a:r>
              <a:rPr sz="2400" spc="19" dirty="0">
                <a:solidFill>
                  <a:prstClr val="black"/>
                </a:solidFill>
                <a:latin typeface="Arial"/>
                <a:cs typeface="Arial"/>
              </a:rPr>
              <a:t>class, provide the 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method </a:t>
            </a:r>
            <a:r>
              <a:rPr sz="2400" spc="19" dirty="0">
                <a:solidFill>
                  <a:prstClr val="black"/>
                </a:solidFill>
                <a:latin typeface="Arial"/>
                <a:cs typeface="Arial"/>
              </a:rPr>
              <a:t>header (but not the implementation) </a:t>
            </a:r>
            <a:r>
              <a:rPr sz="2400" spc="13" dirty="0">
                <a:solidFill>
                  <a:prstClr val="black"/>
                </a:solidFill>
                <a:latin typeface="Arial"/>
                <a:cs typeface="Arial"/>
              </a:rPr>
              <a:t>for 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a method </a:t>
            </a:r>
            <a:r>
              <a:rPr sz="2400" spc="19" dirty="0">
                <a:solidFill>
                  <a:prstClr val="black"/>
                </a:solidFill>
                <a:latin typeface="Arial"/>
                <a:cs typeface="Arial"/>
              </a:rPr>
              <a:t>that  overrides the </a:t>
            </a:r>
            <a:r>
              <a:rPr sz="2400" spc="25" dirty="0">
                <a:solidFill>
                  <a:prstClr val="black"/>
                </a:solidFill>
                <a:latin typeface="Courier" charset="0"/>
                <a:cs typeface="Courier" charset="0"/>
              </a:rPr>
              <a:t>getSalary</a:t>
            </a:r>
            <a:r>
              <a:rPr sz="2400" spc="-494" dirty="0">
                <a:solidFill>
                  <a:prstClr val="black"/>
                </a:solidFill>
                <a:latin typeface="Courier" charset="0"/>
                <a:cs typeface="Courier" charset="0"/>
              </a:rPr>
              <a:t> 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method </a:t>
            </a:r>
            <a:r>
              <a:rPr sz="2400" spc="19" dirty="0">
                <a:solidFill>
                  <a:prstClr val="black"/>
                </a:solidFill>
                <a:latin typeface="Arial"/>
                <a:cs typeface="Arial"/>
              </a:rPr>
              <a:t>from the class </a:t>
            </a:r>
            <a:r>
              <a:rPr sz="2400" spc="25" dirty="0">
                <a:solidFill>
                  <a:prstClr val="black"/>
                </a:solidFill>
                <a:latin typeface="Courier" charset="0"/>
                <a:cs typeface="Courier" charset="0"/>
              </a:rPr>
              <a:t>Employee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p:transition spd="slow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/>
            <a:r>
              <a:rPr spc="94" dirty="0"/>
              <a:t>section_3/</a:t>
            </a:r>
            <a:r>
              <a:rPr spc="94" dirty="0">
                <a:solidFill>
                  <a:srgbClr val="000080"/>
                </a:solidFill>
                <a:hlinkClick r:id="rId2"/>
              </a:rPr>
              <a:t>ChoiceQuestion.java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855591" y="2176499"/>
            <a:ext cx="2813050" cy="9249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 defTabSz="1143000">
              <a:lnSpc>
                <a:spcPts val="1019"/>
              </a:lnSpc>
            </a:pP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/**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222250" defTabSz="1143000">
              <a:lnSpc>
                <a:spcPts val="1243"/>
              </a:lnSpc>
            </a:pPr>
            <a:r>
              <a:rPr sz="1063" spc="19" dirty="0">
                <a:solidFill>
                  <a:srgbClr val="0073FF"/>
                </a:solidFill>
                <a:latin typeface="Times New Roman"/>
                <a:cs typeface="Times New Roman"/>
              </a:rPr>
              <a:t>Constructs a choice question with no</a:t>
            </a:r>
            <a:r>
              <a:rPr sz="1063" spc="-106" dirty="0">
                <a:solidFill>
                  <a:srgbClr val="0073FF"/>
                </a:solidFill>
                <a:latin typeface="Times New Roman"/>
                <a:cs typeface="Times New Roman"/>
              </a:rPr>
              <a:t> </a:t>
            </a:r>
            <a:r>
              <a:rPr sz="1063" spc="19" dirty="0">
                <a:solidFill>
                  <a:srgbClr val="0073FF"/>
                </a:solidFill>
                <a:latin typeface="Times New Roman"/>
                <a:cs typeface="Times New Roman"/>
              </a:rPr>
              <a:t>choices.</a:t>
            </a:r>
            <a:endParaRPr sz="1063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5875" defTabSz="1143000">
              <a:lnSpc>
                <a:spcPts val="1044"/>
              </a:lnSpc>
              <a:spcBef>
                <a:spcPts val="19"/>
              </a:spcBef>
            </a:pP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*/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75" defTabSz="1143000">
              <a:lnSpc>
                <a:spcPts val="1044"/>
              </a:lnSpc>
            </a:pPr>
            <a:r>
              <a:rPr sz="875" spc="13" dirty="0">
                <a:solidFill>
                  <a:srgbClr val="CC0066"/>
                </a:solidFill>
                <a:latin typeface="Courier New"/>
                <a:cs typeface="Courier New"/>
              </a:rPr>
              <a:t>public</a:t>
            </a:r>
            <a:r>
              <a:rPr sz="875" spc="-25" dirty="0">
                <a:solidFill>
                  <a:srgbClr val="CC0066"/>
                </a:solidFill>
                <a:latin typeface="Courier New"/>
                <a:cs typeface="Courier New"/>
              </a:rPr>
              <a:t> </a:t>
            </a: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ChoiceQuestion()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75" defTabSz="1143000">
              <a:lnSpc>
                <a:spcPts val="1044"/>
              </a:lnSpc>
            </a:pP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222250" defTabSz="1143000">
              <a:lnSpc>
                <a:spcPts val="1044"/>
              </a:lnSpc>
            </a:pP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choices = </a:t>
            </a:r>
            <a:r>
              <a:rPr sz="875" spc="13" dirty="0">
                <a:solidFill>
                  <a:srgbClr val="CC0066"/>
                </a:solidFill>
                <a:latin typeface="Courier New"/>
                <a:cs typeface="Courier New"/>
              </a:rPr>
              <a:t>new </a:t>
            </a: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ArrayList&lt;String&gt;();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75" defTabSz="1143000">
              <a:lnSpc>
                <a:spcPts val="1044"/>
              </a:lnSpc>
            </a:pP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74191" y="959537"/>
            <a:ext cx="3333750" cy="37638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4138" defTabSz="1143000">
              <a:lnSpc>
                <a:spcPts val="1044"/>
              </a:lnSpc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1  </a:t>
            </a:r>
            <a:r>
              <a:rPr sz="875" spc="13" dirty="0">
                <a:solidFill>
                  <a:srgbClr val="CC0066"/>
                </a:solidFill>
                <a:latin typeface="Courier New"/>
                <a:cs typeface="Courier New"/>
              </a:rPr>
              <a:t>import</a:t>
            </a:r>
            <a:r>
              <a:rPr sz="875" dirty="0">
                <a:solidFill>
                  <a:srgbClr val="CC0066"/>
                </a:solidFill>
                <a:latin typeface="Courier New"/>
                <a:cs typeface="Courier New"/>
              </a:rPr>
              <a:t> </a:t>
            </a: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java.util.ArrayList;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84138" defTabSz="1143000">
              <a:lnSpc>
                <a:spcPts val="1044"/>
              </a:lnSpc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2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84138" defTabSz="1143000">
              <a:lnSpc>
                <a:spcPts val="1019"/>
              </a:lnSpc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3</a:t>
            </a:r>
            <a:r>
              <a:rPr sz="875" b="1" spc="444" dirty="0">
                <a:solidFill>
                  <a:srgbClr val="0073FF"/>
                </a:solidFill>
                <a:latin typeface="Courier New"/>
                <a:cs typeface="Courier New"/>
              </a:rPr>
              <a:t> </a:t>
            </a: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/**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84138" defTabSz="1143000">
              <a:lnSpc>
                <a:spcPts val="1243"/>
              </a:lnSpc>
              <a:tabLst>
                <a:tab pos="496888" algn="l"/>
              </a:tabLst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4	</a:t>
            </a:r>
            <a:r>
              <a:rPr sz="1063" spc="31" dirty="0">
                <a:solidFill>
                  <a:srgbClr val="0073FF"/>
                </a:solidFill>
                <a:latin typeface="Times New Roman"/>
                <a:cs typeface="Times New Roman"/>
              </a:rPr>
              <a:t>A </a:t>
            </a:r>
            <a:r>
              <a:rPr sz="1063" spc="19" dirty="0">
                <a:solidFill>
                  <a:srgbClr val="0073FF"/>
                </a:solidFill>
                <a:latin typeface="Times New Roman"/>
                <a:cs typeface="Times New Roman"/>
              </a:rPr>
              <a:t>question with multiple</a:t>
            </a:r>
            <a:r>
              <a:rPr sz="1063" spc="-125" dirty="0">
                <a:solidFill>
                  <a:srgbClr val="0073FF"/>
                </a:solidFill>
                <a:latin typeface="Times New Roman"/>
                <a:cs typeface="Times New Roman"/>
              </a:rPr>
              <a:t> </a:t>
            </a:r>
            <a:r>
              <a:rPr sz="1063" spc="19" dirty="0">
                <a:solidFill>
                  <a:srgbClr val="0073FF"/>
                </a:solidFill>
                <a:latin typeface="Times New Roman"/>
                <a:cs typeface="Times New Roman"/>
              </a:rPr>
              <a:t>choices.</a:t>
            </a:r>
            <a:endParaRPr sz="1063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84138" defTabSz="1143000">
              <a:lnSpc>
                <a:spcPts val="1044"/>
              </a:lnSpc>
              <a:spcBef>
                <a:spcPts val="19"/>
              </a:spcBef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5</a:t>
            </a:r>
            <a:r>
              <a:rPr sz="875" b="1" spc="444" dirty="0">
                <a:solidFill>
                  <a:srgbClr val="0073FF"/>
                </a:solidFill>
                <a:latin typeface="Courier New"/>
                <a:cs typeface="Courier New"/>
              </a:rPr>
              <a:t> </a:t>
            </a: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*/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84138" defTabSz="1143000">
              <a:lnSpc>
                <a:spcPts val="1044"/>
              </a:lnSpc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6  </a:t>
            </a:r>
            <a:r>
              <a:rPr sz="875" spc="13" dirty="0">
                <a:solidFill>
                  <a:srgbClr val="CC0066"/>
                </a:solidFill>
                <a:latin typeface="Courier New"/>
                <a:cs typeface="Courier New"/>
              </a:rPr>
              <a:t>public class </a:t>
            </a: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ChoiceQuestion </a:t>
            </a:r>
            <a:r>
              <a:rPr sz="875" spc="13" dirty="0">
                <a:solidFill>
                  <a:srgbClr val="CC0066"/>
                </a:solidFill>
                <a:latin typeface="Courier New"/>
                <a:cs typeface="Courier New"/>
              </a:rPr>
              <a:t>extends</a:t>
            </a:r>
            <a:r>
              <a:rPr sz="875" spc="56" dirty="0">
                <a:solidFill>
                  <a:srgbClr val="CC0066"/>
                </a:solidFill>
                <a:latin typeface="Courier New"/>
                <a:cs typeface="Courier New"/>
              </a:rPr>
              <a:t> </a:t>
            </a: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Question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84138" defTabSz="1143000">
              <a:lnSpc>
                <a:spcPts val="1044"/>
              </a:lnSpc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7</a:t>
            </a:r>
            <a:r>
              <a:rPr sz="875" b="1" spc="438" dirty="0">
                <a:solidFill>
                  <a:srgbClr val="0073FF"/>
                </a:solidFill>
                <a:latin typeface="Courier New"/>
                <a:cs typeface="Courier New"/>
              </a:rPr>
              <a:t> </a:t>
            </a: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84138" defTabSz="1143000">
              <a:lnSpc>
                <a:spcPts val="1044"/>
              </a:lnSpc>
              <a:tabLst>
                <a:tab pos="496888" algn="l"/>
              </a:tabLst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8	</a:t>
            </a:r>
            <a:r>
              <a:rPr sz="875" spc="13" dirty="0">
                <a:solidFill>
                  <a:srgbClr val="CC0066"/>
                </a:solidFill>
                <a:latin typeface="Courier New"/>
                <a:cs typeface="Courier New"/>
              </a:rPr>
              <a:t>private </a:t>
            </a: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ArrayList&lt;String&gt;</a:t>
            </a:r>
            <a:r>
              <a:rPr sz="875" spc="19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choices;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84138" defTabSz="1143000">
              <a:lnSpc>
                <a:spcPts val="1044"/>
              </a:lnSpc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9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75" defTabSz="1143000">
              <a:lnSpc>
                <a:spcPts val="1044"/>
              </a:lnSpc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10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75" defTabSz="1143000">
              <a:spcBef>
                <a:spcPts val="131"/>
              </a:spcBef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11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75" defTabSz="1143000">
              <a:lnSpc>
                <a:spcPts val="1044"/>
              </a:lnSpc>
              <a:spcBef>
                <a:spcPts val="56"/>
              </a:spcBef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12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75" defTabSz="1143000">
              <a:lnSpc>
                <a:spcPts val="1044"/>
              </a:lnSpc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13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75" defTabSz="1143000">
              <a:lnSpc>
                <a:spcPts val="1044"/>
              </a:lnSpc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14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75" defTabSz="1143000">
              <a:lnSpc>
                <a:spcPts val="1044"/>
              </a:lnSpc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15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75" defTabSz="1143000">
              <a:lnSpc>
                <a:spcPts val="1044"/>
              </a:lnSpc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16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75" defTabSz="1143000">
              <a:lnSpc>
                <a:spcPts val="1044"/>
              </a:lnSpc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17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75" defTabSz="1143000">
              <a:lnSpc>
                <a:spcPts val="1044"/>
              </a:lnSpc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18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75" defTabSz="1143000">
              <a:spcBef>
                <a:spcPts val="131"/>
              </a:spcBef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19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75" defTabSz="1143000">
              <a:spcBef>
                <a:spcPts val="200"/>
              </a:spcBef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20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75" defTabSz="1143000">
              <a:spcBef>
                <a:spcPts val="200"/>
              </a:spcBef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21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75" defTabSz="1143000">
              <a:lnSpc>
                <a:spcPts val="1044"/>
              </a:lnSpc>
              <a:spcBef>
                <a:spcPts val="56"/>
              </a:spcBef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22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75" defTabSz="1143000">
              <a:lnSpc>
                <a:spcPts val="1044"/>
              </a:lnSpc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23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75" defTabSz="1143000">
              <a:lnSpc>
                <a:spcPts val="1044"/>
              </a:lnSpc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24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75" defTabSz="1143000">
              <a:lnSpc>
                <a:spcPts val="1044"/>
              </a:lnSpc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25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75" defTabSz="1143000">
              <a:lnSpc>
                <a:spcPts val="1044"/>
              </a:lnSpc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26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75" defTabSz="1143000">
              <a:lnSpc>
                <a:spcPts val="1044"/>
              </a:lnSpc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27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75" defTabSz="1143000">
              <a:spcBef>
                <a:spcPts val="131"/>
              </a:spcBef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28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55591" y="3261181"/>
            <a:ext cx="3905250" cy="15388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 defTabSz="1143000">
              <a:lnSpc>
                <a:spcPts val="1019"/>
              </a:lnSpc>
            </a:pP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/**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222250" defTabSz="1143000">
              <a:lnSpc>
                <a:spcPts val="1231"/>
              </a:lnSpc>
            </a:pPr>
            <a:r>
              <a:rPr sz="1063" spc="25" dirty="0">
                <a:solidFill>
                  <a:srgbClr val="0073FF"/>
                </a:solidFill>
                <a:latin typeface="Times New Roman"/>
                <a:cs typeface="Times New Roman"/>
              </a:rPr>
              <a:t>Adds </a:t>
            </a:r>
            <a:r>
              <a:rPr sz="1063" spc="19" dirty="0">
                <a:solidFill>
                  <a:srgbClr val="0073FF"/>
                </a:solidFill>
                <a:latin typeface="Times New Roman"/>
                <a:cs typeface="Times New Roman"/>
              </a:rPr>
              <a:t>an answer choice to </a:t>
            </a:r>
            <a:r>
              <a:rPr sz="1063" spc="13" dirty="0">
                <a:solidFill>
                  <a:srgbClr val="0073FF"/>
                </a:solidFill>
                <a:latin typeface="Times New Roman"/>
                <a:cs typeface="Times New Roman"/>
              </a:rPr>
              <a:t>this</a:t>
            </a:r>
            <a:r>
              <a:rPr sz="1063" spc="-113" dirty="0">
                <a:solidFill>
                  <a:srgbClr val="0073FF"/>
                </a:solidFill>
                <a:latin typeface="Times New Roman"/>
                <a:cs typeface="Times New Roman"/>
              </a:rPr>
              <a:t> </a:t>
            </a:r>
            <a:r>
              <a:rPr sz="1063" spc="19" dirty="0">
                <a:solidFill>
                  <a:srgbClr val="0073FF"/>
                </a:solidFill>
                <a:latin typeface="Times New Roman"/>
                <a:cs typeface="Times New Roman"/>
              </a:rPr>
              <a:t>question.</a:t>
            </a:r>
            <a:endParaRPr sz="1063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222250" defTabSz="1143000">
              <a:lnSpc>
                <a:spcPts val="1250"/>
              </a:lnSpc>
            </a:pP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@param choice</a:t>
            </a:r>
            <a:r>
              <a:rPr sz="875" spc="-338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063" spc="19" dirty="0">
                <a:solidFill>
                  <a:srgbClr val="0073FF"/>
                </a:solidFill>
                <a:latin typeface="Times New Roman"/>
                <a:cs typeface="Times New Roman"/>
              </a:rPr>
              <a:t>the choice to add</a:t>
            </a:r>
            <a:endParaRPr sz="1063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222250" defTabSz="1143000">
              <a:lnSpc>
                <a:spcPts val="1263"/>
              </a:lnSpc>
            </a:pP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@param correct</a:t>
            </a:r>
            <a:r>
              <a:rPr sz="875" spc="-306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063" spc="19" dirty="0">
                <a:solidFill>
                  <a:srgbClr val="0073FF"/>
                </a:solidFill>
                <a:latin typeface="Times New Roman"/>
                <a:cs typeface="Times New Roman"/>
              </a:rPr>
              <a:t>true </a:t>
            </a:r>
            <a:r>
              <a:rPr sz="1063" spc="13" dirty="0">
                <a:solidFill>
                  <a:srgbClr val="0073FF"/>
                </a:solidFill>
                <a:latin typeface="Times New Roman"/>
                <a:cs typeface="Times New Roman"/>
              </a:rPr>
              <a:t>if this is </a:t>
            </a:r>
            <a:r>
              <a:rPr sz="1063" spc="19" dirty="0">
                <a:solidFill>
                  <a:srgbClr val="0073FF"/>
                </a:solidFill>
                <a:latin typeface="Times New Roman"/>
                <a:cs typeface="Times New Roman"/>
              </a:rPr>
              <a:t>the correct choice, </a:t>
            </a:r>
            <a:r>
              <a:rPr sz="1063" spc="13" dirty="0">
                <a:solidFill>
                  <a:srgbClr val="0073FF"/>
                </a:solidFill>
                <a:latin typeface="Times New Roman"/>
                <a:cs typeface="Times New Roman"/>
              </a:rPr>
              <a:t>false </a:t>
            </a:r>
            <a:r>
              <a:rPr sz="1063" spc="19" dirty="0">
                <a:solidFill>
                  <a:srgbClr val="0073FF"/>
                </a:solidFill>
                <a:latin typeface="Times New Roman"/>
                <a:cs typeface="Times New Roman"/>
              </a:rPr>
              <a:t>otherwise</a:t>
            </a:r>
            <a:endParaRPr sz="1063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5875" defTabSz="1143000">
              <a:lnSpc>
                <a:spcPts val="1044"/>
              </a:lnSpc>
              <a:spcBef>
                <a:spcPts val="19"/>
              </a:spcBef>
            </a:pP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*/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75" defTabSz="1143000">
              <a:lnSpc>
                <a:spcPts val="1044"/>
              </a:lnSpc>
            </a:pPr>
            <a:r>
              <a:rPr sz="875" spc="13" dirty="0">
                <a:solidFill>
                  <a:srgbClr val="CC0066"/>
                </a:solidFill>
                <a:latin typeface="Courier New"/>
                <a:cs typeface="Courier New"/>
              </a:rPr>
              <a:t>public void </a:t>
            </a: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addChoice(String choice, </a:t>
            </a:r>
            <a:r>
              <a:rPr sz="875" spc="13" dirty="0">
                <a:solidFill>
                  <a:srgbClr val="CC0066"/>
                </a:solidFill>
                <a:latin typeface="Courier New"/>
                <a:cs typeface="Courier New"/>
              </a:rPr>
              <a:t>boolean</a:t>
            </a:r>
            <a:r>
              <a:rPr sz="875" spc="81" dirty="0">
                <a:solidFill>
                  <a:srgbClr val="CC0066"/>
                </a:solidFill>
                <a:latin typeface="Courier New"/>
                <a:cs typeface="Courier New"/>
              </a:rPr>
              <a:t> </a:t>
            </a: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correct)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75" defTabSz="1143000">
              <a:lnSpc>
                <a:spcPts val="1044"/>
              </a:lnSpc>
            </a:pP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222250" marR="2296319" defTabSz="1143000">
              <a:lnSpc>
                <a:spcPts val="1038"/>
              </a:lnSpc>
              <a:spcBef>
                <a:spcPts val="38"/>
              </a:spcBef>
            </a:pP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choices.add(choice);  </a:t>
            </a:r>
            <a:r>
              <a:rPr sz="875" spc="13" dirty="0">
                <a:solidFill>
                  <a:srgbClr val="CC0066"/>
                </a:solidFill>
                <a:latin typeface="Courier New"/>
                <a:cs typeface="Courier New"/>
              </a:rPr>
              <a:t>if</a:t>
            </a:r>
            <a:r>
              <a:rPr sz="875" spc="-69" dirty="0">
                <a:solidFill>
                  <a:srgbClr val="CC0066"/>
                </a:solidFill>
                <a:latin typeface="Courier New"/>
                <a:cs typeface="Courier New"/>
              </a:rPr>
              <a:t> </a:t>
            </a: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(correct)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222250" defTabSz="1143000">
              <a:lnSpc>
                <a:spcPts val="981"/>
              </a:lnSpc>
            </a:pP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R="1100930" algn="ctr" defTabSz="1143000">
              <a:lnSpc>
                <a:spcPts val="1243"/>
              </a:lnSpc>
            </a:pP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//</a:t>
            </a:r>
            <a:r>
              <a:rPr sz="875" spc="-344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063" spc="19" dirty="0">
                <a:solidFill>
                  <a:srgbClr val="0073FF"/>
                </a:solidFill>
                <a:latin typeface="Times New Roman"/>
                <a:cs typeface="Times New Roman"/>
              </a:rPr>
              <a:t>Convert choices.size() to </a:t>
            </a:r>
            <a:r>
              <a:rPr sz="1063" spc="13" dirty="0">
                <a:solidFill>
                  <a:srgbClr val="0073FF"/>
                </a:solidFill>
                <a:latin typeface="Times New Roman"/>
                <a:cs typeface="Times New Roman"/>
              </a:rPr>
              <a:t>string</a:t>
            </a:r>
            <a:endParaRPr sz="1063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800162" y="894290"/>
            <a:ext cx="141111" cy="396874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1143000"/>
            <a:endParaRPr sz="22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791350" y="894291"/>
            <a:ext cx="149935" cy="245180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1143000"/>
            <a:endParaRPr sz="2250">
              <a:solidFill>
                <a:prstClr val="black"/>
              </a:solidFill>
              <a:latin typeface="Calibri"/>
            </a:endParaRPr>
          </a:p>
        </p:txBody>
      </p:sp>
    </p:spTree>
  </p:cSld>
  <p:clrMapOvr>
    <a:masterClrMapping/>
  </p:clrMapOvr>
  <p:transition spd="slow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/>
            <a:r>
              <a:rPr spc="106" dirty="0"/>
              <a:t>section_3/</a:t>
            </a:r>
            <a:r>
              <a:rPr spc="106" dirty="0">
                <a:solidFill>
                  <a:srgbClr val="000080"/>
                </a:solidFill>
                <a:hlinkClick r:id="rId2"/>
              </a:rPr>
              <a:t>QuestionDemo2.java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62002" y="3102447"/>
            <a:ext cx="4572794" cy="7710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 defTabSz="1143000">
              <a:lnSpc>
                <a:spcPts val="1044"/>
              </a:lnSpc>
            </a:pP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ChoiceQuestion second = </a:t>
            </a:r>
            <a:r>
              <a:rPr sz="875" spc="13" dirty="0">
                <a:solidFill>
                  <a:srgbClr val="CC0066"/>
                </a:solidFill>
                <a:latin typeface="Courier New"/>
                <a:cs typeface="Courier New"/>
              </a:rPr>
              <a:t>new</a:t>
            </a:r>
            <a:r>
              <a:rPr sz="875" spc="50" dirty="0">
                <a:solidFill>
                  <a:srgbClr val="CC0066"/>
                </a:solidFill>
                <a:latin typeface="Courier New"/>
                <a:cs typeface="Courier New"/>
              </a:rPr>
              <a:t> </a:t>
            </a: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ChoiceQuestion();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75" marR="6350" defTabSz="1143000">
              <a:lnSpc>
                <a:spcPts val="1038"/>
              </a:lnSpc>
              <a:spcBef>
                <a:spcPts val="38"/>
              </a:spcBef>
            </a:pP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second.setText(</a:t>
            </a:r>
            <a:r>
              <a:rPr sz="875" spc="13" dirty="0">
                <a:solidFill>
                  <a:srgbClr val="1F9060"/>
                </a:solidFill>
                <a:latin typeface="Courier New"/>
                <a:cs typeface="Courier New"/>
              </a:rPr>
              <a:t>"In which country was the inventor of Java born?"</a:t>
            </a: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);  second.addChoice(</a:t>
            </a:r>
            <a:r>
              <a:rPr sz="875" spc="13" dirty="0">
                <a:solidFill>
                  <a:srgbClr val="1F9060"/>
                </a:solidFill>
                <a:latin typeface="Courier New"/>
                <a:cs typeface="Courier New"/>
              </a:rPr>
              <a:t>"Australia"</a:t>
            </a: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875" spc="19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875" spc="13" dirty="0">
                <a:solidFill>
                  <a:srgbClr val="66FF18"/>
                </a:solidFill>
                <a:latin typeface="Courier New"/>
                <a:cs typeface="Courier New"/>
              </a:rPr>
              <a:t>false</a:t>
            </a: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);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75" marR="1725613" defTabSz="1143000">
              <a:lnSpc>
                <a:spcPts val="1038"/>
              </a:lnSpc>
            </a:pP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second.addChoice(</a:t>
            </a:r>
            <a:r>
              <a:rPr sz="875" spc="13" dirty="0">
                <a:solidFill>
                  <a:srgbClr val="1F9060"/>
                </a:solidFill>
                <a:latin typeface="Courier New"/>
                <a:cs typeface="Courier New"/>
              </a:rPr>
              <a:t>"Canada"</a:t>
            </a: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, </a:t>
            </a:r>
            <a:r>
              <a:rPr sz="875" spc="13" dirty="0">
                <a:solidFill>
                  <a:srgbClr val="66FF18"/>
                </a:solidFill>
                <a:latin typeface="Courier New"/>
                <a:cs typeface="Courier New"/>
              </a:rPr>
              <a:t>true</a:t>
            </a: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);  second.addChoice(</a:t>
            </a:r>
            <a:r>
              <a:rPr sz="875" spc="13" dirty="0">
                <a:solidFill>
                  <a:srgbClr val="1F9060"/>
                </a:solidFill>
                <a:latin typeface="Courier New"/>
                <a:cs typeface="Courier New"/>
              </a:rPr>
              <a:t>"Denmark"</a:t>
            </a: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, </a:t>
            </a:r>
            <a:r>
              <a:rPr sz="875" spc="13" dirty="0">
                <a:solidFill>
                  <a:srgbClr val="66FF18"/>
                </a:solidFill>
                <a:latin typeface="Courier New"/>
                <a:cs typeface="Courier New"/>
              </a:rPr>
              <a:t>false</a:t>
            </a: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);  second.addChoice(</a:t>
            </a:r>
            <a:r>
              <a:rPr sz="875" spc="13" dirty="0">
                <a:solidFill>
                  <a:srgbClr val="1F9060"/>
                </a:solidFill>
                <a:latin typeface="Courier New"/>
                <a:cs typeface="Courier New"/>
              </a:rPr>
              <a:t>"United States"</a:t>
            </a: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875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875" spc="13" dirty="0">
                <a:solidFill>
                  <a:srgbClr val="66FF18"/>
                </a:solidFill>
                <a:latin typeface="Courier New"/>
                <a:cs typeface="Courier New"/>
              </a:rPr>
              <a:t>false</a:t>
            </a: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);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62002" y="4028397"/>
            <a:ext cx="1683544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 marR="6350" defTabSz="1143000"/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presentQuestion(first);  presentQuestion(second);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55708" y="4292954"/>
            <a:ext cx="100806" cy="1346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 defTabSz="1143000"/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74192" y="959536"/>
            <a:ext cx="5260181" cy="4579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4138" defTabSz="1143000">
              <a:lnSpc>
                <a:spcPts val="1044"/>
              </a:lnSpc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1  </a:t>
            </a:r>
            <a:r>
              <a:rPr sz="875" spc="13" dirty="0">
                <a:solidFill>
                  <a:srgbClr val="CC0066"/>
                </a:solidFill>
                <a:latin typeface="Courier New"/>
                <a:cs typeface="Courier New"/>
              </a:rPr>
              <a:t>import</a:t>
            </a:r>
            <a:r>
              <a:rPr sz="875" spc="-6" dirty="0">
                <a:solidFill>
                  <a:srgbClr val="CC0066"/>
                </a:solidFill>
                <a:latin typeface="Courier New"/>
                <a:cs typeface="Courier New"/>
              </a:rPr>
              <a:t> </a:t>
            </a: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java.util.Scanner;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84138" defTabSz="1143000">
              <a:lnSpc>
                <a:spcPts val="1044"/>
              </a:lnSpc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2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84138" defTabSz="1143000">
              <a:lnSpc>
                <a:spcPts val="1019"/>
              </a:lnSpc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3</a:t>
            </a:r>
            <a:r>
              <a:rPr sz="875" b="1" spc="444" dirty="0">
                <a:solidFill>
                  <a:srgbClr val="0073FF"/>
                </a:solidFill>
                <a:latin typeface="Courier New"/>
                <a:cs typeface="Courier New"/>
              </a:rPr>
              <a:t> </a:t>
            </a: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/**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84138" defTabSz="1143000">
              <a:lnSpc>
                <a:spcPts val="1243"/>
              </a:lnSpc>
              <a:tabLst>
                <a:tab pos="496888" algn="l"/>
              </a:tabLst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4	</a:t>
            </a:r>
            <a:r>
              <a:rPr sz="1063" spc="19" dirty="0">
                <a:solidFill>
                  <a:srgbClr val="0073FF"/>
                </a:solidFill>
                <a:latin typeface="Times New Roman"/>
                <a:cs typeface="Times New Roman"/>
              </a:rPr>
              <a:t>This program shows a simple quiz with two choice</a:t>
            </a:r>
            <a:r>
              <a:rPr sz="1063" spc="-75" dirty="0">
                <a:solidFill>
                  <a:srgbClr val="0073FF"/>
                </a:solidFill>
                <a:latin typeface="Times New Roman"/>
                <a:cs typeface="Times New Roman"/>
              </a:rPr>
              <a:t> </a:t>
            </a:r>
            <a:r>
              <a:rPr sz="1063" spc="19" dirty="0">
                <a:solidFill>
                  <a:srgbClr val="0073FF"/>
                </a:solidFill>
                <a:latin typeface="Times New Roman"/>
                <a:cs typeface="Times New Roman"/>
              </a:rPr>
              <a:t>questions.</a:t>
            </a:r>
            <a:endParaRPr sz="1063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84138" defTabSz="1143000">
              <a:lnSpc>
                <a:spcPts val="1044"/>
              </a:lnSpc>
              <a:spcBef>
                <a:spcPts val="19"/>
              </a:spcBef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5</a:t>
            </a:r>
            <a:r>
              <a:rPr sz="875" b="1" spc="444" dirty="0">
                <a:solidFill>
                  <a:srgbClr val="0073FF"/>
                </a:solidFill>
                <a:latin typeface="Courier New"/>
                <a:cs typeface="Courier New"/>
              </a:rPr>
              <a:t> </a:t>
            </a: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*/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84138" defTabSz="1143000">
              <a:lnSpc>
                <a:spcPts val="1044"/>
              </a:lnSpc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6  </a:t>
            </a:r>
            <a:r>
              <a:rPr sz="875" spc="13" dirty="0">
                <a:solidFill>
                  <a:srgbClr val="CC0066"/>
                </a:solidFill>
                <a:latin typeface="Courier New"/>
                <a:cs typeface="Courier New"/>
              </a:rPr>
              <a:t>public class</a:t>
            </a:r>
            <a:r>
              <a:rPr sz="875" spc="-6" dirty="0">
                <a:solidFill>
                  <a:srgbClr val="CC0066"/>
                </a:solidFill>
                <a:latin typeface="Courier New"/>
                <a:cs typeface="Courier New"/>
              </a:rPr>
              <a:t> </a:t>
            </a: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QuestionDemo2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84138" defTabSz="1143000">
              <a:lnSpc>
                <a:spcPts val="1044"/>
              </a:lnSpc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7</a:t>
            </a:r>
            <a:r>
              <a:rPr sz="875" b="1" spc="438" dirty="0">
                <a:solidFill>
                  <a:srgbClr val="0073FF"/>
                </a:solidFill>
                <a:latin typeface="Courier New"/>
                <a:cs typeface="Courier New"/>
              </a:rPr>
              <a:t> </a:t>
            </a: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84138" defTabSz="1143000">
              <a:lnSpc>
                <a:spcPts val="1044"/>
              </a:lnSpc>
              <a:tabLst>
                <a:tab pos="496888" algn="l"/>
              </a:tabLst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8	</a:t>
            </a:r>
            <a:r>
              <a:rPr sz="875" spc="13" dirty="0">
                <a:solidFill>
                  <a:srgbClr val="CC0066"/>
                </a:solidFill>
                <a:latin typeface="Courier New"/>
                <a:cs typeface="Courier New"/>
              </a:rPr>
              <a:t>public static void </a:t>
            </a: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main(String[]</a:t>
            </a:r>
            <a:r>
              <a:rPr sz="875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args)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84138" defTabSz="1143000">
              <a:lnSpc>
                <a:spcPts val="1044"/>
              </a:lnSpc>
              <a:tabLst>
                <a:tab pos="496888" algn="l"/>
              </a:tabLst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9	</a:t>
            </a: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703263" indent="-687388" defTabSz="1143000">
              <a:lnSpc>
                <a:spcPts val="1044"/>
              </a:lnSpc>
              <a:buClr>
                <a:srgbClr val="0073FF"/>
              </a:buClr>
              <a:buFont typeface="Courier New"/>
              <a:buAutoNum type="arabicPlain" startAt="10"/>
              <a:tabLst>
                <a:tab pos="704056" algn="l"/>
              </a:tabLst>
            </a:pP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ChoiceQuestion first = </a:t>
            </a:r>
            <a:r>
              <a:rPr sz="875" spc="13" dirty="0">
                <a:solidFill>
                  <a:srgbClr val="CC0066"/>
                </a:solidFill>
                <a:latin typeface="Courier New"/>
                <a:cs typeface="Courier New"/>
              </a:rPr>
              <a:t>new</a:t>
            </a:r>
            <a:r>
              <a:rPr sz="875" spc="50" dirty="0">
                <a:solidFill>
                  <a:srgbClr val="CC0066"/>
                </a:solidFill>
                <a:latin typeface="Courier New"/>
                <a:cs typeface="Courier New"/>
              </a:rPr>
              <a:t> </a:t>
            </a: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ChoiceQuestion();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703263" indent="-687388" defTabSz="1143000">
              <a:lnSpc>
                <a:spcPts val="1044"/>
              </a:lnSpc>
              <a:buClr>
                <a:srgbClr val="0073FF"/>
              </a:buClr>
              <a:buFont typeface="Courier New"/>
              <a:buAutoNum type="arabicPlain" startAt="10"/>
              <a:tabLst>
                <a:tab pos="704056" algn="l"/>
              </a:tabLst>
            </a:pP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first.setText(</a:t>
            </a:r>
            <a:r>
              <a:rPr sz="875" spc="13" dirty="0">
                <a:solidFill>
                  <a:srgbClr val="1F9060"/>
                </a:solidFill>
                <a:latin typeface="Courier New"/>
                <a:cs typeface="Courier New"/>
              </a:rPr>
              <a:t>"What was the original name of the Java</a:t>
            </a:r>
            <a:r>
              <a:rPr sz="875" spc="119" dirty="0">
                <a:solidFill>
                  <a:srgbClr val="1F9060"/>
                </a:solidFill>
                <a:latin typeface="Courier New"/>
                <a:cs typeface="Courier New"/>
              </a:rPr>
              <a:t> </a:t>
            </a:r>
            <a:r>
              <a:rPr sz="875" spc="13" dirty="0">
                <a:solidFill>
                  <a:srgbClr val="1F9060"/>
                </a:solidFill>
                <a:latin typeface="Courier New"/>
                <a:cs typeface="Courier New"/>
              </a:rPr>
              <a:t>language?"</a:t>
            </a: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);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703263" indent="-687388" defTabSz="1143000">
              <a:lnSpc>
                <a:spcPts val="1044"/>
              </a:lnSpc>
              <a:buClr>
                <a:srgbClr val="0073FF"/>
              </a:buClr>
              <a:buFont typeface="Courier New"/>
              <a:buAutoNum type="arabicPlain" startAt="10"/>
              <a:tabLst>
                <a:tab pos="704056" algn="l"/>
              </a:tabLst>
            </a:pP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first.addChoice(</a:t>
            </a:r>
            <a:r>
              <a:rPr sz="875" spc="13" dirty="0">
                <a:solidFill>
                  <a:srgbClr val="1F9060"/>
                </a:solidFill>
                <a:latin typeface="Courier New"/>
                <a:cs typeface="Courier New"/>
              </a:rPr>
              <a:t>"*7"</a:t>
            </a: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875" spc="-19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875" spc="13" dirty="0">
                <a:solidFill>
                  <a:srgbClr val="66FF18"/>
                </a:solidFill>
                <a:latin typeface="Courier New"/>
                <a:cs typeface="Courier New"/>
              </a:rPr>
              <a:t>false</a:t>
            </a: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);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703263" indent="-687388" defTabSz="1143000">
              <a:lnSpc>
                <a:spcPts val="1044"/>
              </a:lnSpc>
              <a:buClr>
                <a:srgbClr val="0073FF"/>
              </a:buClr>
              <a:buFont typeface="Courier New"/>
              <a:buAutoNum type="arabicPlain" startAt="10"/>
              <a:tabLst>
                <a:tab pos="704056" algn="l"/>
              </a:tabLst>
            </a:pP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first.addChoice(</a:t>
            </a:r>
            <a:r>
              <a:rPr sz="875" spc="13" dirty="0">
                <a:solidFill>
                  <a:srgbClr val="1F9060"/>
                </a:solidFill>
                <a:latin typeface="Courier New"/>
                <a:cs typeface="Courier New"/>
              </a:rPr>
              <a:t>"Duke"</a:t>
            </a: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875" spc="-13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875" spc="13" dirty="0">
                <a:solidFill>
                  <a:srgbClr val="66FF18"/>
                </a:solidFill>
                <a:latin typeface="Courier New"/>
                <a:cs typeface="Courier New"/>
              </a:rPr>
              <a:t>false</a:t>
            </a: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);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703263" indent="-687388" defTabSz="1143000">
              <a:lnSpc>
                <a:spcPts val="1044"/>
              </a:lnSpc>
              <a:buClr>
                <a:srgbClr val="0073FF"/>
              </a:buClr>
              <a:buFont typeface="Courier New"/>
              <a:buAutoNum type="arabicPlain" startAt="10"/>
              <a:tabLst>
                <a:tab pos="704056" algn="l"/>
              </a:tabLst>
            </a:pP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first.addChoice(</a:t>
            </a:r>
            <a:r>
              <a:rPr sz="875" spc="13" dirty="0">
                <a:solidFill>
                  <a:srgbClr val="1F9060"/>
                </a:solidFill>
                <a:latin typeface="Courier New"/>
                <a:cs typeface="Courier New"/>
              </a:rPr>
              <a:t>"Oak"</a:t>
            </a: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875" spc="-19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875" spc="13" dirty="0">
                <a:solidFill>
                  <a:srgbClr val="66FF18"/>
                </a:solidFill>
                <a:latin typeface="Courier New"/>
                <a:cs typeface="Courier New"/>
              </a:rPr>
              <a:t>true</a:t>
            </a: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);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703263" indent="-687388" defTabSz="1143000">
              <a:lnSpc>
                <a:spcPts val="1044"/>
              </a:lnSpc>
              <a:buClr>
                <a:srgbClr val="0073FF"/>
              </a:buClr>
              <a:buFont typeface="Courier New"/>
              <a:buAutoNum type="arabicPlain" startAt="10"/>
              <a:tabLst>
                <a:tab pos="704056" algn="l"/>
              </a:tabLst>
            </a:pP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first.addChoice(</a:t>
            </a:r>
            <a:r>
              <a:rPr sz="875" spc="13" dirty="0">
                <a:solidFill>
                  <a:srgbClr val="1F9060"/>
                </a:solidFill>
                <a:latin typeface="Courier New"/>
                <a:cs typeface="Courier New"/>
              </a:rPr>
              <a:t>"Gosling"</a:t>
            </a: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87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875" spc="13" dirty="0">
                <a:solidFill>
                  <a:srgbClr val="66FF18"/>
                </a:solidFill>
                <a:latin typeface="Courier New"/>
                <a:cs typeface="Courier New"/>
              </a:rPr>
              <a:t>false</a:t>
            </a: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);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75" defTabSz="1143000">
              <a:lnSpc>
                <a:spcPts val="1044"/>
              </a:lnSpc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16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75" defTabSz="1143000">
              <a:lnSpc>
                <a:spcPts val="1044"/>
              </a:lnSpc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17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75" defTabSz="1143000">
              <a:lnSpc>
                <a:spcPts val="1044"/>
              </a:lnSpc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18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75" defTabSz="1143000">
              <a:lnSpc>
                <a:spcPts val="1044"/>
              </a:lnSpc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19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75" defTabSz="1143000">
              <a:lnSpc>
                <a:spcPts val="1044"/>
              </a:lnSpc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20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75" defTabSz="1143000">
              <a:lnSpc>
                <a:spcPts val="1044"/>
              </a:lnSpc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21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75" defTabSz="1143000">
              <a:lnSpc>
                <a:spcPts val="1044"/>
              </a:lnSpc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22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75" defTabSz="1143000">
              <a:lnSpc>
                <a:spcPts val="1044"/>
              </a:lnSpc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23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75" defTabSz="1143000">
              <a:lnSpc>
                <a:spcPts val="1044"/>
              </a:lnSpc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24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75" defTabSz="1143000">
              <a:lnSpc>
                <a:spcPts val="1044"/>
              </a:lnSpc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25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75" defTabSz="1143000">
              <a:lnSpc>
                <a:spcPts val="1044"/>
              </a:lnSpc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26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75" defTabSz="1143000">
              <a:lnSpc>
                <a:spcPts val="1044"/>
              </a:lnSpc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27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75" defTabSz="1143000">
              <a:lnSpc>
                <a:spcPts val="1044"/>
              </a:lnSpc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28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75" defTabSz="1143000">
              <a:spcBef>
                <a:spcPts val="131"/>
              </a:spcBef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29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75" defTabSz="1143000">
              <a:spcBef>
                <a:spcPts val="200"/>
              </a:spcBef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30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75" defTabSz="1143000">
              <a:lnSpc>
                <a:spcPts val="1044"/>
              </a:lnSpc>
              <a:spcBef>
                <a:spcPts val="56"/>
              </a:spcBef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31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75" defTabSz="1143000">
              <a:lnSpc>
                <a:spcPts val="1044"/>
              </a:lnSpc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32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75" defTabSz="1143000">
              <a:lnSpc>
                <a:spcPts val="1044"/>
              </a:lnSpc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33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75" defTabSz="1143000">
              <a:lnSpc>
                <a:spcPts val="1044"/>
              </a:lnSpc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34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75" defTabSz="1143000">
              <a:lnSpc>
                <a:spcPts val="1044"/>
              </a:lnSpc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35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55592" y="4557510"/>
            <a:ext cx="3609181" cy="10916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 defTabSz="1143000">
              <a:lnSpc>
                <a:spcPts val="1019"/>
              </a:lnSpc>
            </a:pP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/**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222250" defTabSz="1143000">
              <a:lnSpc>
                <a:spcPts val="1231"/>
              </a:lnSpc>
            </a:pPr>
            <a:r>
              <a:rPr sz="1063" spc="19" dirty="0">
                <a:solidFill>
                  <a:srgbClr val="0073FF"/>
                </a:solidFill>
                <a:latin typeface="Times New Roman"/>
                <a:cs typeface="Times New Roman"/>
              </a:rPr>
              <a:t>Presents a question to the user and checks the</a:t>
            </a:r>
            <a:r>
              <a:rPr sz="1063" spc="-138" dirty="0">
                <a:solidFill>
                  <a:srgbClr val="0073FF"/>
                </a:solidFill>
                <a:latin typeface="Times New Roman"/>
                <a:cs typeface="Times New Roman"/>
              </a:rPr>
              <a:t> </a:t>
            </a:r>
            <a:r>
              <a:rPr sz="1063" spc="19" dirty="0">
                <a:solidFill>
                  <a:srgbClr val="0073FF"/>
                </a:solidFill>
                <a:latin typeface="Times New Roman"/>
                <a:cs typeface="Times New Roman"/>
              </a:rPr>
              <a:t>response.</a:t>
            </a:r>
            <a:endParaRPr sz="1063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222250" defTabSz="1143000">
              <a:lnSpc>
                <a:spcPts val="1263"/>
              </a:lnSpc>
            </a:pP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@param q</a:t>
            </a:r>
            <a:r>
              <a:rPr sz="875" spc="-344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063" spc="19" dirty="0">
                <a:solidFill>
                  <a:srgbClr val="0073FF"/>
                </a:solidFill>
                <a:latin typeface="Times New Roman"/>
                <a:cs typeface="Times New Roman"/>
              </a:rPr>
              <a:t>the question</a:t>
            </a:r>
            <a:endParaRPr sz="1063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5875" defTabSz="1143000">
              <a:lnSpc>
                <a:spcPts val="1044"/>
              </a:lnSpc>
              <a:spcBef>
                <a:spcPts val="19"/>
              </a:spcBef>
            </a:pP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*/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75" defTabSz="1143000">
              <a:lnSpc>
                <a:spcPts val="1044"/>
              </a:lnSpc>
            </a:pPr>
            <a:r>
              <a:rPr sz="875" spc="13" dirty="0">
                <a:solidFill>
                  <a:srgbClr val="CC0066"/>
                </a:solidFill>
                <a:latin typeface="Courier New"/>
                <a:cs typeface="Courier New"/>
              </a:rPr>
              <a:t>public static void </a:t>
            </a: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presentQuestion(ChoiceQuestion</a:t>
            </a:r>
            <a:r>
              <a:rPr sz="875" spc="81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q)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75" defTabSz="1143000">
              <a:lnSpc>
                <a:spcPts val="1044"/>
              </a:lnSpc>
            </a:pP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222250" marR="1037430" defTabSz="1143000">
              <a:lnSpc>
                <a:spcPts val="1038"/>
              </a:lnSpc>
              <a:spcBef>
                <a:spcPts val="38"/>
              </a:spcBef>
            </a:pP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q.display();  System.out.print(</a:t>
            </a:r>
            <a:r>
              <a:rPr sz="875" spc="13" dirty="0">
                <a:solidFill>
                  <a:srgbClr val="1F9060"/>
                </a:solidFill>
                <a:latin typeface="Courier New"/>
                <a:cs typeface="Courier New"/>
              </a:rPr>
              <a:t>"Your answer:</a:t>
            </a:r>
            <a:r>
              <a:rPr sz="875" spc="6" dirty="0">
                <a:solidFill>
                  <a:srgbClr val="1F9060"/>
                </a:solidFill>
                <a:latin typeface="Courier New"/>
                <a:cs typeface="Courier New"/>
              </a:rPr>
              <a:t> </a:t>
            </a:r>
            <a:r>
              <a:rPr sz="875" spc="13" dirty="0">
                <a:solidFill>
                  <a:srgbClr val="1F9060"/>
                </a:solidFill>
                <a:latin typeface="Courier New"/>
                <a:cs typeface="Courier New"/>
              </a:rPr>
              <a:t>"</a:t>
            </a: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);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800162" y="894291"/>
            <a:ext cx="141111" cy="48506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1143000"/>
            <a:endParaRPr sz="22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791350" y="894291"/>
            <a:ext cx="149935" cy="418042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1143000"/>
            <a:endParaRPr sz="2250">
              <a:solidFill>
                <a:prstClr val="black"/>
              </a:solidFill>
              <a:latin typeface="Calibri"/>
            </a:endParaRPr>
          </a:p>
        </p:txBody>
      </p:sp>
    </p:spTree>
  </p:cSld>
  <p:clrMapOvr>
    <a:masterClrMapping/>
  </p:clrMapOvr>
  <p:transition spd="slow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095501" y="2286000"/>
            <a:ext cx="6966744" cy="747713"/>
          </a:xfrm>
          <a:custGeom>
            <a:avLst/>
            <a:gdLst/>
            <a:ahLst/>
            <a:cxnLst/>
            <a:rect l="l" t="t" r="r" b="b"/>
            <a:pathLst>
              <a:path w="5573395" h="598169">
                <a:moveTo>
                  <a:pt x="5573331" y="0"/>
                </a:moveTo>
                <a:lnTo>
                  <a:pt x="5573331" y="598153"/>
                </a:lnTo>
                <a:lnTo>
                  <a:pt x="0" y="598153"/>
                </a:lnTo>
                <a:lnTo>
                  <a:pt x="0" y="0"/>
                </a:lnTo>
              </a:path>
            </a:pathLst>
          </a:custGeom>
          <a:ln w="7054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pPr defTabSz="1143000"/>
            <a:endParaRPr sz="22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39701" y="2262067"/>
            <a:ext cx="1174750" cy="7060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 defTabSz="1143000">
              <a:lnSpc>
                <a:spcPts val="1100"/>
              </a:lnSpc>
            </a:pPr>
            <a:r>
              <a:rPr sz="938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2:</a:t>
            </a:r>
            <a:r>
              <a:rPr sz="938" spc="-106" dirty="0">
                <a:solidFill>
                  <a:prstClr val="black"/>
                </a:solidFill>
                <a:latin typeface="Courier" charset="0"/>
                <a:cs typeface="Courier" charset="0"/>
              </a:rPr>
              <a:t> </a:t>
            </a:r>
            <a:r>
              <a:rPr sz="938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Canada</a:t>
            </a:r>
            <a:endParaRPr sz="938" dirty="0">
              <a:solidFill>
                <a:prstClr val="black"/>
              </a:solidFill>
              <a:latin typeface="Courier" charset="0"/>
              <a:cs typeface="Courier" charset="0"/>
            </a:endParaRPr>
          </a:p>
          <a:p>
            <a:pPr marL="15875" defTabSz="1143000">
              <a:lnSpc>
                <a:spcPts val="1094"/>
              </a:lnSpc>
            </a:pPr>
            <a:r>
              <a:rPr sz="938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3:</a:t>
            </a:r>
            <a:r>
              <a:rPr sz="938" spc="-100" dirty="0">
                <a:solidFill>
                  <a:prstClr val="black"/>
                </a:solidFill>
                <a:latin typeface="Courier" charset="0"/>
                <a:cs typeface="Courier" charset="0"/>
              </a:rPr>
              <a:t> </a:t>
            </a:r>
            <a:r>
              <a:rPr sz="938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Denmark</a:t>
            </a:r>
            <a:endParaRPr sz="938" dirty="0">
              <a:solidFill>
                <a:prstClr val="black"/>
              </a:solidFill>
              <a:latin typeface="Courier" charset="0"/>
              <a:cs typeface="Courier" charset="0"/>
            </a:endParaRPr>
          </a:p>
          <a:p>
            <a:pPr marL="15875" defTabSz="1143000">
              <a:lnSpc>
                <a:spcPts val="1113"/>
              </a:lnSpc>
            </a:pPr>
            <a:r>
              <a:rPr sz="938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4: United</a:t>
            </a:r>
            <a:r>
              <a:rPr sz="938" spc="-81" dirty="0">
                <a:solidFill>
                  <a:prstClr val="black"/>
                </a:solidFill>
                <a:latin typeface="Courier" charset="0"/>
                <a:cs typeface="Courier" charset="0"/>
              </a:rPr>
              <a:t> </a:t>
            </a:r>
            <a:r>
              <a:rPr sz="938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States</a:t>
            </a:r>
            <a:endParaRPr sz="938" dirty="0">
              <a:solidFill>
                <a:prstClr val="black"/>
              </a:solidFill>
              <a:latin typeface="Courier" charset="0"/>
              <a:cs typeface="Courier" charset="0"/>
            </a:endParaRPr>
          </a:p>
          <a:p>
            <a:pPr marL="15875" marR="148431" defTabSz="1143000">
              <a:lnSpc>
                <a:spcPts val="1113"/>
              </a:lnSpc>
              <a:spcBef>
                <a:spcPts val="38"/>
              </a:spcBef>
            </a:pPr>
            <a:r>
              <a:rPr sz="938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Your answer:</a:t>
            </a:r>
            <a:r>
              <a:rPr sz="938" spc="-88" dirty="0">
                <a:solidFill>
                  <a:prstClr val="black"/>
                </a:solidFill>
                <a:latin typeface="Courier" charset="0"/>
                <a:cs typeface="Courier" charset="0"/>
              </a:rPr>
              <a:t> </a:t>
            </a:r>
            <a:r>
              <a:rPr sz="938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2  true</a:t>
            </a:r>
            <a:endParaRPr sz="938" dirty="0">
              <a:solidFill>
                <a:prstClr val="black"/>
              </a:solidFill>
              <a:latin typeface="Courier" charset="0"/>
              <a:cs typeface="Courier" charset="0"/>
            </a:endParaRPr>
          </a:p>
        </p:txBody>
      </p:sp>
      <p:sp>
        <p:nvSpPr>
          <p:cNvPr id="6" name="object 2"/>
          <p:cNvSpPr/>
          <p:nvPr/>
        </p:nvSpPr>
        <p:spPr>
          <a:xfrm>
            <a:off x="2085033" y="798820"/>
            <a:ext cx="6966744" cy="1430338"/>
          </a:xfrm>
          <a:custGeom>
            <a:avLst/>
            <a:gdLst/>
            <a:ahLst/>
            <a:cxnLst/>
            <a:rect l="l" t="t" r="r" b="b"/>
            <a:pathLst>
              <a:path w="5573395" h="1144270">
                <a:moveTo>
                  <a:pt x="0" y="0"/>
                </a:moveTo>
                <a:lnTo>
                  <a:pt x="5573331" y="0"/>
                </a:lnTo>
                <a:lnTo>
                  <a:pt x="5573331" y="1143845"/>
                </a:lnTo>
              </a:path>
            </a:pathLst>
          </a:custGeom>
          <a:ln w="7054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pPr defTabSz="1143000"/>
            <a:endParaRPr sz="22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object 3"/>
          <p:cNvSpPr/>
          <p:nvPr/>
        </p:nvSpPr>
        <p:spPr>
          <a:xfrm>
            <a:off x="2085033" y="798820"/>
            <a:ext cx="0" cy="1430338"/>
          </a:xfrm>
          <a:custGeom>
            <a:avLst/>
            <a:gdLst/>
            <a:ahLst/>
            <a:cxnLst/>
            <a:rect l="l" t="t" r="r" b="b"/>
            <a:pathLst>
              <a:path h="1144270">
                <a:moveTo>
                  <a:pt x="0" y="1143845"/>
                </a:moveTo>
                <a:lnTo>
                  <a:pt x="0" y="0"/>
                </a:lnTo>
              </a:path>
            </a:pathLst>
          </a:custGeom>
          <a:ln w="7054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pPr defTabSz="1143000"/>
            <a:endParaRPr sz="22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object 10"/>
          <p:cNvSpPr txBox="1"/>
          <p:nvPr/>
        </p:nvSpPr>
        <p:spPr>
          <a:xfrm>
            <a:off x="1764917" y="494576"/>
            <a:ext cx="3824288" cy="16583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2685256" algn="ctr" defTabSz="1143000"/>
            <a:r>
              <a:rPr sz="1250" b="1" spc="25" dirty="0">
                <a:solidFill>
                  <a:prstClr val="black"/>
                </a:solidFill>
                <a:latin typeface="Arial"/>
                <a:cs typeface="Arial"/>
              </a:rPr>
              <a:t>Program</a:t>
            </a:r>
            <a:r>
              <a:rPr sz="1250" b="1" spc="-1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250" b="1" spc="25" dirty="0">
                <a:solidFill>
                  <a:prstClr val="black"/>
                </a:solidFill>
                <a:latin typeface="Arial"/>
                <a:cs typeface="Arial"/>
              </a:rPr>
              <a:t>Run:</a:t>
            </a:r>
            <a:endParaRPr sz="1250" dirty="0">
              <a:solidFill>
                <a:prstClr val="black"/>
              </a:solidFill>
              <a:latin typeface="Arial"/>
              <a:cs typeface="Arial"/>
            </a:endParaRPr>
          </a:p>
          <a:p>
            <a:pPr defTabSz="1143000">
              <a:spcBef>
                <a:spcPts val="63"/>
              </a:spcBef>
            </a:pPr>
            <a:endParaRPr sz="1188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379413" marR="6350" defTabSz="1143000">
              <a:lnSpc>
                <a:spcPts val="1113"/>
              </a:lnSpc>
            </a:pPr>
            <a:r>
              <a:rPr sz="938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What was the original name of the Java language?  1:</a:t>
            </a:r>
            <a:r>
              <a:rPr sz="938" spc="-119" dirty="0">
                <a:solidFill>
                  <a:prstClr val="black"/>
                </a:solidFill>
                <a:latin typeface="Courier" charset="0"/>
                <a:cs typeface="Courier" charset="0"/>
              </a:rPr>
              <a:t> </a:t>
            </a:r>
            <a:r>
              <a:rPr sz="938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*7</a:t>
            </a:r>
            <a:endParaRPr sz="938" dirty="0">
              <a:solidFill>
                <a:prstClr val="black"/>
              </a:solidFill>
              <a:latin typeface="Courier" charset="0"/>
              <a:cs typeface="Courier" charset="0"/>
            </a:endParaRPr>
          </a:p>
          <a:p>
            <a:pPr marL="379413" defTabSz="1143000">
              <a:lnSpc>
                <a:spcPts val="1069"/>
              </a:lnSpc>
            </a:pPr>
            <a:r>
              <a:rPr sz="938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2:</a:t>
            </a:r>
            <a:r>
              <a:rPr sz="938" spc="-113" dirty="0">
                <a:solidFill>
                  <a:prstClr val="black"/>
                </a:solidFill>
                <a:latin typeface="Courier" charset="0"/>
                <a:cs typeface="Courier" charset="0"/>
              </a:rPr>
              <a:t> </a:t>
            </a:r>
            <a:r>
              <a:rPr sz="938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Duke</a:t>
            </a:r>
            <a:endParaRPr sz="938" dirty="0">
              <a:solidFill>
                <a:prstClr val="black"/>
              </a:solidFill>
              <a:latin typeface="Courier" charset="0"/>
              <a:cs typeface="Courier" charset="0"/>
            </a:endParaRPr>
          </a:p>
          <a:p>
            <a:pPr marL="379413" defTabSz="1143000">
              <a:lnSpc>
                <a:spcPts val="1113"/>
              </a:lnSpc>
            </a:pPr>
            <a:r>
              <a:rPr sz="938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3:</a:t>
            </a:r>
            <a:r>
              <a:rPr sz="938" spc="-119" dirty="0">
                <a:solidFill>
                  <a:prstClr val="black"/>
                </a:solidFill>
                <a:latin typeface="Courier" charset="0"/>
                <a:cs typeface="Courier" charset="0"/>
              </a:rPr>
              <a:t> </a:t>
            </a:r>
            <a:r>
              <a:rPr sz="938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Oak</a:t>
            </a:r>
            <a:endParaRPr sz="938" dirty="0">
              <a:solidFill>
                <a:prstClr val="black"/>
              </a:solidFill>
              <a:latin typeface="Courier" charset="0"/>
              <a:cs typeface="Courier" charset="0"/>
            </a:endParaRPr>
          </a:p>
          <a:p>
            <a:pPr marL="379413" defTabSz="1143000">
              <a:lnSpc>
                <a:spcPts val="1113"/>
              </a:lnSpc>
            </a:pPr>
            <a:r>
              <a:rPr sz="938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4:</a:t>
            </a:r>
            <a:r>
              <a:rPr sz="938" spc="-100" dirty="0">
                <a:solidFill>
                  <a:prstClr val="black"/>
                </a:solidFill>
                <a:latin typeface="Courier" charset="0"/>
                <a:cs typeface="Courier" charset="0"/>
              </a:rPr>
              <a:t> </a:t>
            </a:r>
            <a:r>
              <a:rPr sz="938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Gosling</a:t>
            </a:r>
            <a:endParaRPr sz="938" dirty="0">
              <a:solidFill>
                <a:prstClr val="black"/>
              </a:solidFill>
              <a:latin typeface="Courier" charset="0"/>
              <a:cs typeface="Courier" charset="0"/>
            </a:endParaRPr>
          </a:p>
          <a:p>
            <a:pPr marL="379413" marR="2362994" defTabSz="1143000">
              <a:lnSpc>
                <a:spcPts val="1113"/>
              </a:lnSpc>
              <a:spcBef>
                <a:spcPts val="38"/>
              </a:spcBef>
            </a:pPr>
            <a:r>
              <a:rPr sz="938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Your answer:</a:t>
            </a:r>
            <a:r>
              <a:rPr sz="938" spc="-88" dirty="0">
                <a:solidFill>
                  <a:prstClr val="black"/>
                </a:solidFill>
                <a:latin typeface="Courier" charset="0"/>
                <a:cs typeface="Courier" charset="0"/>
              </a:rPr>
              <a:t> </a:t>
            </a:r>
            <a:r>
              <a:rPr sz="938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*7  false</a:t>
            </a:r>
            <a:endParaRPr sz="938" dirty="0">
              <a:solidFill>
                <a:prstClr val="black"/>
              </a:solidFill>
              <a:latin typeface="Courier" charset="0"/>
              <a:cs typeface="Courier" charset="0"/>
            </a:endParaRPr>
          </a:p>
          <a:p>
            <a:pPr marL="379413" defTabSz="1143000">
              <a:lnSpc>
                <a:spcPts val="1069"/>
              </a:lnSpc>
            </a:pPr>
            <a:r>
              <a:rPr sz="938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In which country was the inventor of Java</a:t>
            </a:r>
            <a:r>
              <a:rPr sz="938" spc="13" dirty="0">
                <a:solidFill>
                  <a:prstClr val="black"/>
                </a:solidFill>
                <a:latin typeface="Courier" charset="0"/>
                <a:cs typeface="Courier" charset="0"/>
              </a:rPr>
              <a:t> </a:t>
            </a:r>
            <a:r>
              <a:rPr sz="938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born?</a:t>
            </a:r>
            <a:endParaRPr sz="938" dirty="0">
              <a:solidFill>
                <a:prstClr val="black"/>
              </a:solidFill>
              <a:latin typeface="Courier" charset="0"/>
              <a:cs typeface="Courier" charset="0"/>
            </a:endParaRPr>
          </a:p>
          <a:p>
            <a:pPr marL="379413" defTabSz="1143000">
              <a:lnSpc>
                <a:spcPts val="1118"/>
              </a:lnSpc>
            </a:pPr>
            <a:r>
              <a:rPr sz="938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1:</a:t>
            </a:r>
            <a:r>
              <a:rPr sz="938" spc="-94" dirty="0">
                <a:solidFill>
                  <a:prstClr val="black"/>
                </a:solidFill>
                <a:latin typeface="Courier" charset="0"/>
                <a:cs typeface="Courier" charset="0"/>
              </a:rPr>
              <a:t> </a:t>
            </a:r>
            <a:r>
              <a:rPr sz="938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Australia</a:t>
            </a:r>
            <a:endParaRPr sz="938" dirty="0">
              <a:solidFill>
                <a:prstClr val="black"/>
              </a:solidFill>
              <a:latin typeface="Courier" charset="0"/>
              <a:cs typeface="Courier" charset="0"/>
            </a:endParaRPr>
          </a:p>
        </p:txBody>
      </p:sp>
    </p:spTree>
  </p:cSld>
  <p:clrMapOvr>
    <a:masterClrMapping/>
  </p:clrMapOvr>
  <p:transition spd="slow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095501" y="2286000"/>
            <a:ext cx="6966744" cy="747713"/>
          </a:xfrm>
          <a:custGeom>
            <a:avLst/>
            <a:gdLst/>
            <a:ahLst/>
            <a:cxnLst/>
            <a:rect l="l" t="t" r="r" b="b"/>
            <a:pathLst>
              <a:path w="5573395" h="598169">
                <a:moveTo>
                  <a:pt x="5573331" y="0"/>
                </a:moveTo>
                <a:lnTo>
                  <a:pt x="5573331" y="598153"/>
                </a:lnTo>
                <a:lnTo>
                  <a:pt x="0" y="598153"/>
                </a:lnTo>
                <a:lnTo>
                  <a:pt x="0" y="0"/>
                </a:lnTo>
              </a:path>
            </a:pathLst>
          </a:custGeom>
          <a:ln w="7054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pPr defTabSz="1143000"/>
            <a:endParaRPr sz="22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39701" y="2262067"/>
            <a:ext cx="1174750" cy="7060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 defTabSz="1143000">
              <a:lnSpc>
                <a:spcPts val="1100"/>
              </a:lnSpc>
            </a:pPr>
            <a:r>
              <a:rPr sz="938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2:</a:t>
            </a:r>
            <a:r>
              <a:rPr sz="938" spc="-106" dirty="0">
                <a:solidFill>
                  <a:prstClr val="black"/>
                </a:solidFill>
                <a:latin typeface="Courier" charset="0"/>
                <a:cs typeface="Courier" charset="0"/>
              </a:rPr>
              <a:t> </a:t>
            </a:r>
            <a:r>
              <a:rPr sz="938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Canada</a:t>
            </a:r>
            <a:endParaRPr sz="938" dirty="0">
              <a:solidFill>
                <a:prstClr val="black"/>
              </a:solidFill>
              <a:latin typeface="Courier" charset="0"/>
              <a:cs typeface="Courier" charset="0"/>
            </a:endParaRPr>
          </a:p>
          <a:p>
            <a:pPr marL="15875" defTabSz="1143000">
              <a:lnSpc>
                <a:spcPts val="1094"/>
              </a:lnSpc>
            </a:pPr>
            <a:r>
              <a:rPr sz="938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3:</a:t>
            </a:r>
            <a:r>
              <a:rPr sz="938" spc="-100" dirty="0">
                <a:solidFill>
                  <a:prstClr val="black"/>
                </a:solidFill>
                <a:latin typeface="Courier" charset="0"/>
                <a:cs typeface="Courier" charset="0"/>
              </a:rPr>
              <a:t> </a:t>
            </a:r>
            <a:r>
              <a:rPr sz="938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Denmark</a:t>
            </a:r>
            <a:endParaRPr sz="938" dirty="0">
              <a:solidFill>
                <a:prstClr val="black"/>
              </a:solidFill>
              <a:latin typeface="Courier" charset="0"/>
              <a:cs typeface="Courier" charset="0"/>
            </a:endParaRPr>
          </a:p>
          <a:p>
            <a:pPr marL="15875" defTabSz="1143000">
              <a:lnSpc>
                <a:spcPts val="1113"/>
              </a:lnSpc>
            </a:pPr>
            <a:r>
              <a:rPr sz="938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4: United</a:t>
            </a:r>
            <a:r>
              <a:rPr sz="938" spc="-81" dirty="0">
                <a:solidFill>
                  <a:prstClr val="black"/>
                </a:solidFill>
                <a:latin typeface="Courier" charset="0"/>
                <a:cs typeface="Courier" charset="0"/>
              </a:rPr>
              <a:t> </a:t>
            </a:r>
            <a:r>
              <a:rPr sz="938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States</a:t>
            </a:r>
            <a:endParaRPr sz="938" dirty="0">
              <a:solidFill>
                <a:prstClr val="black"/>
              </a:solidFill>
              <a:latin typeface="Courier" charset="0"/>
              <a:cs typeface="Courier" charset="0"/>
            </a:endParaRPr>
          </a:p>
          <a:p>
            <a:pPr marL="15875" marR="148431" defTabSz="1143000">
              <a:lnSpc>
                <a:spcPts val="1113"/>
              </a:lnSpc>
              <a:spcBef>
                <a:spcPts val="38"/>
              </a:spcBef>
            </a:pPr>
            <a:r>
              <a:rPr sz="938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Your answer:</a:t>
            </a:r>
            <a:r>
              <a:rPr sz="938" spc="-88" dirty="0">
                <a:solidFill>
                  <a:prstClr val="black"/>
                </a:solidFill>
                <a:latin typeface="Courier" charset="0"/>
                <a:cs typeface="Courier" charset="0"/>
              </a:rPr>
              <a:t> </a:t>
            </a:r>
            <a:r>
              <a:rPr sz="938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2  true</a:t>
            </a:r>
            <a:endParaRPr sz="938" dirty="0">
              <a:solidFill>
                <a:prstClr val="black"/>
              </a:solidFill>
              <a:latin typeface="Courier" charset="0"/>
              <a:cs typeface="Courier" charset="0"/>
            </a:endParaRPr>
          </a:p>
        </p:txBody>
      </p:sp>
      <p:sp>
        <p:nvSpPr>
          <p:cNvPr id="6" name="object 2"/>
          <p:cNvSpPr/>
          <p:nvPr/>
        </p:nvSpPr>
        <p:spPr>
          <a:xfrm>
            <a:off x="2085033" y="798820"/>
            <a:ext cx="6966744" cy="1430338"/>
          </a:xfrm>
          <a:custGeom>
            <a:avLst/>
            <a:gdLst/>
            <a:ahLst/>
            <a:cxnLst/>
            <a:rect l="l" t="t" r="r" b="b"/>
            <a:pathLst>
              <a:path w="5573395" h="1144270">
                <a:moveTo>
                  <a:pt x="0" y="0"/>
                </a:moveTo>
                <a:lnTo>
                  <a:pt x="5573331" y="0"/>
                </a:lnTo>
                <a:lnTo>
                  <a:pt x="5573331" y="1143845"/>
                </a:lnTo>
              </a:path>
            </a:pathLst>
          </a:custGeom>
          <a:ln w="7054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pPr defTabSz="1143000"/>
            <a:endParaRPr sz="22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object 3"/>
          <p:cNvSpPr/>
          <p:nvPr/>
        </p:nvSpPr>
        <p:spPr>
          <a:xfrm>
            <a:off x="2085033" y="798820"/>
            <a:ext cx="0" cy="1430338"/>
          </a:xfrm>
          <a:custGeom>
            <a:avLst/>
            <a:gdLst/>
            <a:ahLst/>
            <a:cxnLst/>
            <a:rect l="l" t="t" r="r" b="b"/>
            <a:pathLst>
              <a:path h="1144270">
                <a:moveTo>
                  <a:pt x="0" y="1143845"/>
                </a:moveTo>
                <a:lnTo>
                  <a:pt x="0" y="0"/>
                </a:lnTo>
              </a:path>
            </a:pathLst>
          </a:custGeom>
          <a:ln w="7054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pPr defTabSz="1143000"/>
            <a:endParaRPr sz="22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object 10"/>
          <p:cNvSpPr txBox="1"/>
          <p:nvPr/>
        </p:nvSpPr>
        <p:spPr>
          <a:xfrm>
            <a:off x="1764917" y="494576"/>
            <a:ext cx="3824288" cy="16583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2685256" algn="ctr" defTabSz="1143000"/>
            <a:r>
              <a:rPr sz="1250" b="1" spc="25" dirty="0">
                <a:solidFill>
                  <a:prstClr val="black"/>
                </a:solidFill>
                <a:latin typeface="Arial"/>
                <a:cs typeface="Arial"/>
              </a:rPr>
              <a:t>Program</a:t>
            </a:r>
            <a:r>
              <a:rPr sz="1250" b="1" spc="-1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250" b="1" spc="25" dirty="0">
                <a:solidFill>
                  <a:prstClr val="black"/>
                </a:solidFill>
                <a:latin typeface="Arial"/>
                <a:cs typeface="Arial"/>
              </a:rPr>
              <a:t>Run:</a:t>
            </a:r>
            <a:endParaRPr sz="1250" dirty="0">
              <a:solidFill>
                <a:prstClr val="black"/>
              </a:solidFill>
              <a:latin typeface="Arial"/>
              <a:cs typeface="Arial"/>
            </a:endParaRPr>
          </a:p>
          <a:p>
            <a:pPr defTabSz="1143000">
              <a:spcBef>
                <a:spcPts val="63"/>
              </a:spcBef>
            </a:pPr>
            <a:endParaRPr sz="1188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379413" marR="6350" defTabSz="1143000">
              <a:lnSpc>
                <a:spcPts val="1113"/>
              </a:lnSpc>
            </a:pPr>
            <a:r>
              <a:rPr sz="938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What was the original name of the Java language?  1:</a:t>
            </a:r>
            <a:r>
              <a:rPr sz="938" spc="-119" dirty="0">
                <a:solidFill>
                  <a:prstClr val="black"/>
                </a:solidFill>
                <a:latin typeface="Courier" charset="0"/>
                <a:cs typeface="Courier" charset="0"/>
              </a:rPr>
              <a:t> </a:t>
            </a:r>
            <a:r>
              <a:rPr sz="938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*7</a:t>
            </a:r>
            <a:endParaRPr sz="938" dirty="0">
              <a:solidFill>
                <a:prstClr val="black"/>
              </a:solidFill>
              <a:latin typeface="Courier" charset="0"/>
              <a:cs typeface="Courier" charset="0"/>
            </a:endParaRPr>
          </a:p>
          <a:p>
            <a:pPr marL="379413" defTabSz="1143000">
              <a:lnSpc>
                <a:spcPts val="1069"/>
              </a:lnSpc>
            </a:pPr>
            <a:r>
              <a:rPr sz="938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2:</a:t>
            </a:r>
            <a:r>
              <a:rPr sz="938" spc="-113" dirty="0">
                <a:solidFill>
                  <a:prstClr val="black"/>
                </a:solidFill>
                <a:latin typeface="Courier" charset="0"/>
                <a:cs typeface="Courier" charset="0"/>
              </a:rPr>
              <a:t> </a:t>
            </a:r>
            <a:r>
              <a:rPr sz="938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Duke</a:t>
            </a:r>
            <a:endParaRPr sz="938" dirty="0">
              <a:solidFill>
                <a:prstClr val="black"/>
              </a:solidFill>
              <a:latin typeface="Courier" charset="0"/>
              <a:cs typeface="Courier" charset="0"/>
            </a:endParaRPr>
          </a:p>
          <a:p>
            <a:pPr marL="379413" defTabSz="1143000">
              <a:lnSpc>
                <a:spcPts val="1113"/>
              </a:lnSpc>
            </a:pPr>
            <a:r>
              <a:rPr sz="938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3:</a:t>
            </a:r>
            <a:r>
              <a:rPr sz="938" spc="-119" dirty="0">
                <a:solidFill>
                  <a:prstClr val="black"/>
                </a:solidFill>
                <a:latin typeface="Courier" charset="0"/>
                <a:cs typeface="Courier" charset="0"/>
              </a:rPr>
              <a:t> </a:t>
            </a:r>
            <a:r>
              <a:rPr sz="938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Oak</a:t>
            </a:r>
            <a:endParaRPr sz="938" dirty="0">
              <a:solidFill>
                <a:prstClr val="black"/>
              </a:solidFill>
              <a:latin typeface="Courier" charset="0"/>
              <a:cs typeface="Courier" charset="0"/>
            </a:endParaRPr>
          </a:p>
          <a:p>
            <a:pPr marL="379413" defTabSz="1143000">
              <a:lnSpc>
                <a:spcPts val="1113"/>
              </a:lnSpc>
            </a:pPr>
            <a:r>
              <a:rPr sz="938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4:</a:t>
            </a:r>
            <a:r>
              <a:rPr sz="938" spc="-100" dirty="0">
                <a:solidFill>
                  <a:prstClr val="black"/>
                </a:solidFill>
                <a:latin typeface="Courier" charset="0"/>
                <a:cs typeface="Courier" charset="0"/>
              </a:rPr>
              <a:t> </a:t>
            </a:r>
            <a:r>
              <a:rPr sz="938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Gosling</a:t>
            </a:r>
            <a:endParaRPr sz="938" dirty="0">
              <a:solidFill>
                <a:prstClr val="black"/>
              </a:solidFill>
              <a:latin typeface="Courier" charset="0"/>
              <a:cs typeface="Courier" charset="0"/>
            </a:endParaRPr>
          </a:p>
          <a:p>
            <a:pPr marL="379413" marR="2362994" defTabSz="1143000">
              <a:lnSpc>
                <a:spcPts val="1113"/>
              </a:lnSpc>
              <a:spcBef>
                <a:spcPts val="38"/>
              </a:spcBef>
            </a:pPr>
            <a:r>
              <a:rPr sz="938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Your answer:</a:t>
            </a:r>
            <a:r>
              <a:rPr sz="938" spc="-88" dirty="0">
                <a:solidFill>
                  <a:prstClr val="black"/>
                </a:solidFill>
                <a:latin typeface="Courier" charset="0"/>
                <a:cs typeface="Courier" charset="0"/>
              </a:rPr>
              <a:t> </a:t>
            </a:r>
            <a:r>
              <a:rPr sz="938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*7  false</a:t>
            </a:r>
            <a:endParaRPr sz="938" dirty="0">
              <a:solidFill>
                <a:prstClr val="black"/>
              </a:solidFill>
              <a:latin typeface="Courier" charset="0"/>
              <a:cs typeface="Courier" charset="0"/>
            </a:endParaRPr>
          </a:p>
          <a:p>
            <a:pPr marL="379413" defTabSz="1143000">
              <a:lnSpc>
                <a:spcPts val="1069"/>
              </a:lnSpc>
            </a:pPr>
            <a:r>
              <a:rPr sz="938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In which country was the inventor of Java</a:t>
            </a:r>
            <a:r>
              <a:rPr sz="938" spc="13" dirty="0">
                <a:solidFill>
                  <a:prstClr val="black"/>
                </a:solidFill>
                <a:latin typeface="Courier" charset="0"/>
                <a:cs typeface="Courier" charset="0"/>
              </a:rPr>
              <a:t> </a:t>
            </a:r>
            <a:r>
              <a:rPr sz="938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born?</a:t>
            </a:r>
            <a:endParaRPr sz="938" dirty="0">
              <a:solidFill>
                <a:prstClr val="black"/>
              </a:solidFill>
              <a:latin typeface="Courier" charset="0"/>
              <a:cs typeface="Courier" charset="0"/>
            </a:endParaRPr>
          </a:p>
          <a:p>
            <a:pPr marL="379413" defTabSz="1143000">
              <a:lnSpc>
                <a:spcPts val="1118"/>
              </a:lnSpc>
            </a:pPr>
            <a:r>
              <a:rPr sz="938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1:</a:t>
            </a:r>
            <a:r>
              <a:rPr sz="938" spc="-94" dirty="0">
                <a:solidFill>
                  <a:prstClr val="black"/>
                </a:solidFill>
                <a:latin typeface="Courier" charset="0"/>
                <a:cs typeface="Courier" charset="0"/>
              </a:rPr>
              <a:t> </a:t>
            </a:r>
            <a:r>
              <a:rPr sz="938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Australia</a:t>
            </a:r>
            <a:endParaRPr sz="938" dirty="0">
              <a:solidFill>
                <a:prstClr val="black"/>
              </a:solidFill>
              <a:latin typeface="Courier" charset="0"/>
              <a:cs typeface="Courier" charset="0"/>
            </a:endParaRPr>
          </a:p>
        </p:txBody>
      </p:sp>
    </p:spTree>
  </p:cSld>
  <p:clrMapOvr>
    <a:masterClrMapping/>
  </p:clrMapOvr>
  <p:transition spd="slow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/>
            <a:r>
              <a:rPr spc="56" dirty="0"/>
              <a:t>P</a:t>
            </a:r>
            <a:r>
              <a:rPr spc="156" dirty="0"/>
              <a:t>o</a:t>
            </a:r>
            <a:r>
              <a:rPr spc="63" dirty="0"/>
              <a:t>l</a:t>
            </a:r>
            <a:r>
              <a:rPr spc="106" dirty="0"/>
              <a:t>y</a:t>
            </a:r>
            <a:r>
              <a:rPr spc="238" dirty="0"/>
              <a:t>m</a:t>
            </a:r>
            <a:r>
              <a:rPr spc="156" dirty="0"/>
              <a:t>o</a:t>
            </a:r>
            <a:r>
              <a:rPr spc="56" dirty="0"/>
              <a:t>r</a:t>
            </a:r>
            <a:r>
              <a:rPr spc="169" dirty="0"/>
              <a:t>p</a:t>
            </a:r>
            <a:r>
              <a:rPr spc="138" dirty="0"/>
              <a:t>h</a:t>
            </a:r>
            <a:r>
              <a:rPr spc="56" dirty="0"/>
              <a:t>i</a:t>
            </a:r>
            <a:r>
              <a:rPr spc="281" dirty="0"/>
              <a:t>s</a:t>
            </a:r>
            <a:r>
              <a:rPr spc="238" dirty="0"/>
              <a:t>m</a:t>
            </a:r>
          </a:p>
        </p:txBody>
      </p:sp>
      <p:sp>
        <p:nvSpPr>
          <p:cNvPr id="3" name="object 3"/>
          <p:cNvSpPr/>
          <p:nvPr/>
        </p:nvSpPr>
        <p:spPr>
          <a:xfrm>
            <a:off x="2374137" y="1019203"/>
            <a:ext cx="61913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383" y="0"/>
                </a:lnTo>
              </a:path>
            </a:pathLst>
          </a:custGeom>
          <a:ln w="49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1143000"/>
            <a:endParaRPr sz="22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74137" y="1610046"/>
            <a:ext cx="61913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383" y="0"/>
                </a:lnTo>
              </a:path>
            </a:pathLst>
          </a:custGeom>
          <a:ln w="49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1143000"/>
            <a:endParaRPr sz="22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374137" y="2518358"/>
            <a:ext cx="61913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383" y="0"/>
                </a:lnTo>
              </a:path>
            </a:pathLst>
          </a:custGeom>
          <a:ln w="49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1143000"/>
            <a:endParaRPr sz="22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374137" y="2844645"/>
            <a:ext cx="61913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383" y="0"/>
                </a:lnTo>
              </a:path>
            </a:pathLst>
          </a:custGeom>
          <a:ln w="49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1143000"/>
            <a:endParaRPr sz="22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31051" y="842859"/>
            <a:ext cx="6581775" cy="2393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 marR="6350" defTabSz="1143000">
              <a:lnSpc>
                <a:spcPct val="114799"/>
              </a:lnSpc>
            </a:pPr>
            <a:r>
              <a:rPr sz="1563" spc="-6" dirty="0">
                <a:solidFill>
                  <a:prstClr val="black"/>
                </a:solidFill>
                <a:latin typeface="Arial"/>
                <a:cs typeface="Arial"/>
              </a:rPr>
              <a:t>Problem: to present both </a:t>
            </a:r>
            <a:r>
              <a:rPr sz="1563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Question</a:t>
            </a:r>
            <a:r>
              <a:rPr sz="1563" spc="-511" dirty="0">
                <a:solidFill>
                  <a:prstClr val="black"/>
                </a:solidFill>
                <a:latin typeface="Courier" charset="0"/>
                <a:cs typeface="Courier" charset="0"/>
              </a:rPr>
              <a:t> </a:t>
            </a:r>
            <a:r>
              <a:rPr sz="1563" spc="-6" dirty="0">
                <a:solidFill>
                  <a:prstClr val="black"/>
                </a:solidFill>
                <a:latin typeface="Arial"/>
                <a:cs typeface="Arial"/>
              </a:rPr>
              <a:t>and </a:t>
            </a:r>
            <a:r>
              <a:rPr sz="1563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ChoiceQuestion</a:t>
            </a:r>
            <a:r>
              <a:rPr sz="1563" spc="-511" dirty="0">
                <a:solidFill>
                  <a:prstClr val="black"/>
                </a:solidFill>
                <a:latin typeface="Courier" charset="0"/>
                <a:cs typeface="Courier" charset="0"/>
              </a:rPr>
              <a:t> </a:t>
            </a:r>
            <a:r>
              <a:rPr sz="1563" spc="-6" dirty="0">
                <a:solidFill>
                  <a:prstClr val="black"/>
                </a:solidFill>
                <a:latin typeface="Arial"/>
                <a:cs typeface="Arial"/>
              </a:rPr>
              <a:t>with the same  program.</a:t>
            </a:r>
            <a:endParaRPr sz="1563" dirty="0">
              <a:solidFill>
                <a:prstClr val="black"/>
              </a:solidFill>
              <a:latin typeface="Arial"/>
              <a:cs typeface="Arial"/>
            </a:endParaRPr>
          </a:p>
          <a:p>
            <a:pPr marL="15875" defTabSz="1143000">
              <a:spcBef>
                <a:spcPts val="625"/>
              </a:spcBef>
            </a:pPr>
            <a:r>
              <a:rPr sz="1563" spc="-6" dirty="0">
                <a:solidFill>
                  <a:prstClr val="black"/>
                </a:solidFill>
                <a:latin typeface="Arial"/>
                <a:cs typeface="Arial"/>
              </a:rPr>
              <a:t>We do not need to know the exact type of the</a:t>
            </a:r>
            <a:r>
              <a:rPr sz="1563" spc="-19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563" spc="-6" dirty="0">
                <a:solidFill>
                  <a:prstClr val="black"/>
                </a:solidFill>
                <a:latin typeface="Arial"/>
                <a:cs typeface="Arial"/>
              </a:rPr>
              <a:t>question</a:t>
            </a:r>
            <a:endParaRPr sz="1563" dirty="0">
              <a:solidFill>
                <a:prstClr val="black"/>
              </a:solidFill>
              <a:latin typeface="Arial"/>
              <a:cs typeface="Arial"/>
            </a:endParaRPr>
          </a:p>
          <a:p>
            <a:pPr marL="370681" defTabSz="1143000">
              <a:spcBef>
                <a:spcPts val="931"/>
              </a:spcBef>
            </a:pPr>
            <a:r>
              <a:rPr sz="1188" dirty="0">
                <a:solidFill>
                  <a:prstClr val="black"/>
                </a:solidFill>
                <a:latin typeface="Arial"/>
                <a:cs typeface="Arial"/>
              </a:rPr>
              <a:t>We need to display the</a:t>
            </a:r>
            <a:r>
              <a:rPr sz="1188" spc="-1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188" dirty="0">
                <a:solidFill>
                  <a:prstClr val="black"/>
                </a:solidFill>
                <a:latin typeface="Arial"/>
                <a:cs typeface="Arial"/>
              </a:rPr>
              <a:t>question</a:t>
            </a:r>
          </a:p>
          <a:p>
            <a:pPr marL="370681" defTabSz="1143000">
              <a:spcBef>
                <a:spcPts val="519"/>
              </a:spcBef>
            </a:pPr>
            <a:r>
              <a:rPr sz="1188" dirty="0">
                <a:solidFill>
                  <a:prstClr val="black"/>
                </a:solidFill>
                <a:latin typeface="Arial"/>
                <a:cs typeface="Arial"/>
              </a:rPr>
              <a:t>We need to check whether the user supplied the correct</a:t>
            </a:r>
            <a:r>
              <a:rPr sz="1188" spc="-7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188" dirty="0">
                <a:solidFill>
                  <a:prstClr val="black"/>
                </a:solidFill>
                <a:latin typeface="Arial"/>
                <a:cs typeface="Arial"/>
              </a:rPr>
              <a:t>answer</a:t>
            </a:r>
          </a:p>
          <a:p>
            <a:pPr marL="15875" defTabSz="1143000">
              <a:spcBef>
                <a:spcPts val="975"/>
              </a:spcBef>
            </a:pPr>
            <a:r>
              <a:rPr sz="1563" spc="-6" dirty="0">
                <a:solidFill>
                  <a:prstClr val="black"/>
                </a:solidFill>
                <a:latin typeface="Arial"/>
                <a:cs typeface="Arial"/>
              </a:rPr>
              <a:t>The </a:t>
            </a:r>
            <a:r>
              <a:rPr sz="1563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Question</a:t>
            </a:r>
            <a:r>
              <a:rPr sz="1563" spc="-494" dirty="0">
                <a:solidFill>
                  <a:prstClr val="black"/>
                </a:solidFill>
                <a:latin typeface="Courier" charset="0"/>
                <a:cs typeface="Courier" charset="0"/>
              </a:rPr>
              <a:t> </a:t>
            </a:r>
            <a:r>
              <a:rPr sz="1563" spc="-6" dirty="0">
                <a:solidFill>
                  <a:prstClr val="black"/>
                </a:solidFill>
                <a:latin typeface="Arial"/>
                <a:cs typeface="Arial"/>
              </a:rPr>
              <a:t>superclass has methods for displaying and checking.</a:t>
            </a:r>
            <a:endParaRPr sz="1563" dirty="0">
              <a:solidFill>
                <a:prstClr val="black"/>
              </a:solidFill>
              <a:latin typeface="Arial"/>
              <a:cs typeface="Arial"/>
            </a:endParaRPr>
          </a:p>
          <a:p>
            <a:pPr marL="15875" defTabSz="1143000">
              <a:spcBef>
                <a:spcPts val="694"/>
              </a:spcBef>
            </a:pPr>
            <a:r>
              <a:rPr sz="1563" spc="-6" dirty="0">
                <a:solidFill>
                  <a:prstClr val="black"/>
                </a:solidFill>
                <a:latin typeface="Arial"/>
                <a:cs typeface="Arial"/>
              </a:rPr>
              <a:t>We can simply declare the parameter variable of the</a:t>
            </a:r>
            <a:r>
              <a:rPr sz="1563" spc="13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563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presentQuestion</a:t>
            </a:r>
            <a:endParaRPr sz="1563" dirty="0">
              <a:solidFill>
                <a:prstClr val="black"/>
              </a:solidFill>
              <a:latin typeface="Courier" charset="0"/>
              <a:cs typeface="Courier" charset="0"/>
            </a:endParaRPr>
          </a:p>
          <a:p>
            <a:pPr marL="15875" defTabSz="1143000">
              <a:spcBef>
                <a:spcPts val="344"/>
              </a:spcBef>
            </a:pPr>
            <a:r>
              <a:rPr sz="1563" spc="-6" dirty="0">
                <a:solidFill>
                  <a:prstClr val="black"/>
                </a:solidFill>
                <a:latin typeface="Arial"/>
                <a:cs typeface="Arial"/>
              </a:rPr>
              <a:t>method to have the type</a:t>
            </a:r>
            <a:r>
              <a:rPr sz="1563" spc="-69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563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Question</a:t>
            </a:r>
            <a:r>
              <a:rPr sz="1563" spc="-6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endParaRPr sz="1563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88241" y="3735790"/>
            <a:ext cx="9815513" cy="2022670"/>
          </a:xfrm>
          <a:prstGeom prst="rect">
            <a:avLst/>
          </a:prstGeom>
          <a:ln w="7054">
            <a:solidFill>
              <a:srgbClr val="CCCCCC"/>
            </a:solidFill>
          </a:ln>
        </p:spPr>
        <p:txBody>
          <a:bodyPr vert="horz" wrap="square" lIns="0" tIns="52388" rIns="0" bIns="0" rtlCol="0">
            <a:spAutoFit/>
          </a:bodyPr>
          <a:lstStyle/>
          <a:p>
            <a:pPr marL="55563" defTabSz="1143000">
              <a:spcBef>
                <a:spcPts val="413"/>
              </a:spcBef>
            </a:pPr>
            <a:r>
              <a:rPr sz="1600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public static void presentQuestion(Question</a:t>
            </a:r>
            <a:r>
              <a:rPr sz="1600" spc="19" dirty="0">
                <a:solidFill>
                  <a:prstClr val="black"/>
                </a:solidFill>
                <a:latin typeface="Courier" charset="0"/>
                <a:cs typeface="Courier" charset="0"/>
              </a:rPr>
              <a:t> </a:t>
            </a:r>
            <a:r>
              <a:rPr sz="1600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q)</a:t>
            </a:r>
            <a:endParaRPr sz="1600" dirty="0">
              <a:solidFill>
                <a:prstClr val="black"/>
              </a:solidFill>
              <a:latin typeface="Courier" charset="0"/>
              <a:cs typeface="Courier" charset="0"/>
            </a:endParaRPr>
          </a:p>
          <a:p>
            <a:pPr marL="55563" defTabSz="1143000"/>
            <a:r>
              <a:rPr sz="1600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{</a:t>
            </a:r>
            <a:endParaRPr sz="1600" dirty="0">
              <a:solidFill>
                <a:prstClr val="black"/>
              </a:solidFill>
              <a:latin typeface="Courier" charset="0"/>
              <a:cs typeface="Courier" charset="0"/>
            </a:endParaRPr>
          </a:p>
          <a:p>
            <a:pPr marL="269875" marR="4249738" defTabSz="1143000">
              <a:spcBef>
                <a:spcPts val="38"/>
              </a:spcBef>
            </a:pPr>
            <a:r>
              <a:rPr sz="1600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q.display();  </a:t>
            </a:r>
            <a:endParaRPr lang="en-US" sz="1600" spc="-6" dirty="0">
              <a:solidFill>
                <a:prstClr val="black"/>
              </a:solidFill>
              <a:latin typeface="Courier" charset="0"/>
              <a:cs typeface="Courier" charset="0"/>
            </a:endParaRPr>
          </a:p>
          <a:p>
            <a:pPr marL="269875" marR="4249738" defTabSz="1143000">
              <a:spcBef>
                <a:spcPts val="38"/>
              </a:spcBef>
            </a:pPr>
            <a:r>
              <a:rPr sz="1600" spc="-6" dirty="0" err="1">
                <a:solidFill>
                  <a:prstClr val="black"/>
                </a:solidFill>
                <a:latin typeface="Courier" charset="0"/>
                <a:cs typeface="Courier" charset="0"/>
              </a:rPr>
              <a:t>System.out.print</a:t>
            </a:r>
            <a:r>
              <a:rPr sz="1600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("Your answer:</a:t>
            </a:r>
            <a:r>
              <a:rPr sz="1600" spc="-19" dirty="0">
                <a:solidFill>
                  <a:prstClr val="black"/>
                </a:solidFill>
                <a:latin typeface="Courier" charset="0"/>
                <a:cs typeface="Courier" charset="0"/>
              </a:rPr>
              <a:t> </a:t>
            </a:r>
            <a:r>
              <a:rPr sz="1600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");</a:t>
            </a:r>
            <a:endParaRPr sz="1600" dirty="0">
              <a:solidFill>
                <a:prstClr val="black"/>
              </a:solidFill>
              <a:latin typeface="Courier" charset="0"/>
              <a:cs typeface="Courier" charset="0"/>
            </a:endParaRPr>
          </a:p>
          <a:p>
            <a:pPr marL="269875" defTabSz="1143000"/>
            <a:r>
              <a:rPr sz="1600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Scanner in = new</a:t>
            </a:r>
            <a:r>
              <a:rPr sz="1600" spc="-19" dirty="0">
                <a:solidFill>
                  <a:prstClr val="black"/>
                </a:solidFill>
                <a:latin typeface="Courier" charset="0"/>
                <a:cs typeface="Courier" charset="0"/>
              </a:rPr>
              <a:t> </a:t>
            </a:r>
            <a:r>
              <a:rPr sz="1600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Scanner(System.in);</a:t>
            </a:r>
            <a:endParaRPr sz="1600" dirty="0">
              <a:solidFill>
                <a:prstClr val="black"/>
              </a:solidFill>
              <a:latin typeface="Courier" charset="0"/>
              <a:cs typeface="Courier" charset="0"/>
            </a:endParaRPr>
          </a:p>
          <a:p>
            <a:pPr marL="269875" marR="3536156" defTabSz="1143000">
              <a:spcBef>
                <a:spcPts val="38"/>
              </a:spcBef>
            </a:pPr>
            <a:r>
              <a:rPr sz="1600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String response = in.nextLine();  System.out.println(q.checkAnswer(response));</a:t>
            </a:r>
            <a:endParaRPr sz="1600" dirty="0">
              <a:solidFill>
                <a:prstClr val="black"/>
              </a:solidFill>
              <a:latin typeface="Courier" charset="0"/>
              <a:cs typeface="Courier" charset="0"/>
            </a:endParaRPr>
          </a:p>
          <a:p>
            <a:pPr marL="55563" defTabSz="1143000"/>
            <a:r>
              <a:rPr sz="1600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}</a:t>
            </a:r>
            <a:endParaRPr sz="1600" dirty="0">
              <a:solidFill>
                <a:prstClr val="black"/>
              </a:solidFill>
              <a:latin typeface="Courier" charset="0"/>
              <a:cs typeface="Courier" charset="0"/>
            </a:endParaRPr>
          </a:p>
        </p:txBody>
      </p:sp>
    </p:spTree>
  </p:cSld>
  <p:clrMapOvr>
    <a:masterClrMapping/>
  </p:clrMapOvr>
  <p:transition spd="slow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/>
            <a:r>
              <a:rPr spc="142" dirty="0"/>
              <a:t>Polymorphism </a:t>
            </a:r>
            <a:r>
              <a:rPr spc="-138" dirty="0"/>
              <a:t>-</a:t>
            </a:r>
            <a:r>
              <a:rPr spc="-150" dirty="0"/>
              <a:t> </a:t>
            </a:r>
            <a:r>
              <a:rPr spc="100" dirty="0"/>
              <a:t>continued</a:t>
            </a:r>
          </a:p>
        </p:txBody>
      </p:sp>
      <p:sp>
        <p:nvSpPr>
          <p:cNvPr id="3" name="object 3"/>
          <p:cNvSpPr/>
          <p:nvPr/>
        </p:nvSpPr>
        <p:spPr>
          <a:xfrm>
            <a:off x="2374137" y="1009050"/>
            <a:ext cx="61913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383" y="0"/>
                </a:lnTo>
              </a:path>
            </a:pathLst>
          </a:custGeom>
          <a:ln w="49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1143000"/>
            <a:endParaRPr sz="22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31052" y="867950"/>
            <a:ext cx="6938169" cy="4810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 defTabSz="1143000"/>
            <a:r>
              <a:rPr sz="1563" spc="-6" dirty="0">
                <a:solidFill>
                  <a:prstClr val="black"/>
                </a:solidFill>
                <a:latin typeface="Arial"/>
                <a:cs typeface="Arial"/>
              </a:rPr>
              <a:t>We can substitute a subclass object whenever a superclass object is</a:t>
            </a:r>
            <a:r>
              <a:rPr sz="1563" spc="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563" spc="-6" dirty="0">
                <a:solidFill>
                  <a:prstClr val="black"/>
                </a:solidFill>
                <a:latin typeface="Arial"/>
                <a:cs typeface="Arial"/>
              </a:rPr>
              <a:t>expected:</a:t>
            </a:r>
            <a:endParaRPr sz="1563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02477" y="1569793"/>
            <a:ext cx="6966744" cy="791563"/>
          </a:xfrm>
          <a:prstGeom prst="rect">
            <a:avLst/>
          </a:prstGeom>
          <a:ln w="7054">
            <a:solidFill>
              <a:srgbClr val="CCCCCC"/>
            </a:solidFill>
          </a:ln>
        </p:spPr>
        <p:txBody>
          <a:bodyPr vert="horz" wrap="square" lIns="0" tIns="52388" rIns="0" bIns="0" rtlCol="0">
            <a:spAutoFit/>
          </a:bodyPr>
          <a:lstStyle/>
          <a:p>
            <a:pPr marL="55563" defTabSz="1143000">
              <a:spcBef>
                <a:spcPts val="413"/>
              </a:spcBef>
            </a:pPr>
            <a:r>
              <a:rPr sz="1600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ChoiceQuestion second = new</a:t>
            </a:r>
            <a:r>
              <a:rPr sz="1600" spc="19" dirty="0">
                <a:solidFill>
                  <a:prstClr val="black"/>
                </a:solidFill>
                <a:latin typeface="Courier" charset="0"/>
                <a:cs typeface="Courier" charset="0"/>
              </a:rPr>
              <a:t> </a:t>
            </a:r>
            <a:r>
              <a:rPr sz="1600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ChoiceQuestion();</a:t>
            </a:r>
            <a:endParaRPr sz="1600" dirty="0">
              <a:solidFill>
                <a:prstClr val="black"/>
              </a:solidFill>
              <a:latin typeface="Courier" charset="0"/>
              <a:cs typeface="Courier" charset="0"/>
            </a:endParaRPr>
          </a:p>
          <a:p>
            <a:pPr marL="55563" defTabSz="1143000"/>
            <a:r>
              <a:rPr sz="1600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. .</a:t>
            </a:r>
            <a:r>
              <a:rPr sz="1600" spc="-125" dirty="0">
                <a:solidFill>
                  <a:prstClr val="black"/>
                </a:solidFill>
                <a:latin typeface="Courier" charset="0"/>
                <a:cs typeface="Courier" charset="0"/>
              </a:rPr>
              <a:t> </a:t>
            </a:r>
            <a:r>
              <a:rPr sz="1600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.</a:t>
            </a:r>
            <a:endParaRPr sz="1600" dirty="0">
              <a:solidFill>
                <a:prstClr val="black"/>
              </a:solidFill>
              <a:latin typeface="Courier" charset="0"/>
              <a:cs typeface="Courier" charset="0"/>
            </a:endParaRPr>
          </a:p>
          <a:p>
            <a:pPr marL="55563" defTabSz="1143000"/>
            <a:r>
              <a:rPr sz="1600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presentQuestion(second); // OK to pass a</a:t>
            </a:r>
            <a:r>
              <a:rPr sz="1600" spc="44" dirty="0">
                <a:solidFill>
                  <a:prstClr val="black"/>
                </a:solidFill>
                <a:latin typeface="Courier" charset="0"/>
                <a:cs typeface="Courier" charset="0"/>
              </a:rPr>
              <a:t> </a:t>
            </a:r>
            <a:r>
              <a:rPr sz="1600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ChoiceQuestion</a:t>
            </a:r>
            <a:endParaRPr sz="1600" dirty="0">
              <a:solidFill>
                <a:prstClr val="black"/>
              </a:solidFill>
              <a:latin typeface="Courier" charset="0"/>
              <a:cs typeface="Courier" charset="0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640837" y="2574983"/>
            <a:ext cx="61913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383" y="0"/>
                </a:lnTo>
              </a:path>
            </a:pathLst>
          </a:custGeom>
          <a:ln w="49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1143000"/>
            <a:endParaRPr sz="22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53718" y="2472190"/>
            <a:ext cx="5114130" cy="7975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 defTabSz="1143000"/>
            <a:r>
              <a:rPr sz="1563" spc="-6" dirty="0">
                <a:solidFill>
                  <a:prstClr val="black"/>
                </a:solidFill>
                <a:latin typeface="Arial"/>
                <a:cs typeface="Arial"/>
              </a:rPr>
              <a:t>When the </a:t>
            </a:r>
            <a:r>
              <a:rPr sz="1563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presentQuestion</a:t>
            </a:r>
            <a:r>
              <a:rPr sz="1563" spc="-556" dirty="0">
                <a:solidFill>
                  <a:prstClr val="black"/>
                </a:solidFill>
                <a:latin typeface="Courier" charset="0"/>
                <a:cs typeface="Courier" charset="0"/>
              </a:rPr>
              <a:t> </a:t>
            </a:r>
            <a:r>
              <a:rPr sz="1563" spc="-6" dirty="0">
                <a:solidFill>
                  <a:prstClr val="black"/>
                </a:solidFill>
                <a:latin typeface="Arial"/>
                <a:cs typeface="Arial"/>
              </a:rPr>
              <a:t>method executes -</a:t>
            </a:r>
            <a:endParaRPr sz="1563" dirty="0">
              <a:solidFill>
                <a:prstClr val="black"/>
              </a:solidFill>
              <a:latin typeface="Arial"/>
              <a:cs typeface="Arial"/>
            </a:endParaRPr>
          </a:p>
          <a:p>
            <a:pPr marL="370681" marR="6350" defTabSz="1143000">
              <a:lnSpc>
                <a:spcPct val="136400"/>
              </a:lnSpc>
              <a:spcBef>
                <a:spcPts val="550"/>
              </a:spcBef>
            </a:pPr>
            <a:r>
              <a:rPr sz="1188" dirty="0">
                <a:solidFill>
                  <a:prstClr val="black"/>
                </a:solidFill>
                <a:latin typeface="Arial"/>
                <a:cs typeface="Arial"/>
              </a:rPr>
              <a:t>The</a:t>
            </a:r>
            <a:r>
              <a:rPr sz="1188" spc="-6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188" dirty="0">
                <a:solidFill>
                  <a:prstClr val="black"/>
                </a:solidFill>
                <a:latin typeface="Arial"/>
                <a:cs typeface="Arial"/>
              </a:rPr>
              <a:t>object</a:t>
            </a:r>
            <a:r>
              <a:rPr sz="1188" spc="-6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188" dirty="0">
                <a:solidFill>
                  <a:prstClr val="black"/>
                </a:solidFill>
                <a:latin typeface="Arial"/>
                <a:cs typeface="Arial"/>
              </a:rPr>
              <a:t>references</a:t>
            </a:r>
            <a:r>
              <a:rPr sz="1188" spc="-6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188" dirty="0">
                <a:solidFill>
                  <a:prstClr val="black"/>
                </a:solidFill>
                <a:latin typeface="Arial"/>
                <a:cs typeface="Arial"/>
              </a:rPr>
              <a:t>stored</a:t>
            </a:r>
            <a:r>
              <a:rPr sz="1188" spc="-6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188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1188" spc="-6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188" dirty="0">
                <a:solidFill>
                  <a:prstClr val="black"/>
                </a:solidFill>
                <a:latin typeface="Courier" charset="0"/>
                <a:cs typeface="Courier" charset="0"/>
              </a:rPr>
              <a:t>second</a:t>
            </a:r>
            <a:r>
              <a:rPr sz="1188" spc="-394" dirty="0">
                <a:solidFill>
                  <a:prstClr val="black"/>
                </a:solidFill>
                <a:latin typeface="Courier" charset="0"/>
                <a:cs typeface="Courier" charset="0"/>
              </a:rPr>
              <a:t> </a:t>
            </a:r>
            <a:r>
              <a:rPr sz="1188" dirty="0">
                <a:solidFill>
                  <a:prstClr val="black"/>
                </a:solidFill>
                <a:latin typeface="Arial"/>
                <a:cs typeface="Arial"/>
              </a:rPr>
              <a:t>and</a:t>
            </a:r>
            <a:r>
              <a:rPr sz="1188" spc="-6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188" dirty="0">
                <a:solidFill>
                  <a:prstClr val="black"/>
                </a:solidFill>
                <a:latin typeface="Courier" charset="0"/>
                <a:cs typeface="Courier" charset="0"/>
              </a:rPr>
              <a:t>q</a:t>
            </a:r>
            <a:r>
              <a:rPr sz="1188" spc="-394" dirty="0">
                <a:solidFill>
                  <a:prstClr val="black"/>
                </a:solidFill>
                <a:latin typeface="Courier" charset="0"/>
                <a:cs typeface="Courier" charset="0"/>
              </a:rPr>
              <a:t> </a:t>
            </a:r>
            <a:r>
              <a:rPr sz="1188" dirty="0">
                <a:solidFill>
                  <a:prstClr val="black"/>
                </a:solidFill>
                <a:latin typeface="Arial"/>
                <a:cs typeface="Arial"/>
              </a:rPr>
              <a:t>refer</a:t>
            </a:r>
            <a:r>
              <a:rPr sz="1188" spc="-6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188" dirty="0">
                <a:solidFill>
                  <a:prstClr val="black"/>
                </a:solidFill>
                <a:latin typeface="Arial"/>
                <a:cs typeface="Arial"/>
              </a:rPr>
              <a:t>to</a:t>
            </a:r>
            <a:r>
              <a:rPr sz="1188" spc="-6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188" dirty="0">
                <a:solidFill>
                  <a:prstClr val="black"/>
                </a:solidFill>
                <a:latin typeface="Arial"/>
                <a:cs typeface="Arial"/>
              </a:rPr>
              <a:t>the</a:t>
            </a:r>
            <a:r>
              <a:rPr sz="1188" spc="-6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188" dirty="0">
                <a:solidFill>
                  <a:prstClr val="black"/>
                </a:solidFill>
                <a:latin typeface="Arial"/>
                <a:cs typeface="Arial"/>
              </a:rPr>
              <a:t>same</a:t>
            </a:r>
            <a:r>
              <a:rPr sz="1188" spc="-6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188" dirty="0">
                <a:solidFill>
                  <a:prstClr val="black"/>
                </a:solidFill>
                <a:latin typeface="Arial"/>
                <a:cs typeface="Arial"/>
              </a:rPr>
              <a:t>object  The object is of type</a:t>
            </a:r>
            <a:r>
              <a:rPr sz="1188" spc="-1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188" dirty="0">
                <a:solidFill>
                  <a:prstClr val="black"/>
                </a:solidFill>
                <a:latin typeface="Courier" charset="0"/>
                <a:cs typeface="Courier" charset="0"/>
              </a:rPr>
              <a:t>ChoiceQuestion</a:t>
            </a:r>
          </a:p>
        </p:txBody>
      </p:sp>
      <p:sp>
        <p:nvSpPr>
          <p:cNvPr id="8" name="object 8"/>
          <p:cNvSpPr/>
          <p:nvPr/>
        </p:nvSpPr>
        <p:spPr>
          <a:xfrm>
            <a:off x="3045884" y="3666149"/>
            <a:ext cx="5150564" cy="199320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1143000"/>
            <a:endParaRPr sz="22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95189" y="5990050"/>
            <a:ext cx="5905500" cy="240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 defTabSz="1143000"/>
            <a:r>
              <a:rPr sz="1563" b="1" spc="-6" dirty="0">
                <a:solidFill>
                  <a:prstClr val="black"/>
                </a:solidFill>
                <a:latin typeface="Arial"/>
                <a:cs typeface="Arial"/>
              </a:rPr>
              <a:t>Figure 7 </a:t>
            </a:r>
            <a:r>
              <a:rPr sz="1563" spc="-6" dirty="0">
                <a:solidFill>
                  <a:prstClr val="black"/>
                </a:solidFill>
                <a:latin typeface="Arial"/>
                <a:cs typeface="Arial"/>
              </a:rPr>
              <a:t>Variables of Different Types Referring to the Same</a:t>
            </a:r>
            <a:r>
              <a:rPr sz="1563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563" spc="-6" dirty="0">
                <a:solidFill>
                  <a:prstClr val="black"/>
                </a:solidFill>
                <a:latin typeface="Arial"/>
                <a:cs typeface="Arial"/>
              </a:rPr>
              <a:t>Object</a:t>
            </a:r>
            <a:endParaRPr sz="1563">
              <a:solidFill>
                <a:prstClr val="black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p:transition spd="slow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/>
            <a:r>
              <a:rPr spc="142" dirty="0"/>
              <a:t>Polymorphism </a:t>
            </a:r>
            <a:r>
              <a:rPr spc="-138" dirty="0"/>
              <a:t>-</a:t>
            </a:r>
            <a:r>
              <a:rPr spc="-150" dirty="0"/>
              <a:t> </a:t>
            </a:r>
            <a:r>
              <a:rPr spc="100" dirty="0"/>
              <a:t>continued</a:t>
            </a:r>
          </a:p>
        </p:txBody>
      </p:sp>
      <p:sp>
        <p:nvSpPr>
          <p:cNvPr id="3" name="object 3"/>
          <p:cNvSpPr/>
          <p:nvPr/>
        </p:nvSpPr>
        <p:spPr>
          <a:xfrm>
            <a:off x="2374137" y="1018123"/>
            <a:ext cx="61913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383" y="0"/>
                </a:lnTo>
              </a:path>
            </a:pathLst>
          </a:custGeom>
          <a:ln w="49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1143000"/>
            <a:endParaRPr sz="22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31052" y="877023"/>
            <a:ext cx="6827044" cy="4810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 defTabSz="1143000"/>
            <a:r>
              <a:rPr sz="1563" spc="-6" dirty="0">
                <a:solidFill>
                  <a:prstClr val="black"/>
                </a:solidFill>
                <a:latin typeface="Arial"/>
                <a:cs typeface="Arial"/>
              </a:rPr>
              <a:t>The variable </a:t>
            </a:r>
            <a:r>
              <a:rPr sz="1563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q</a:t>
            </a:r>
            <a:r>
              <a:rPr sz="1563" spc="-444" dirty="0">
                <a:solidFill>
                  <a:prstClr val="black"/>
                </a:solidFill>
                <a:latin typeface="Courier" charset="0"/>
                <a:cs typeface="Courier" charset="0"/>
              </a:rPr>
              <a:t> </a:t>
            </a:r>
            <a:r>
              <a:rPr sz="1563" spc="-6" dirty="0">
                <a:solidFill>
                  <a:prstClr val="black"/>
                </a:solidFill>
                <a:latin typeface="Arial"/>
                <a:cs typeface="Arial"/>
              </a:rPr>
              <a:t>knows less than the full story about the object to which it refers</a:t>
            </a:r>
            <a:endParaRPr sz="1563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531052" y="1639185"/>
            <a:ext cx="5177011" cy="136701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1143000"/>
            <a:endParaRPr sz="22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259602" y="4592398"/>
            <a:ext cx="61913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383" y="0"/>
                </a:lnTo>
              </a:path>
            </a:pathLst>
          </a:custGeom>
          <a:ln w="49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1143000"/>
            <a:endParaRPr sz="22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31052" y="3429000"/>
            <a:ext cx="6762750" cy="10811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2725" marR="6350" defTabSz="1143000">
              <a:lnSpc>
                <a:spcPts val="1525"/>
              </a:lnSpc>
            </a:pPr>
            <a:r>
              <a:rPr sz="1563" b="1" spc="-6" dirty="0">
                <a:solidFill>
                  <a:prstClr val="black"/>
                </a:solidFill>
                <a:latin typeface="Arial"/>
                <a:cs typeface="Arial"/>
              </a:rPr>
              <a:t>Figure 8 </a:t>
            </a:r>
            <a:r>
              <a:rPr sz="1563" spc="-6" dirty="0">
                <a:solidFill>
                  <a:prstClr val="black"/>
                </a:solidFill>
                <a:latin typeface="Arial"/>
                <a:cs typeface="Arial"/>
              </a:rPr>
              <a:t>A Question Reference Can Refer to an Object of Any Subclass of  Question</a:t>
            </a:r>
            <a:endParaRPr sz="1563" dirty="0">
              <a:solidFill>
                <a:prstClr val="black"/>
              </a:solidFill>
              <a:latin typeface="Arial"/>
              <a:cs typeface="Arial"/>
            </a:endParaRPr>
          </a:p>
          <a:p>
            <a:pPr marL="15875" marR="631824" defTabSz="1143000">
              <a:lnSpc>
                <a:spcPct val="114799"/>
              </a:lnSpc>
              <a:spcBef>
                <a:spcPts val="1256"/>
              </a:spcBef>
            </a:pPr>
            <a:r>
              <a:rPr sz="1563" spc="-6" dirty="0">
                <a:solidFill>
                  <a:prstClr val="black"/>
                </a:solidFill>
                <a:latin typeface="Arial"/>
                <a:cs typeface="Arial"/>
              </a:rPr>
              <a:t>In the same way that vehicles can differ in their method of locomotion,  polymorphic objects carry out tasks in different</a:t>
            </a:r>
            <a:r>
              <a:rPr sz="1563" spc="6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563" spc="-6" dirty="0">
                <a:solidFill>
                  <a:prstClr val="black"/>
                </a:solidFill>
                <a:latin typeface="Arial"/>
                <a:cs typeface="Arial"/>
              </a:rPr>
              <a:t>ways.</a:t>
            </a:r>
            <a:endParaRPr sz="1563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436050" y="5024438"/>
            <a:ext cx="1225901" cy="122590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1143000"/>
            <a:endParaRPr sz="2250">
              <a:solidFill>
                <a:prstClr val="black"/>
              </a:solidFill>
              <a:latin typeface="Calibri"/>
            </a:endParaRPr>
          </a:p>
        </p:txBody>
      </p:sp>
    </p:spTree>
  </p:cSld>
  <p:clrMapOvr>
    <a:masterClrMapping/>
  </p:clrMapOvr>
  <p:transition spd="slow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/>
            <a:r>
              <a:rPr spc="142" dirty="0"/>
              <a:t>Polymorphism </a:t>
            </a:r>
            <a:r>
              <a:rPr spc="-138" dirty="0"/>
              <a:t>-</a:t>
            </a:r>
            <a:r>
              <a:rPr spc="-150" dirty="0"/>
              <a:t> </a:t>
            </a:r>
            <a:r>
              <a:rPr spc="100" dirty="0"/>
              <a:t>continued</a:t>
            </a:r>
          </a:p>
        </p:txBody>
      </p:sp>
      <p:sp>
        <p:nvSpPr>
          <p:cNvPr id="3" name="object 3"/>
          <p:cNvSpPr/>
          <p:nvPr/>
        </p:nvSpPr>
        <p:spPr>
          <a:xfrm>
            <a:off x="2374137" y="1007970"/>
            <a:ext cx="61913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383" y="0"/>
                </a:lnTo>
              </a:path>
            </a:pathLst>
          </a:custGeom>
          <a:ln w="49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1143000"/>
            <a:endParaRPr sz="22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74137" y="1898645"/>
            <a:ext cx="61913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383" y="0"/>
                </a:lnTo>
              </a:path>
            </a:pathLst>
          </a:custGeom>
          <a:ln w="49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1143000"/>
            <a:endParaRPr sz="22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374137" y="2498308"/>
            <a:ext cx="61913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383" y="0"/>
                </a:lnTo>
              </a:path>
            </a:pathLst>
          </a:custGeom>
          <a:ln w="49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1143000"/>
            <a:endParaRPr sz="22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374137" y="2815775"/>
            <a:ext cx="61913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383" y="0"/>
                </a:lnTo>
              </a:path>
            </a:pathLst>
          </a:custGeom>
          <a:ln w="49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1143000"/>
            <a:endParaRPr sz="22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374137" y="3415438"/>
            <a:ext cx="61913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383" y="0"/>
                </a:lnTo>
              </a:path>
            </a:pathLst>
          </a:custGeom>
          <a:ln w="49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1143000"/>
            <a:endParaRPr sz="22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31051" y="866870"/>
            <a:ext cx="6861175" cy="31652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 defTabSz="1143000"/>
            <a:r>
              <a:rPr sz="1563" spc="-6" dirty="0">
                <a:solidFill>
                  <a:prstClr val="black"/>
                </a:solidFill>
                <a:latin typeface="Arial"/>
                <a:cs typeface="Arial"/>
              </a:rPr>
              <a:t>When the virtual machine calls an instance method</a:t>
            </a:r>
            <a:r>
              <a:rPr sz="1563" spc="-13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563" spc="-6" dirty="0">
                <a:solidFill>
                  <a:prstClr val="black"/>
                </a:solidFill>
                <a:latin typeface="Arial"/>
                <a:cs typeface="Arial"/>
              </a:rPr>
              <a:t>-</a:t>
            </a:r>
            <a:endParaRPr sz="1563" dirty="0">
              <a:solidFill>
                <a:prstClr val="black"/>
              </a:solidFill>
              <a:latin typeface="Arial"/>
              <a:cs typeface="Arial"/>
            </a:endParaRPr>
          </a:p>
          <a:p>
            <a:pPr marL="370681" marR="2886869" defTabSz="1143000">
              <a:lnSpc>
                <a:spcPct val="131600"/>
              </a:lnSpc>
              <a:spcBef>
                <a:spcPts val="480"/>
              </a:spcBef>
            </a:pPr>
            <a:r>
              <a:rPr sz="1188" dirty="0">
                <a:solidFill>
                  <a:prstClr val="black"/>
                </a:solidFill>
                <a:latin typeface="Arial"/>
                <a:cs typeface="Arial"/>
              </a:rPr>
              <a:t>It locates the method of the implicit parameter’s</a:t>
            </a:r>
            <a:r>
              <a:rPr sz="1188" spc="-106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188" dirty="0">
                <a:solidFill>
                  <a:prstClr val="black"/>
                </a:solidFill>
                <a:latin typeface="Arial"/>
                <a:cs typeface="Arial"/>
              </a:rPr>
              <a:t>class.  This is called dynamic method</a:t>
            </a:r>
            <a:r>
              <a:rPr sz="1188" spc="-1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188" dirty="0">
                <a:solidFill>
                  <a:prstClr val="black"/>
                </a:solidFill>
                <a:latin typeface="Arial"/>
                <a:cs typeface="Arial"/>
              </a:rPr>
              <a:t>lookup</a:t>
            </a:r>
          </a:p>
          <a:p>
            <a:pPr marL="15875" marR="423069" defTabSz="1143000">
              <a:lnSpc>
                <a:spcPct val="114799"/>
              </a:lnSpc>
              <a:spcBef>
                <a:spcPts val="631"/>
              </a:spcBef>
            </a:pPr>
            <a:r>
              <a:rPr sz="1563" spc="-6" dirty="0">
                <a:solidFill>
                  <a:prstClr val="black"/>
                </a:solidFill>
                <a:latin typeface="Arial"/>
                <a:cs typeface="Arial"/>
              </a:rPr>
              <a:t>Dynamic method lookup allows us to treat objects of different classes in a  uniform</a:t>
            </a:r>
            <a:r>
              <a:rPr sz="1563" spc="-106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563" spc="-6" dirty="0">
                <a:solidFill>
                  <a:prstClr val="black"/>
                </a:solidFill>
                <a:latin typeface="Arial"/>
                <a:cs typeface="Arial"/>
              </a:rPr>
              <a:t>way.</a:t>
            </a:r>
            <a:endParaRPr sz="1563" dirty="0">
              <a:solidFill>
                <a:prstClr val="black"/>
              </a:solidFill>
              <a:latin typeface="Arial"/>
              <a:cs typeface="Arial"/>
            </a:endParaRPr>
          </a:p>
          <a:p>
            <a:pPr marL="15875" defTabSz="1143000">
              <a:spcBef>
                <a:spcPts val="694"/>
              </a:spcBef>
            </a:pPr>
            <a:r>
              <a:rPr sz="1563" spc="-6" dirty="0">
                <a:solidFill>
                  <a:prstClr val="black"/>
                </a:solidFill>
                <a:latin typeface="Arial"/>
                <a:cs typeface="Arial"/>
              </a:rPr>
              <a:t>This feature is called</a:t>
            </a:r>
            <a:r>
              <a:rPr sz="1563" spc="-38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563" spc="-6" dirty="0">
                <a:solidFill>
                  <a:prstClr val="black"/>
                </a:solidFill>
                <a:latin typeface="Arial"/>
                <a:cs typeface="Arial"/>
              </a:rPr>
              <a:t>polymorphism.</a:t>
            </a:r>
            <a:endParaRPr sz="1563" dirty="0">
              <a:solidFill>
                <a:prstClr val="black"/>
              </a:solidFill>
              <a:latin typeface="Arial"/>
              <a:cs typeface="Arial"/>
            </a:endParaRPr>
          </a:p>
          <a:p>
            <a:pPr marL="15875" marR="6350" defTabSz="1143000">
              <a:lnSpc>
                <a:spcPct val="114799"/>
              </a:lnSpc>
              <a:spcBef>
                <a:spcPts val="344"/>
              </a:spcBef>
            </a:pPr>
            <a:r>
              <a:rPr sz="1563" spc="-6" dirty="0">
                <a:solidFill>
                  <a:prstClr val="black"/>
                </a:solidFill>
                <a:latin typeface="Arial"/>
                <a:cs typeface="Arial"/>
              </a:rPr>
              <a:t>We ask multiple objects to carry out a task, and each object does so in its own  way.</a:t>
            </a:r>
            <a:endParaRPr sz="1563" dirty="0">
              <a:solidFill>
                <a:prstClr val="black"/>
              </a:solidFill>
              <a:latin typeface="Arial"/>
              <a:cs typeface="Arial"/>
            </a:endParaRPr>
          </a:p>
          <a:p>
            <a:pPr marL="15875" defTabSz="1143000">
              <a:spcBef>
                <a:spcPts val="694"/>
              </a:spcBef>
            </a:pPr>
            <a:r>
              <a:rPr sz="1563" spc="-6" dirty="0">
                <a:solidFill>
                  <a:prstClr val="black"/>
                </a:solidFill>
                <a:latin typeface="Arial"/>
                <a:cs typeface="Arial"/>
              </a:rPr>
              <a:t>Polymorphism means “having multiple</a:t>
            </a:r>
            <a:r>
              <a:rPr sz="1563" spc="-3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563" spc="-6" dirty="0">
                <a:solidFill>
                  <a:prstClr val="black"/>
                </a:solidFill>
                <a:latin typeface="Arial"/>
                <a:cs typeface="Arial"/>
              </a:rPr>
              <a:t>forms”</a:t>
            </a:r>
            <a:endParaRPr sz="1563" dirty="0">
              <a:solidFill>
                <a:prstClr val="black"/>
              </a:solidFill>
              <a:latin typeface="Arial"/>
              <a:cs typeface="Arial"/>
            </a:endParaRPr>
          </a:p>
          <a:p>
            <a:pPr marL="370681" marR="140494" defTabSz="1143000">
              <a:lnSpc>
                <a:spcPct val="112100"/>
              </a:lnSpc>
              <a:spcBef>
                <a:spcPts val="756"/>
              </a:spcBef>
            </a:pPr>
            <a:r>
              <a:rPr sz="1188" dirty="0">
                <a:solidFill>
                  <a:prstClr val="black"/>
                </a:solidFill>
                <a:latin typeface="Arial"/>
                <a:cs typeface="Arial"/>
              </a:rPr>
              <a:t>It allows us to manipulate objects that share a set of tasks, even though the tasks are</a:t>
            </a:r>
            <a:r>
              <a:rPr sz="1188" spc="-63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188" dirty="0">
                <a:solidFill>
                  <a:prstClr val="black"/>
                </a:solidFill>
                <a:latin typeface="Arial"/>
                <a:cs typeface="Arial"/>
              </a:rPr>
              <a:t>executed  in different</a:t>
            </a:r>
            <a:r>
              <a:rPr sz="1188" spc="-119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188" dirty="0">
                <a:solidFill>
                  <a:prstClr val="black"/>
                </a:solidFill>
                <a:latin typeface="Arial"/>
                <a:cs typeface="Arial"/>
              </a:rPr>
              <a:t>ways.</a:t>
            </a:r>
          </a:p>
        </p:txBody>
      </p:sp>
    </p:spTree>
  </p:cSld>
  <p:clrMapOvr>
    <a:masterClrMapping/>
  </p:clrMapOvr>
  <p:transition spd="slow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/>
            <a:r>
              <a:rPr spc="106" dirty="0"/>
              <a:t>section_4/</a:t>
            </a:r>
            <a:r>
              <a:rPr spc="106" dirty="0">
                <a:solidFill>
                  <a:srgbClr val="000080"/>
                </a:solidFill>
                <a:hlinkClick r:id="rId2"/>
              </a:rPr>
              <a:t>QuestionDemo3.java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062002" y="2705612"/>
            <a:ext cx="4572794" cy="7710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 defTabSz="1143000">
              <a:lnSpc>
                <a:spcPts val="1044"/>
              </a:lnSpc>
            </a:pP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ChoiceQuestion second = </a:t>
            </a:r>
            <a:r>
              <a:rPr sz="875" spc="13" dirty="0">
                <a:solidFill>
                  <a:srgbClr val="CC0066"/>
                </a:solidFill>
                <a:latin typeface="Courier New"/>
                <a:cs typeface="Courier New"/>
              </a:rPr>
              <a:t>new</a:t>
            </a:r>
            <a:r>
              <a:rPr sz="875" spc="50" dirty="0">
                <a:solidFill>
                  <a:srgbClr val="CC0066"/>
                </a:solidFill>
                <a:latin typeface="Courier New"/>
                <a:cs typeface="Courier New"/>
              </a:rPr>
              <a:t> </a:t>
            </a: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ChoiceQuestion();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75" marR="6350" defTabSz="1143000">
              <a:lnSpc>
                <a:spcPts val="1038"/>
              </a:lnSpc>
              <a:spcBef>
                <a:spcPts val="38"/>
              </a:spcBef>
            </a:pP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second.setText(</a:t>
            </a:r>
            <a:r>
              <a:rPr sz="875" spc="13" dirty="0">
                <a:solidFill>
                  <a:srgbClr val="1F9060"/>
                </a:solidFill>
                <a:latin typeface="Courier New"/>
                <a:cs typeface="Courier New"/>
              </a:rPr>
              <a:t>"In which country was the inventor of Java born?"</a:t>
            </a: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);  second.addChoice(</a:t>
            </a:r>
            <a:r>
              <a:rPr sz="875" spc="13" dirty="0">
                <a:solidFill>
                  <a:srgbClr val="1F9060"/>
                </a:solidFill>
                <a:latin typeface="Courier New"/>
                <a:cs typeface="Courier New"/>
              </a:rPr>
              <a:t>"Australia"</a:t>
            </a: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875" spc="19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875" spc="13" dirty="0">
                <a:solidFill>
                  <a:srgbClr val="66FF18"/>
                </a:solidFill>
                <a:latin typeface="Courier New"/>
                <a:cs typeface="Courier New"/>
              </a:rPr>
              <a:t>false</a:t>
            </a: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);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75" marR="1725613" defTabSz="1143000">
              <a:lnSpc>
                <a:spcPts val="1038"/>
              </a:lnSpc>
            </a:pP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second.addChoice(</a:t>
            </a:r>
            <a:r>
              <a:rPr sz="875" spc="13" dirty="0">
                <a:solidFill>
                  <a:srgbClr val="1F9060"/>
                </a:solidFill>
                <a:latin typeface="Courier New"/>
                <a:cs typeface="Courier New"/>
              </a:rPr>
              <a:t>"Canada"</a:t>
            </a: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, </a:t>
            </a:r>
            <a:r>
              <a:rPr sz="875" spc="13" dirty="0">
                <a:solidFill>
                  <a:srgbClr val="66FF18"/>
                </a:solidFill>
                <a:latin typeface="Courier New"/>
                <a:cs typeface="Courier New"/>
              </a:rPr>
              <a:t>true</a:t>
            </a: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);  second.addChoice(</a:t>
            </a:r>
            <a:r>
              <a:rPr sz="875" spc="13" dirty="0">
                <a:solidFill>
                  <a:srgbClr val="1F9060"/>
                </a:solidFill>
                <a:latin typeface="Courier New"/>
                <a:cs typeface="Courier New"/>
              </a:rPr>
              <a:t>"Denmark"</a:t>
            </a: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, </a:t>
            </a:r>
            <a:r>
              <a:rPr sz="875" spc="13" dirty="0">
                <a:solidFill>
                  <a:srgbClr val="66FF18"/>
                </a:solidFill>
                <a:latin typeface="Courier New"/>
                <a:cs typeface="Courier New"/>
              </a:rPr>
              <a:t>false</a:t>
            </a: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);  second.addChoice(</a:t>
            </a:r>
            <a:r>
              <a:rPr sz="875" spc="13" dirty="0">
                <a:solidFill>
                  <a:srgbClr val="1F9060"/>
                </a:solidFill>
                <a:latin typeface="Courier New"/>
                <a:cs typeface="Courier New"/>
              </a:rPr>
              <a:t>"United States"</a:t>
            </a: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875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875" spc="13" dirty="0">
                <a:solidFill>
                  <a:srgbClr val="66FF18"/>
                </a:solidFill>
                <a:latin typeface="Courier New"/>
                <a:cs typeface="Courier New"/>
              </a:rPr>
              <a:t>false</a:t>
            </a: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);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62002" y="3631562"/>
            <a:ext cx="1683544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 marR="6350" defTabSz="1143000"/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presentQuestion(first);  presentQuestion(second);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55708" y="3896119"/>
            <a:ext cx="100806" cy="1346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 defTabSz="1143000"/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74191" y="959536"/>
            <a:ext cx="3952875" cy="4579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4138" defTabSz="1143000">
              <a:lnSpc>
                <a:spcPts val="1044"/>
              </a:lnSpc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1  </a:t>
            </a:r>
            <a:r>
              <a:rPr sz="875" spc="13" dirty="0">
                <a:solidFill>
                  <a:srgbClr val="CC0066"/>
                </a:solidFill>
                <a:latin typeface="Courier New"/>
                <a:cs typeface="Courier New"/>
              </a:rPr>
              <a:t>import</a:t>
            </a:r>
            <a:r>
              <a:rPr sz="875" spc="-6" dirty="0">
                <a:solidFill>
                  <a:srgbClr val="CC0066"/>
                </a:solidFill>
                <a:latin typeface="Courier New"/>
                <a:cs typeface="Courier New"/>
              </a:rPr>
              <a:t> </a:t>
            </a: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java.util.Scanner;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84138" defTabSz="1143000">
              <a:lnSpc>
                <a:spcPts val="1044"/>
              </a:lnSpc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2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84138" defTabSz="1143000">
              <a:lnSpc>
                <a:spcPts val="1019"/>
              </a:lnSpc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3</a:t>
            </a:r>
            <a:r>
              <a:rPr sz="875" b="1" spc="444" dirty="0">
                <a:solidFill>
                  <a:srgbClr val="0073FF"/>
                </a:solidFill>
                <a:latin typeface="Courier New"/>
                <a:cs typeface="Courier New"/>
              </a:rPr>
              <a:t> </a:t>
            </a: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/**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84138" defTabSz="1143000">
              <a:lnSpc>
                <a:spcPts val="1243"/>
              </a:lnSpc>
              <a:tabLst>
                <a:tab pos="496888" algn="l"/>
              </a:tabLst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4	</a:t>
            </a:r>
            <a:r>
              <a:rPr sz="1063" spc="19" dirty="0">
                <a:solidFill>
                  <a:srgbClr val="0073FF"/>
                </a:solidFill>
                <a:latin typeface="Times New Roman"/>
                <a:cs typeface="Times New Roman"/>
              </a:rPr>
              <a:t>This program shows a simple quiz with two question</a:t>
            </a:r>
            <a:r>
              <a:rPr sz="1063" spc="-75" dirty="0">
                <a:solidFill>
                  <a:srgbClr val="0073FF"/>
                </a:solidFill>
                <a:latin typeface="Times New Roman"/>
                <a:cs typeface="Times New Roman"/>
              </a:rPr>
              <a:t> </a:t>
            </a:r>
            <a:r>
              <a:rPr sz="1063" spc="19" dirty="0">
                <a:solidFill>
                  <a:srgbClr val="0073FF"/>
                </a:solidFill>
                <a:latin typeface="Times New Roman"/>
                <a:cs typeface="Times New Roman"/>
              </a:rPr>
              <a:t>types.</a:t>
            </a:r>
            <a:endParaRPr sz="1063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84138" defTabSz="1143000">
              <a:lnSpc>
                <a:spcPts val="1044"/>
              </a:lnSpc>
              <a:spcBef>
                <a:spcPts val="19"/>
              </a:spcBef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5</a:t>
            </a:r>
            <a:r>
              <a:rPr sz="875" b="1" spc="444" dirty="0">
                <a:solidFill>
                  <a:srgbClr val="0073FF"/>
                </a:solidFill>
                <a:latin typeface="Courier New"/>
                <a:cs typeface="Courier New"/>
              </a:rPr>
              <a:t> </a:t>
            </a: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*/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84138" defTabSz="1143000">
              <a:lnSpc>
                <a:spcPts val="1044"/>
              </a:lnSpc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6  </a:t>
            </a:r>
            <a:r>
              <a:rPr sz="875" spc="13" dirty="0">
                <a:solidFill>
                  <a:srgbClr val="CC0066"/>
                </a:solidFill>
                <a:latin typeface="Courier New"/>
                <a:cs typeface="Courier New"/>
              </a:rPr>
              <a:t>public class</a:t>
            </a:r>
            <a:r>
              <a:rPr sz="875" spc="-6" dirty="0">
                <a:solidFill>
                  <a:srgbClr val="CC0066"/>
                </a:solidFill>
                <a:latin typeface="Courier New"/>
                <a:cs typeface="Courier New"/>
              </a:rPr>
              <a:t> </a:t>
            </a: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QuestionDemo3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84138" defTabSz="1143000">
              <a:lnSpc>
                <a:spcPts val="1044"/>
              </a:lnSpc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7</a:t>
            </a:r>
            <a:r>
              <a:rPr sz="875" b="1" spc="438" dirty="0">
                <a:solidFill>
                  <a:srgbClr val="0073FF"/>
                </a:solidFill>
                <a:latin typeface="Courier New"/>
                <a:cs typeface="Courier New"/>
              </a:rPr>
              <a:t> </a:t>
            </a: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84138" defTabSz="1143000">
              <a:lnSpc>
                <a:spcPts val="1044"/>
              </a:lnSpc>
              <a:tabLst>
                <a:tab pos="496888" algn="l"/>
              </a:tabLst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8	</a:t>
            </a:r>
            <a:r>
              <a:rPr sz="875" spc="13" dirty="0">
                <a:solidFill>
                  <a:srgbClr val="CC0066"/>
                </a:solidFill>
                <a:latin typeface="Courier New"/>
                <a:cs typeface="Courier New"/>
              </a:rPr>
              <a:t>public static void </a:t>
            </a: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main(String[]</a:t>
            </a:r>
            <a:r>
              <a:rPr sz="875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args)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84138" defTabSz="1143000">
              <a:lnSpc>
                <a:spcPts val="1044"/>
              </a:lnSpc>
              <a:tabLst>
                <a:tab pos="496888" algn="l"/>
              </a:tabLst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9	</a:t>
            </a: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703263" indent="-687388" defTabSz="1143000">
              <a:lnSpc>
                <a:spcPts val="1044"/>
              </a:lnSpc>
              <a:buClr>
                <a:srgbClr val="0073FF"/>
              </a:buClr>
              <a:buFont typeface="Courier New"/>
              <a:buAutoNum type="arabicPlain" startAt="10"/>
              <a:tabLst>
                <a:tab pos="704056" algn="l"/>
              </a:tabLst>
            </a:pP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Question first = </a:t>
            </a:r>
            <a:r>
              <a:rPr sz="875" spc="13" dirty="0">
                <a:solidFill>
                  <a:srgbClr val="CC0066"/>
                </a:solidFill>
                <a:latin typeface="Courier New"/>
                <a:cs typeface="Courier New"/>
              </a:rPr>
              <a:t>new</a:t>
            </a:r>
            <a:r>
              <a:rPr sz="875" dirty="0">
                <a:solidFill>
                  <a:srgbClr val="CC0066"/>
                </a:solidFill>
                <a:latin typeface="Courier New"/>
                <a:cs typeface="Courier New"/>
              </a:rPr>
              <a:t> </a:t>
            </a: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Question();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703263" indent="-687388" defTabSz="1143000">
              <a:lnSpc>
                <a:spcPts val="1044"/>
              </a:lnSpc>
              <a:buClr>
                <a:srgbClr val="0073FF"/>
              </a:buClr>
              <a:buFont typeface="Courier New"/>
              <a:buAutoNum type="arabicPlain" startAt="10"/>
              <a:tabLst>
                <a:tab pos="704056" algn="l"/>
              </a:tabLst>
            </a:pP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first.setText(</a:t>
            </a:r>
            <a:r>
              <a:rPr sz="875" spc="13" dirty="0">
                <a:solidFill>
                  <a:srgbClr val="1F9060"/>
                </a:solidFill>
                <a:latin typeface="Courier New"/>
                <a:cs typeface="Courier New"/>
              </a:rPr>
              <a:t>"Who was the inventor of</a:t>
            </a:r>
            <a:r>
              <a:rPr sz="875" spc="44" dirty="0">
                <a:solidFill>
                  <a:srgbClr val="1F9060"/>
                </a:solidFill>
                <a:latin typeface="Courier New"/>
                <a:cs typeface="Courier New"/>
              </a:rPr>
              <a:t> </a:t>
            </a:r>
            <a:r>
              <a:rPr sz="875" spc="13" dirty="0">
                <a:solidFill>
                  <a:srgbClr val="1F9060"/>
                </a:solidFill>
                <a:latin typeface="Courier New"/>
                <a:cs typeface="Courier New"/>
              </a:rPr>
              <a:t>Java?"</a:t>
            </a: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);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703263" indent="-687388" defTabSz="1143000">
              <a:lnSpc>
                <a:spcPts val="1044"/>
              </a:lnSpc>
              <a:buClr>
                <a:srgbClr val="0073FF"/>
              </a:buClr>
              <a:buFont typeface="Courier New"/>
              <a:buAutoNum type="arabicPlain" startAt="10"/>
              <a:tabLst>
                <a:tab pos="704056" algn="l"/>
              </a:tabLst>
            </a:pP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first.setAnswer(</a:t>
            </a:r>
            <a:r>
              <a:rPr sz="875" spc="13" dirty="0">
                <a:solidFill>
                  <a:srgbClr val="1F9060"/>
                </a:solidFill>
                <a:latin typeface="Courier New"/>
                <a:cs typeface="Courier New"/>
              </a:rPr>
              <a:t>"James</a:t>
            </a:r>
            <a:r>
              <a:rPr sz="875" spc="6" dirty="0">
                <a:solidFill>
                  <a:srgbClr val="1F9060"/>
                </a:solidFill>
                <a:latin typeface="Courier New"/>
                <a:cs typeface="Courier New"/>
              </a:rPr>
              <a:t> </a:t>
            </a:r>
            <a:r>
              <a:rPr sz="875" spc="13" dirty="0">
                <a:solidFill>
                  <a:srgbClr val="1F9060"/>
                </a:solidFill>
                <a:latin typeface="Courier New"/>
                <a:cs typeface="Courier New"/>
              </a:rPr>
              <a:t>Gosling"</a:t>
            </a: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);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75" defTabSz="1143000">
              <a:lnSpc>
                <a:spcPts val="1044"/>
              </a:lnSpc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13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75" defTabSz="1143000">
              <a:lnSpc>
                <a:spcPts val="1044"/>
              </a:lnSpc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14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75" defTabSz="1143000">
              <a:lnSpc>
                <a:spcPts val="1044"/>
              </a:lnSpc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15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75" defTabSz="1143000">
              <a:lnSpc>
                <a:spcPts val="1044"/>
              </a:lnSpc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16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75" defTabSz="1143000">
              <a:lnSpc>
                <a:spcPts val="1044"/>
              </a:lnSpc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17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75" defTabSz="1143000">
              <a:lnSpc>
                <a:spcPts val="1044"/>
              </a:lnSpc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18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75" defTabSz="1143000">
              <a:lnSpc>
                <a:spcPts val="1044"/>
              </a:lnSpc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19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75" defTabSz="1143000">
              <a:lnSpc>
                <a:spcPts val="1044"/>
              </a:lnSpc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20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75" defTabSz="1143000">
              <a:lnSpc>
                <a:spcPts val="1044"/>
              </a:lnSpc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21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75" defTabSz="1143000">
              <a:lnSpc>
                <a:spcPts val="1044"/>
              </a:lnSpc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22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75" defTabSz="1143000">
              <a:lnSpc>
                <a:spcPts val="1044"/>
              </a:lnSpc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23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75" defTabSz="1143000">
              <a:lnSpc>
                <a:spcPts val="1044"/>
              </a:lnSpc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24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75" defTabSz="1143000">
              <a:lnSpc>
                <a:spcPts val="1044"/>
              </a:lnSpc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25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75" defTabSz="1143000">
              <a:spcBef>
                <a:spcPts val="131"/>
              </a:spcBef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26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75" defTabSz="1143000">
              <a:spcBef>
                <a:spcPts val="200"/>
              </a:spcBef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27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75" defTabSz="1143000">
              <a:lnSpc>
                <a:spcPts val="1044"/>
              </a:lnSpc>
              <a:spcBef>
                <a:spcPts val="56"/>
              </a:spcBef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28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75" defTabSz="1143000">
              <a:lnSpc>
                <a:spcPts val="1044"/>
              </a:lnSpc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29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75" defTabSz="1143000">
              <a:lnSpc>
                <a:spcPts val="1044"/>
              </a:lnSpc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30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75" defTabSz="1143000">
              <a:lnSpc>
                <a:spcPts val="1044"/>
              </a:lnSpc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31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75" defTabSz="1143000">
              <a:lnSpc>
                <a:spcPts val="1044"/>
              </a:lnSpc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32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75" defTabSz="1143000">
              <a:lnSpc>
                <a:spcPts val="1044"/>
              </a:lnSpc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33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75" defTabSz="1143000">
              <a:lnSpc>
                <a:spcPts val="1044"/>
              </a:lnSpc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34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75" defTabSz="1143000">
              <a:lnSpc>
                <a:spcPts val="1044"/>
              </a:lnSpc>
            </a:pPr>
            <a:r>
              <a:rPr sz="875" b="1" spc="13" dirty="0">
                <a:solidFill>
                  <a:srgbClr val="0073FF"/>
                </a:solidFill>
                <a:latin typeface="Courier New"/>
                <a:cs typeface="Courier New"/>
              </a:rPr>
              <a:t>35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55591" y="4160675"/>
            <a:ext cx="3373438" cy="14763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 defTabSz="1143000">
              <a:lnSpc>
                <a:spcPts val="1019"/>
              </a:lnSpc>
            </a:pP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/**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222250" defTabSz="1143000">
              <a:lnSpc>
                <a:spcPts val="1231"/>
              </a:lnSpc>
            </a:pPr>
            <a:r>
              <a:rPr sz="1063" spc="19" dirty="0">
                <a:solidFill>
                  <a:srgbClr val="0073FF"/>
                </a:solidFill>
                <a:latin typeface="Times New Roman"/>
                <a:cs typeface="Times New Roman"/>
              </a:rPr>
              <a:t>Presents a question to the user and checks the</a:t>
            </a:r>
            <a:r>
              <a:rPr sz="1063" spc="-138" dirty="0">
                <a:solidFill>
                  <a:srgbClr val="0073FF"/>
                </a:solidFill>
                <a:latin typeface="Times New Roman"/>
                <a:cs typeface="Times New Roman"/>
              </a:rPr>
              <a:t> </a:t>
            </a:r>
            <a:r>
              <a:rPr sz="1063" spc="19" dirty="0">
                <a:solidFill>
                  <a:srgbClr val="0073FF"/>
                </a:solidFill>
                <a:latin typeface="Times New Roman"/>
                <a:cs typeface="Times New Roman"/>
              </a:rPr>
              <a:t>response.</a:t>
            </a:r>
            <a:endParaRPr sz="1063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222250" defTabSz="1143000">
              <a:lnSpc>
                <a:spcPts val="1263"/>
              </a:lnSpc>
            </a:pP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@param q</a:t>
            </a:r>
            <a:r>
              <a:rPr sz="875" spc="-344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063" spc="19" dirty="0">
                <a:solidFill>
                  <a:srgbClr val="0073FF"/>
                </a:solidFill>
                <a:latin typeface="Times New Roman"/>
                <a:cs typeface="Times New Roman"/>
              </a:rPr>
              <a:t>the question</a:t>
            </a:r>
            <a:endParaRPr sz="1063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5875" defTabSz="1143000">
              <a:lnSpc>
                <a:spcPts val="1044"/>
              </a:lnSpc>
              <a:spcBef>
                <a:spcPts val="19"/>
              </a:spcBef>
            </a:pP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*/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75" defTabSz="1143000">
              <a:lnSpc>
                <a:spcPts val="1044"/>
              </a:lnSpc>
            </a:pPr>
            <a:r>
              <a:rPr sz="875" spc="13" dirty="0">
                <a:solidFill>
                  <a:srgbClr val="CC0066"/>
                </a:solidFill>
                <a:latin typeface="Courier New"/>
                <a:cs typeface="Courier New"/>
              </a:rPr>
              <a:t>public static void </a:t>
            </a: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presentQuestion(Question</a:t>
            </a:r>
            <a:r>
              <a:rPr sz="875" spc="56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q)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75" defTabSz="1143000">
              <a:lnSpc>
                <a:spcPts val="1044"/>
              </a:lnSpc>
            </a:pP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222250" marR="801688" defTabSz="1143000">
              <a:lnSpc>
                <a:spcPts val="1038"/>
              </a:lnSpc>
              <a:spcBef>
                <a:spcPts val="38"/>
              </a:spcBef>
            </a:pP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q.display();  System.out.print(</a:t>
            </a:r>
            <a:r>
              <a:rPr sz="875" spc="13" dirty="0">
                <a:solidFill>
                  <a:srgbClr val="1F9060"/>
                </a:solidFill>
                <a:latin typeface="Courier New"/>
                <a:cs typeface="Courier New"/>
              </a:rPr>
              <a:t>"Your answer:</a:t>
            </a:r>
            <a:r>
              <a:rPr sz="875" spc="6" dirty="0">
                <a:solidFill>
                  <a:srgbClr val="1F9060"/>
                </a:solidFill>
                <a:latin typeface="Courier New"/>
                <a:cs typeface="Courier New"/>
              </a:rPr>
              <a:t> </a:t>
            </a:r>
            <a:r>
              <a:rPr sz="875" spc="13" dirty="0">
                <a:solidFill>
                  <a:srgbClr val="1F9060"/>
                </a:solidFill>
                <a:latin typeface="Courier New"/>
                <a:cs typeface="Courier New"/>
              </a:rPr>
              <a:t>"</a:t>
            </a: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);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222250" marR="664369" defTabSz="1143000">
              <a:lnSpc>
                <a:spcPts val="1038"/>
              </a:lnSpc>
            </a:pP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Scanner in = </a:t>
            </a:r>
            <a:r>
              <a:rPr sz="875" spc="13" dirty="0">
                <a:solidFill>
                  <a:srgbClr val="CC0066"/>
                </a:solidFill>
                <a:latin typeface="Courier New"/>
                <a:cs typeface="Courier New"/>
              </a:rPr>
              <a:t>new </a:t>
            </a: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Scanner(System.in);  String response =</a:t>
            </a:r>
            <a:r>
              <a:rPr sz="875" spc="6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in.nextLine();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222250" defTabSz="1143000">
              <a:lnSpc>
                <a:spcPts val="1006"/>
              </a:lnSpc>
            </a:pPr>
            <a:r>
              <a:rPr sz="875" spc="13" dirty="0">
                <a:solidFill>
                  <a:prstClr val="black"/>
                </a:solidFill>
                <a:latin typeface="Courier New"/>
                <a:cs typeface="Courier New"/>
              </a:rPr>
              <a:t>System.out.println(q.checkAnswer(response));</a:t>
            </a:r>
            <a:endParaRPr sz="875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800162" y="894291"/>
            <a:ext cx="141111" cy="48506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1143000"/>
            <a:endParaRPr sz="22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791350" y="894290"/>
            <a:ext cx="149935" cy="44890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1143000"/>
            <a:endParaRPr sz="2250">
              <a:solidFill>
                <a:prstClr val="black"/>
              </a:solidFill>
              <a:latin typeface="Calibri"/>
            </a:endParaRPr>
          </a:p>
        </p:txBody>
      </p:sp>
    </p:spTree>
  </p:cSld>
  <p:clrMapOvr>
    <a:masterClrMapping/>
  </p:clrMapOvr>
  <p:transition spd="slow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337049" y="1933448"/>
            <a:ext cx="6966744" cy="1025524"/>
          </a:xfrm>
          <a:custGeom>
            <a:avLst/>
            <a:gdLst/>
            <a:ahLst/>
            <a:cxnLst/>
            <a:rect l="l" t="t" r="r" b="b"/>
            <a:pathLst>
              <a:path w="5573395" h="820419">
                <a:moveTo>
                  <a:pt x="5573331" y="0"/>
                </a:moveTo>
                <a:lnTo>
                  <a:pt x="5573331" y="820291"/>
                </a:lnTo>
                <a:lnTo>
                  <a:pt x="0" y="820291"/>
                </a:lnTo>
                <a:lnTo>
                  <a:pt x="0" y="0"/>
                </a:lnTo>
              </a:path>
            </a:pathLst>
          </a:custGeom>
          <a:ln w="7054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pPr defTabSz="1143000"/>
            <a:endParaRPr sz="22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81251" y="1905000"/>
            <a:ext cx="3388519" cy="976197"/>
          </a:xfrm>
          <a:prstGeom prst="rect">
            <a:avLst/>
          </a:prstGeom>
        </p:spPr>
        <p:txBody>
          <a:bodyPr vert="horz" wrap="square" lIns="0" tIns="13494" rIns="0" bIns="0" rtlCol="0">
            <a:spAutoFit/>
          </a:bodyPr>
          <a:lstStyle/>
          <a:p>
            <a:pPr marL="15875" marR="6350" defTabSz="1143000">
              <a:lnSpc>
                <a:spcPts val="1038"/>
              </a:lnSpc>
              <a:spcBef>
                <a:spcPts val="106"/>
              </a:spcBef>
            </a:pPr>
            <a:r>
              <a:rPr sz="938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In which country was the inventor of Java born?  1:</a:t>
            </a:r>
            <a:r>
              <a:rPr sz="938" spc="-94" dirty="0">
                <a:solidFill>
                  <a:prstClr val="black"/>
                </a:solidFill>
                <a:latin typeface="Courier" charset="0"/>
                <a:cs typeface="Courier" charset="0"/>
              </a:rPr>
              <a:t> </a:t>
            </a:r>
            <a:r>
              <a:rPr sz="938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Australia</a:t>
            </a:r>
            <a:endParaRPr sz="938" dirty="0">
              <a:solidFill>
                <a:prstClr val="black"/>
              </a:solidFill>
              <a:latin typeface="Courier" charset="0"/>
              <a:cs typeface="Courier" charset="0"/>
            </a:endParaRPr>
          </a:p>
          <a:p>
            <a:pPr marL="15875" defTabSz="1143000">
              <a:lnSpc>
                <a:spcPts val="1081"/>
              </a:lnSpc>
            </a:pPr>
            <a:r>
              <a:rPr sz="938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2:</a:t>
            </a:r>
            <a:r>
              <a:rPr sz="938" spc="-106" dirty="0">
                <a:solidFill>
                  <a:prstClr val="black"/>
                </a:solidFill>
                <a:latin typeface="Courier" charset="0"/>
                <a:cs typeface="Courier" charset="0"/>
              </a:rPr>
              <a:t> </a:t>
            </a:r>
            <a:r>
              <a:rPr sz="938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Canada</a:t>
            </a:r>
            <a:endParaRPr sz="938" dirty="0">
              <a:solidFill>
                <a:prstClr val="black"/>
              </a:solidFill>
              <a:latin typeface="Courier" charset="0"/>
              <a:cs typeface="Courier" charset="0"/>
            </a:endParaRPr>
          </a:p>
          <a:p>
            <a:pPr marL="15875" defTabSz="1143000">
              <a:lnSpc>
                <a:spcPts val="1113"/>
              </a:lnSpc>
            </a:pPr>
            <a:r>
              <a:rPr sz="938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3:</a:t>
            </a:r>
            <a:r>
              <a:rPr sz="938" spc="-100" dirty="0">
                <a:solidFill>
                  <a:prstClr val="black"/>
                </a:solidFill>
                <a:latin typeface="Courier" charset="0"/>
                <a:cs typeface="Courier" charset="0"/>
              </a:rPr>
              <a:t> </a:t>
            </a:r>
            <a:r>
              <a:rPr sz="938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Denmark</a:t>
            </a:r>
            <a:endParaRPr sz="938" dirty="0">
              <a:solidFill>
                <a:prstClr val="black"/>
              </a:solidFill>
              <a:latin typeface="Courier" charset="0"/>
              <a:cs typeface="Courier" charset="0"/>
            </a:endParaRPr>
          </a:p>
          <a:p>
            <a:pPr marL="15875" defTabSz="1143000">
              <a:lnSpc>
                <a:spcPts val="1113"/>
              </a:lnSpc>
            </a:pPr>
            <a:r>
              <a:rPr sz="938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4: United</a:t>
            </a:r>
            <a:r>
              <a:rPr sz="938" spc="-81" dirty="0">
                <a:solidFill>
                  <a:prstClr val="black"/>
                </a:solidFill>
                <a:latin typeface="Courier" charset="0"/>
                <a:cs typeface="Courier" charset="0"/>
              </a:rPr>
              <a:t> </a:t>
            </a:r>
            <a:r>
              <a:rPr sz="938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States</a:t>
            </a:r>
            <a:endParaRPr sz="938" dirty="0">
              <a:solidFill>
                <a:prstClr val="black"/>
              </a:solidFill>
              <a:latin typeface="Courier" charset="0"/>
              <a:cs typeface="Courier" charset="0"/>
            </a:endParaRPr>
          </a:p>
          <a:p>
            <a:pPr marL="15875" marR="2362994" defTabSz="1143000">
              <a:lnSpc>
                <a:spcPts val="1113"/>
              </a:lnSpc>
              <a:spcBef>
                <a:spcPts val="38"/>
              </a:spcBef>
            </a:pPr>
            <a:r>
              <a:rPr sz="938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Your answer:</a:t>
            </a:r>
            <a:r>
              <a:rPr sz="938" spc="-88" dirty="0">
                <a:solidFill>
                  <a:prstClr val="black"/>
                </a:solidFill>
                <a:latin typeface="Courier" charset="0"/>
                <a:cs typeface="Courier" charset="0"/>
              </a:rPr>
              <a:t> </a:t>
            </a:r>
            <a:r>
              <a:rPr sz="938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2  true</a:t>
            </a:r>
            <a:endParaRPr sz="938" dirty="0">
              <a:solidFill>
                <a:prstClr val="black"/>
              </a:solidFill>
              <a:latin typeface="Courier" charset="0"/>
              <a:cs typeface="Courier" charset="0"/>
            </a:endParaRPr>
          </a:p>
        </p:txBody>
      </p:sp>
      <p:sp>
        <p:nvSpPr>
          <p:cNvPr id="4" name="object 2"/>
          <p:cNvSpPr/>
          <p:nvPr/>
        </p:nvSpPr>
        <p:spPr>
          <a:xfrm>
            <a:off x="2337049" y="1183208"/>
            <a:ext cx="6966744" cy="553244"/>
          </a:xfrm>
          <a:custGeom>
            <a:avLst/>
            <a:gdLst/>
            <a:ahLst/>
            <a:cxnLst/>
            <a:rect l="l" t="t" r="r" b="b"/>
            <a:pathLst>
              <a:path w="5573395" h="442595">
                <a:moveTo>
                  <a:pt x="0" y="0"/>
                </a:moveTo>
                <a:lnTo>
                  <a:pt x="5573331" y="0"/>
                </a:lnTo>
                <a:lnTo>
                  <a:pt x="5573331" y="441978"/>
                </a:lnTo>
              </a:path>
            </a:pathLst>
          </a:custGeom>
          <a:ln w="7054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pPr defTabSz="1143000"/>
            <a:endParaRPr sz="22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object 3"/>
          <p:cNvSpPr/>
          <p:nvPr/>
        </p:nvSpPr>
        <p:spPr>
          <a:xfrm>
            <a:off x="2337049" y="1183208"/>
            <a:ext cx="0" cy="553244"/>
          </a:xfrm>
          <a:custGeom>
            <a:avLst/>
            <a:gdLst/>
            <a:ahLst/>
            <a:cxnLst/>
            <a:rect l="l" t="t" r="r" b="b"/>
            <a:pathLst>
              <a:path h="442595">
                <a:moveTo>
                  <a:pt x="0" y="441978"/>
                </a:moveTo>
                <a:lnTo>
                  <a:pt x="0" y="0"/>
                </a:lnTo>
              </a:path>
            </a:pathLst>
          </a:custGeom>
          <a:ln w="7054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pPr defTabSz="1143000"/>
            <a:endParaRPr sz="22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object 12"/>
          <p:cNvSpPr txBox="1"/>
          <p:nvPr/>
        </p:nvSpPr>
        <p:spPr>
          <a:xfrm>
            <a:off x="2016934" y="874559"/>
            <a:ext cx="2539205" cy="8119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 defTabSz="1143000"/>
            <a:r>
              <a:rPr sz="1250" b="1" spc="25" dirty="0">
                <a:solidFill>
                  <a:prstClr val="black"/>
                </a:solidFill>
                <a:latin typeface="Arial"/>
                <a:cs typeface="Arial"/>
              </a:rPr>
              <a:t>Program</a:t>
            </a:r>
            <a:r>
              <a:rPr sz="1250" b="1" spc="-1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250" b="1" spc="25" dirty="0">
                <a:solidFill>
                  <a:prstClr val="black"/>
                </a:solidFill>
                <a:latin typeface="Arial"/>
                <a:cs typeface="Arial"/>
              </a:rPr>
              <a:t>Run:</a:t>
            </a:r>
            <a:endParaRPr sz="1250" dirty="0">
              <a:solidFill>
                <a:prstClr val="black"/>
              </a:solidFill>
              <a:latin typeface="Arial"/>
              <a:cs typeface="Arial"/>
            </a:endParaRPr>
          </a:p>
          <a:p>
            <a:pPr defTabSz="1143000">
              <a:spcBef>
                <a:spcPts val="63"/>
              </a:spcBef>
            </a:pPr>
            <a:endParaRPr sz="1188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379413" marR="6350" defTabSz="1143000">
              <a:lnSpc>
                <a:spcPts val="1113"/>
              </a:lnSpc>
            </a:pPr>
            <a:r>
              <a:rPr sz="938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Who was the inventor of Java?  Your answer: Bjarne</a:t>
            </a:r>
            <a:r>
              <a:rPr sz="938" spc="-31" dirty="0">
                <a:solidFill>
                  <a:prstClr val="black"/>
                </a:solidFill>
                <a:latin typeface="Courier" charset="0"/>
                <a:cs typeface="Courier" charset="0"/>
              </a:rPr>
              <a:t> </a:t>
            </a:r>
            <a:r>
              <a:rPr sz="938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Stroustrup  false</a:t>
            </a:r>
            <a:endParaRPr sz="938" dirty="0">
              <a:solidFill>
                <a:prstClr val="black"/>
              </a:solidFill>
              <a:latin typeface="Courier" charset="0"/>
              <a:cs typeface="Courier" charset="0"/>
            </a:endParaRPr>
          </a:p>
        </p:txBody>
      </p:sp>
    </p:spTree>
  </p:cSld>
  <p:clrMapOvr>
    <a:masterClrMapping/>
  </p:clrMapOvr>
  <p:transition spd="slow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/>
            <a:r>
              <a:rPr lang="en-US" spc="75" dirty="0"/>
              <a:t>Task 7</a:t>
            </a:r>
            <a:endParaRPr spc="25" dirty="0"/>
          </a:p>
        </p:txBody>
      </p:sp>
      <p:sp>
        <p:nvSpPr>
          <p:cNvPr id="3" name="object 3"/>
          <p:cNvSpPr txBox="1"/>
          <p:nvPr/>
        </p:nvSpPr>
        <p:spPr>
          <a:xfrm>
            <a:off x="2074464" y="1624973"/>
            <a:ext cx="7614444" cy="27369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 marR="6350" defTabSz="1143000">
              <a:lnSpc>
                <a:spcPct val="101800"/>
              </a:lnSpc>
            </a:pPr>
            <a:r>
              <a:rPr sz="2000" spc="25" dirty="0">
                <a:solidFill>
                  <a:prstClr val="black"/>
                </a:solidFill>
                <a:latin typeface="Arial"/>
                <a:cs typeface="Arial"/>
              </a:rPr>
              <a:t>Assuming </a:t>
            </a:r>
            <a:r>
              <a:rPr sz="2000" spc="25" dirty="0">
                <a:solidFill>
                  <a:prstClr val="black"/>
                </a:solidFill>
                <a:latin typeface="Courier" charset="0"/>
                <a:cs typeface="Courier" charset="0"/>
              </a:rPr>
              <a:t>SavingsAccount</a:t>
            </a:r>
            <a:r>
              <a:rPr sz="2000" spc="-425" dirty="0">
                <a:solidFill>
                  <a:prstClr val="black"/>
                </a:solidFill>
                <a:latin typeface="Courier" charset="0"/>
                <a:cs typeface="Courier" charset="0"/>
              </a:rPr>
              <a:t> </a:t>
            </a:r>
            <a:r>
              <a:rPr sz="2000" spc="13" dirty="0">
                <a:solidFill>
                  <a:prstClr val="black"/>
                </a:solidFill>
                <a:latin typeface="Arial"/>
                <a:cs typeface="Arial"/>
              </a:rPr>
              <a:t>is </a:t>
            </a:r>
            <a:r>
              <a:rPr sz="2000" spc="2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000" spc="19" dirty="0">
                <a:solidFill>
                  <a:prstClr val="black"/>
                </a:solidFill>
                <a:latin typeface="Arial"/>
                <a:cs typeface="Arial"/>
              </a:rPr>
              <a:t>subclass of </a:t>
            </a:r>
            <a:r>
              <a:rPr sz="2000" spc="25" dirty="0">
                <a:solidFill>
                  <a:prstClr val="black"/>
                </a:solidFill>
                <a:latin typeface="Courier" charset="0"/>
                <a:cs typeface="Courier" charset="0"/>
              </a:rPr>
              <a:t>BankAccount</a:t>
            </a:r>
            <a:r>
              <a:rPr sz="2000" spc="25" dirty="0">
                <a:solidFill>
                  <a:prstClr val="black"/>
                </a:solidFill>
                <a:latin typeface="Arial"/>
                <a:cs typeface="Arial"/>
              </a:rPr>
              <a:t>, </a:t>
            </a:r>
            <a:r>
              <a:rPr sz="2000" spc="19" dirty="0">
                <a:solidFill>
                  <a:prstClr val="black"/>
                </a:solidFill>
                <a:latin typeface="Arial"/>
                <a:cs typeface="Arial"/>
              </a:rPr>
              <a:t>which of the following code fragments are  valid </a:t>
            </a:r>
            <a:r>
              <a:rPr sz="2000" spc="13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000" spc="-8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00" spc="19" dirty="0">
                <a:solidFill>
                  <a:prstClr val="black"/>
                </a:solidFill>
                <a:latin typeface="Arial"/>
                <a:cs typeface="Arial"/>
              </a:rPr>
              <a:t>Java?</a:t>
            </a:r>
            <a:endParaRPr lang="en-US" sz="2000" spc="19" dirty="0">
              <a:solidFill>
                <a:prstClr val="black"/>
              </a:solidFill>
              <a:latin typeface="Arial"/>
              <a:cs typeface="Arial"/>
            </a:endParaRPr>
          </a:p>
          <a:p>
            <a:pPr marL="15875" marR="6350" defTabSz="1143000">
              <a:lnSpc>
                <a:spcPct val="101800"/>
              </a:lnSpc>
            </a:pPr>
            <a:endParaRPr lang="en-US" sz="2000" spc="19" dirty="0">
              <a:solidFill>
                <a:prstClr val="black"/>
              </a:solidFill>
              <a:latin typeface="Arial"/>
              <a:cs typeface="Arial"/>
            </a:endParaRPr>
          </a:p>
          <a:p>
            <a:pPr marL="15875" marR="6350" defTabSz="1143000">
              <a:lnSpc>
                <a:spcPct val="101800"/>
              </a:lnSpc>
            </a:pPr>
            <a:endParaRPr sz="2000" dirty="0">
              <a:solidFill>
                <a:prstClr val="black"/>
              </a:solidFill>
              <a:latin typeface="Arial"/>
              <a:cs typeface="Arial"/>
            </a:endParaRPr>
          </a:p>
          <a:p>
            <a:pPr defTabSz="1143000">
              <a:spcBef>
                <a:spcPts val="43"/>
              </a:spcBef>
            </a:pPr>
            <a:endParaRPr sz="1375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98438" indent="-182563" defTabSz="1143000">
              <a:buFont typeface="Arial"/>
              <a:buAutoNum type="alphaLcPeriod"/>
              <a:tabLst>
                <a:tab pos="199231" algn="l"/>
              </a:tabLst>
            </a:pPr>
            <a:r>
              <a:rPr sz="2000" spc="25" dirty="0">
                <a:solidFill>
                  <a:prstClr val="black"/>
                </a:solidFill>
                <a:latin typeface="Courier" charset="0"/>
                <a:cs typeface="Courier" charset="0"/>
              </a:rPr>
              <a:t>BankAccount account = new</a:t>
            </a:r>
            <a:r>
              <a:rPr sz="2000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 </a:t>
            </a:r>
            <a:r>
              <a:rPr sz="2000" spc="25" dirty="0">
                <a:solidFill>
                  <a:prstClr val="black"/>
                </a:solidFill>
                <a:latin typeface="Courier" charset="0"/>
                <a:cs typeface="Courier" charset="0"/>
              </a:rPr>
              <a:t>SavingsAccount();</a:t>
            </a:r>
            <a:endParaRPr sz="2000" dirty="0">
              <a:solidFill>
                <a:prstClr val="black"/>
              </a:solidFill>
              <a:latin typeface="Courier" charset="0"/>
              <a:cs typeface="Courier" charset="0"/>
            </a:endParaRPr>
          </a:p>
          <a:p>
            <a:pPr marL="198438" indent="-182563" defTabSz="1143000">
              <a:spcBef>
                <a:spcPts val="94"/>
              </a:spcBef>
              <a:buFont typeface="Arial"/>
              <a:buAutoNum type="alphaLcPeriod"/>
              <a:tabLst>
                <a:tab pos="199231" algn="l"/>
              </a:tabLst>
            </a:pPr>
            <a:r>
              <a:rPr sz="2000" spc="25" dirty="0">
                <a:solidFill>
                  <a:prstClr val="black"/>
                </a:solidFill>
                <a:latin typeface="Courier" charset="0"/>
                <a:cs typeface="Courier" charset="0"/>
              </a:rPr>
              <a:t>SavingsAccount account2 = new</a:t>
            </a:r>
            <a:r>
              <a:rPr sz="2000" dirty="0">
                <a:solidFill>
                  <a:prstClr val="black"/>
                </a:solidFill>
                <a:latin typeface="Courier" charset="0"/>
                <a:cs typeface="Courier" charset="0"/>
              </a:rPr>
              <a:t> </a:t>
            </a:r>
            <a:r>
              <a:rPr sz="2000" spc="25" dirty="0">
                <a:solidFill>
                  <a:prstClr val="black"/>
                </a:solidFill>
                <a:latin typeface="Courier" charset="0"/>
                <a:cs typeface="Courier" charset="0"/>
              </a:rPr>
              <a:t>BankAccount();</a:t>
            </a:r>
            <a:endParaRPr sz="2000" dirty="0">
              <a:solidFill>
                <a:prstClr val="black"/>
              </a:solidFill>
              <a:latin typeface="Courier" charset="0"/>
              <a:cs typeface="Courier" charset="0"/>
            </a:endParaRPr>
          </a:p>
          <a:p>
            <a:pPr marL="188913" indent="-173038" defTabSz="1143000">
              <a:spcBef>
                <a:spcPts val="94"/>
              </a:spcBef>
              <a:buFont typeface="Arial"/>
              <a:buAutoNum type="alphaLcPeriod"/>
              <a:tabLst>
                <a:tab pos="189706" algn="l"/>
              </a:tabLst>
            </a:pPr>
            <a:r>
              <a:rPr sz="2000" spc="25" dirty="0">
                <a:solidFill>
                  <a:prstClr val="black"/>
                </a:solidFill>
                <a:latin typeface="Courier" charset="0"/>
                <a:cs typeface="Courier" charset="0"/>
              </a:rPr>
              <a:t>BankAccount account =</a:t>
            </a:r>
            <a:r>
              <a:rPr sz="2000" spc="-44" dirty="0">
                <a:solidFill>
                  <a:prstClr val="black"/>
                </a:solidFill>
                <a:latin typeface="Courier" charset="0"/>
                <a:cs typeface="Courier" charset="0"/>
              </a:rPr>
              <a:t> </a:t>
            </a:r>
            <a:r>
              <a:rPr sz="2000" spc="25" dirty="0">
                <a:solidFill>
                  <a:prstClr val="black"/>
                </a:solidFill>
                <a:latin typeface="Courier" charset="0"/>
                <a:cs typeface="Courier" charset="0"/>
              </a:rPr>
              <a:t>null;</a:t>
            </a:r>
            <a:endParaRPr sz="2000" dirty="0">
              <a:solidFill>
                <a:prstClr val="black"/>
              </a:solidFill>
              <a:latin typeface="Courier" charset="0"/>
              <a:cs typeface="Courier" charset="0"/>
            </a:endParaRPr>
          </a:p>
          <a:p>
            <a:pPr marL="198438" indent="-182563" defTabSz="1143000">
              <a:spcBef>
                <a:spcPts val="94"/>
              </a:spcBef>
              <a:buFont typeface="Arial"/>
              <a:buAutoNum type="alphaLcPeriod"/>
              <a:tabLst>
                <a:tab pos="199231" algn="l"/>
              </a:tabLst>
            </a:pPr>
            <a:r>
              <a:rPr sz="2000" spc="25" dirty="0">
                <a:solidFill>
                  <a:prstClr val="black"/>
                </a:solidFill>
                <a:latin typeface="Courier" charset="0"/>
                <a:cs typeface="Courier" charset="0"/>
              </a:rPr>
              <a:t>SavingsAccount account2 =</a:t>
            </a:r>
            <a:r>
              <a:rPr sz="2000" spc="-25" dirty="0">
                <a:solidFill>
                  <a:prstClr val="black"/>
                </a:solidFill>
                <a:latin typeface="Courier" charset="0"/>
                <a:cs typeface="Courier" charset="0"/>
              </a:rPr>
              <a:t> </a:t>
            </a:r>
            <a:r>
              <a:rPr sz="2000" spc="25" dirty="0">
                <a:solidFill>
                  <a:prstClr val="black"/>
                </a:solidFill>
                <a:latin typeface="Courier" charset="0"/>
                <a:cs typeface="Courier" charset="0"/>
              </a:rPr>
              <a:t>account;</a:t>
            </a:r>
            <a:endParaRPr sz="2000" dirty="0">
              <a:solidFill>
                <a:prstClr val="black"/>
              </a:solidFill>
              <a:latin typeface="Courier" charset="0"/>
              <a:cs typeface="Courier" charset="0"/>
            </a:endParaRPr>
          </a:p>
        </p:txBody>
      </p:sp>
    </p:spTree>
  </p:cSld>
  <p:clrMapOvr>
    <a:masterClrMapping/>
  </p:clrMapOvr>
  <p:transition spd="slow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/>
            <a:r>
              <a:rPr spc="106" dirty="0"/>
              <a:t>Object: </a:t>
            </a:r>
            <a:r>
              <a:rPr spc="113" dirty="0"/>
              <a:t>The </a:t>
            </a:r>
            <a:r>
              <a:rPr spc="163" dirty="0"/>
              <a:t>Cosmic</a:t>
            </a:r>
            <a:r>
              <a:rPr spc="-142" dirty="0"/>
              <a:t> </a:t>
            </a:r>
            <a:r>
              <a:rPr spc="131" dirty="0"/>
              <a:t>Superclass</a:t>
            </a:r>
          </a:p>
        </p:txBody>
      </p:sp>
      <p:sp>
        <p:nvSpPr>
          <p:cNvPr id="3" name="object 3"/>
          <p:cNvSpPr/>
          <p:nvPr/>
        </p:nvSpPr>
        <p:spPr>
          <a:xfrm>
            <a:off x="2374137" y="1012468"/>
            <a:ext cx="61913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383" y="0"/>
                </a:lnTo>
              </a:path>
            </a:pathLst>
          </a:custGeom>
          <a:ln w="49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1143000"/>
            <a:endParaRPr sz="22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74137" y="1620949"/>
            <a:ext cx="61913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383" y="0"/>
                </a:lnTo>
              </a:path>
            </a:pathLst>
          </a:custGeom>
          <a:ln w="49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1143000"/>
            <a:endParaRPr sz="22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374137" y="1956054"/>
            <a:ext cx="61913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383" y="0"/>
                </a:lnTo>
              </a:path>
            </a:pathLst>
          </a:custGeom>
          <a:ln w="49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1143000"/>
            <a:endParaRPr sz="22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31052" y="871371"/>
            <a:ext cx="6728619" cy="1939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 defTabSz="1143000"/>
            <a:r>
              <a:rPr sz="1563" spc="-6" dirty="0">
                <a:solidFill>
                  <a:prstClr val="black"/>
                </a:solidFill>
                <a:latin typeface="Arial"/>
                <a:cs typeface="Arial"/>
              </a:rPr>
              <a:t>Every class defined without an explicit </a:t>
            </a:r>
            <a:r>
              <a:rPr sz="1563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extends</a:t>
            </a:r>
            <a:r>
              <a:rPr sz="1563" spc="-450" dirty="0">
                <a:solidFill>
                  <a:prstClr val="black"/>
                </a:solidFill>
                <a:latin typeface="Courier" charset="0"/>
                <a:cs typeface="Courier" charset="0"/>
              </a:rPr>
              <a:t> </a:t>
            </a:r>
            <a:r>
              <a:rPr sz="1563" spc="-6" dirty="0">
                <a:solidFill>
                  <a:prstClr val="black"/>
                </a:solidFill>
                <a:latin typeface="Arial"/>
                <a:cs typeface="Arial"/>
              </a:rPr>
              <a:t>clause automatically extend</a:t>
            </a:r>
            <a:r>
              <a:rPr lang="en-US" sz="1563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563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Object</a:t>
            </a:r>
            <a:r>
              <a:rPr sz="1563" spc="-6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endParaRPr sz="1563" dirty="0">
              <a:solidFill>
                <a:prstClr val="black"/>
              </a:solidFill>
              <a:latin typeface="Arial"/>
              <a:cs typeface="Arial"/>
            </a:endParaRPr>
          </a:p>
          <a:p>
            <a:pPr marL="15875" marR="103981" defTabSz="1143000">
              <a:lnSpc>
                <a:spcPts val="2638"/>
              </a:lnSpc>
              <a:spcBef>
                <a:spcPts val="142"/>
              </a:spcBef>
            </a:pPr>
            <a:r>
              <a:rPr sz="1563" spc="-6" dirty="0">
                <a:solidFill>
                  <a:prstClr val="black"/>
                </a:solidFill>
                <a:latin typeface="Arial"/>
                <a:cs typeface="Arial"/>
              </a:rPr>
              <a:t>The class </a:t>
            </a:r>
            <a:r>
              <a:rPr sz="1563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Object</a:t>
            </a:r>
            <a:r>
              <a:rPr sz="1563" spc="-450" dirty="0">
                <a:solidFill>
                  <a:prstClr val="black"/>
                </a:solidFill>
                <a:latin typeface="Courier" charset="0"/>
                <a:cs typeface="Courier" charset="0"/>
              </a:rPr>
              <a:t> </a:t>
            </a:r>
            <a:r>
              <a:rPr sz="1563" spc="-6" dirty="0">
                <a:solidFill>
                  <a:prstClr val="black"/>
                </a:solidFill>
                <a:latin typeface="Arial"/>
                <a:cs typeface="Arial"/>
              </a:rPr>
              <a:t>is the direct or indirect superclass of every class in Java.  Some  methods defined in</a:t>
            </a:r>
            <a:r>
              <a:rPr sz="1563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563" spc="-6" dirty="0">
                <a:solidFill>
                  <a:prstClr val="black"/>
                </a:solidFill>
                <a:latin typeface="Courier" charset="0"/>
                <a:cs typeface="Courier" charset="0"/>
              </a:rPr>
              <a:t>Object</a:t>
            </a:r>
            <a:r>
              <a:rPr sz="1563" spc="-6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endParaRPr sz="1563" dirty="0">
              <a:solidFill>
                <a:prstClr val="black"/>
              </a:solidFill>
              <a:latin typeface="Arial"/>
              <a:cs typeface="Arial"/>
            </a:endParaRPr>
          </a:p>
          <a:p>
            <a:pPr marL="370681" defTabSz="1143000">
              <a:spcBef>
                <a:spcPts val="781"/>
              </a:spcBef>
            </a:pPr>
            <a:r>
              <a:rPr sz="1188" dirty="0">
                <a:solidFill>
                  <a:prstClr val="black"/>
                </a:solidFill>
                <a:latin typeface="Courier" charset="0"/>
                <a:cs typeface="Courier" charset="0"/>
              </a:rPr>
              <a:t>toString</a:t>
            </a:r>
            <a:r>
              <a:rPr sz="1188" spc="-475" dirty="0">
                <a:solidFill>
                  <a:prstClr val="black"/>
                </a:solidFill>
                <a:latin typeface="Courier" charset="0"/>
                <a:cs typeface="Courier" charset="0"/>
              </a:rPr>
              <a:t> </a:t>
            </a:r>
            <a:r>
              <a:rPr sz="1188" dirty="0">
                <a:solidFill>
                  <a:prstClr val="black"/>
                </a:solidFill>
                <a:latin typeface="Arial"/>
                <a:cs typeface="Arial"/>
              </a:rPr>
              <a:t>- which yields a string describing the object</a:t>
            </a:r>
          </a:p>
          <a:p>
            <a:pPr marL="370681" defTabSz="1143000">
              <a:spcBef>
                <a:spcPts val="519"/>
              </a:spcBef>
            </a:pPr>
            <a:r>
              <a:rPr sz="1188" dirty="0">
                <a:solidFill>
                  <a:prstClr val="black"/>
                </a:solidFill>
                <a:latin typeface="Courier" charset="0"/>
                <a:cs typeface="Courier" charset="0"/>
              </a:rPr>
              <a:t>equals</a:t>
            </a:r>
            <a:r>
              <a:rPr sz="1188" spc="-475" dirty="0">
                <a:solidFill>
                  <a:prstClr val="black"/>
                </a:solidFill>
                <a:latin typeface="Courier" charset="0"/>
                <a:cs typeface="Courier" charset="0"/>
              </a:rPr>
              <a:t> </a:t>
            </a:r>
            <a:r>
              <a:rPr sz="1188" dirty="0">
                <a:solidFill>
                  <a:prstClr val="black"/>
                </a:solidFill>
                <a:latin typeface="Arial"/>
                <a:cs typeface="Arial"/>
              </a:rPr>
              <a:t>- which compares objects with each other</a:t>
            </a:r>
          </a:p>
          <a:p>
            <a:pPr marL="370681" defTabSz="1143000">
              <a:spcBef>
                <a:spcPts val="519"/>
              </a:spcBef>
            </a:pPr>
            <a:r>
              <a:rPr sz="1188" dirty="0">
                <a:solidFill>
                  <a:prstClr val="black"/>
                </a:solidFill>
                <a:latin typeface="Courier" charset="0"/>
                <a:cs typeface="Courier" charset="0"/>
              </a:rPr>
              <a:t>hashCode</a:t>
            </a:r>
            <a:r>
              <a:rPr sz="1188" spc="-463" dirty="0">
                <a:solidFill>
                  <a:prstClr val="black"/>
                </a:solidFill>
                <a:latin typeface="Courier" charset="0"/>
                <a:cs typeface="Courier" charset="0"/>
              </a:rPr>
              <a:t> </a:t>
            </a:r>
            <a:r>
              <a:rPr sz="1188" dirty="0">
                <a:solidFill>
                  <a:prstClr val="black"/>
                </a:solidFill>
                <a:latin typeface="Arial"/>
                <a:cs typeface="Arial"/>
              </a:rPr>
              <a:t>- which yields a numerical code for storing the object in a set</a:t>
            </a:r>
          </a:p>
        </p:txBody>
      </p:sp>
    </p:spTree>
  </p:cSld>
  <p:clrMapOvr>
    <a:masterClrMapping/>
  </p:clrMapOvr>
  <p:transition spd="slow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/>
            <a:r>
              <a:rPr spc="106" dirty="0"/>
              <a:t>Object: </a:t>
            </a:r>
            <a:r>
              <a:rPr spc="113" dirty="0"/>
              <a:t>The </a:t>
            </a:r>
            <a:r>
              <a:rPr spc="163" dirty="0"/>
              <a:t>Cosmic</a:t>
            </a:r>
            <a:r>
              <a:rPr spc="-142" dirty="0"/>
              <a:t> </a:t>
            </a:r>
            <a:r>
              <a:rPr spc="131" dirty="0"/>
              <a:t>Superclass</a:t>
            </a:r>
          </a:p>
        </p:txBody>
      </p:sp>
      <p:sp>
        <p:nvSpPr>
          <p:cNvPr id="3" name="object 3"/>
          <p:cNvSpPr/>
          <p:nvPr/>
        </p:nvSpPr>
        <p:spPr>
          <a:xfrm>
            <a:off x="2418291" y="920750"/>
            <a:ext cx="6799786" cy="3536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1143000"/>
            <a:endParaRPr sz="22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99324" y="4587066"/>
            <a:ext cx="4906963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 defTabSz="1143000"/>
            <a:r>
              <a:rPr sz="1250" b="1" spc="19" dirty="0">
                <a:solidFill>
                  <a:prstClr val="black"/>
                </a:solidFill>
                <a:latin typeface="Arial"/>
                <a:cs typeface="Arial"/>
              </a:rPr>
              <a:t>Figure </a:t>
            </a:r>
            <a:r>
              <a:rPr sz="1250" b="1" spc="25" dirty="0">
                <a:solidFill>
                  <a:prstClr val="black"/>
                </a:solidFill>
                <a:latin typeface="Arial"/>
                <a:cs typeface="Arial"/>
              </a:rPr>
              <a:t>9 </a:t>
            </a:r>
            <a:r>
              <a:rPr sz="1250" spc="25" dirty="0">
                <a:solidFill>
                  <a:prstClr val="black"/>
                </a:solidFill>
                <a:latin typeface="Arial"/>
                <a:cs typeface="Arial"/>
              </a:rPr>
              <a:t>The </a:t>
            </a:r>
            <a:r>
              <a:rPr sz="1250" spc="25" dirty="0">
                <a:solidFill>
                  <a:prstClr val="black"/>
                </a:solidFill>
                <a:latin typeface="Courier" charset="0"/>
                <a:cs typeface="Courier" charset="0"/>
              </a:rPr>
              <a:t>Object</a:t>
            </a:r>
            <a:r>
              <a:rPr sz="1250" spc="-406" dirty="0">
                <a:solidFill>
                  <a:prstClr val="black"/>
                </a:solidFill>
                <a:latin typeface="Courier" charset="0"/>
                <a:cs typeface="Courier" charset="0"/>
              </a:rPr>
              <a:t> </a:t>
            </a:r>
            <a:r>
              <a:rPr sz="1250" spc="19" dirty="0">
                <a:solidFill>
                  <a:prstClr val="black"/>
                </a:solidFill>
                <a:latin typeface="Arial"/>
                <a:cs typeface="Arial"/>
              </a:rPr>
              <a:t>Class </a:t>
            </a:r>
            <a:r>
              <a:rPr sz="1250" spc="13" dirty="0">
                <a:solidFill>
                  <a:prstClr val="black"/>
                </a:solidFill>
                <a:latin typeface="Arial"/>
                <a:cs typeface="Arial"/>
              </a:rPr>
              <a:t>Is </a:t>
            </a:r>
            <a:r>
              <a:rPr sz="1250" spc="19" dirty="0">
                <a:solidFill>
                  <a:prstClr val="black"/>
                </a:solidFill>
                <a:latin typeface="Arial"/>
                <a:cs typeface="Arial"/>
              </a:rPr>
              <a:t>the Superclass of Every Java Class</a:t>
            </a:r>
            <a:endParaRPr sz="1250" dirty="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p:transition spd="slow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/>
            <a:r>
              <a:rPr lang="en-US" spc="106" dirty="0"/>
              <a:t>The Protected Keyword</a:t>
            </a:r>
            <a:endParaRPr spc="131" dirty="0"/>
          </a:p>
        </p:txBody>
      </p:sp>
      <p:sp>
        <p:nvSpPr>
          <p:cNvPr id="3" name="object 3"/>
          <p:cNvSpPr/>
          <p:nvPr/>
        </p:nvSpPr>
        <p:spPr>
          <a:xfrm>
            <a:off x="2297937" y="1917343"/>
            <a:ext cx="61913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383" y="0"/>
                </a:lnTo>
              </a:path>
            </a:pathLst>
          </a:custGeom>
          <a:ln w="49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1143000"/>
            <a:endParaRPr sz="22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31052" y="871371"/>
            <a:ext cx="6728619" cy="1828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 defTabSz="1143000"/>
            <a:endParaRPr sz="1188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54CE0C-5C9B-A7D8-560F-F17526AA85CE}"/>
              </a:ext>
            </a:extLst>
          </p:cNvPr>
          <p:cNvSpPr txBox="1"/>
          <p:nvPr/>
        </p:nvSpPr>
        <p:spPr>
          <a:xfrm>
            <a:off x="2595562" y="1718786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</a:t>
            </a:r>
            <a:r>
              <a:rPr lang="en-US" b="1" dirty="0"/>
              <a:t>protected</a:t>
            </a:r>
            <a:r>
              <a:rPr lang="en-US" dirty="0"/>
              <a:t> access modifier allows the class members to be accessed within their own package (like default access) and also by subclasses of their class in other packages.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D3EA0A4-4978-B9CA-A405-E90ED9F7F2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446" y="3260489"/>
            <a:ext cx="3530781" cy="21464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2589EF2-F8F1-059D-AB31-64D8B578EC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6968" y="3142680"/>
            <a:ext cx="4960923" cy="2454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708222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8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A4A83F464E6824C84DB761817CD2FDC" ma:contentTypeVersion="4" ma:contentTypeDescription="Create a new document." ma:contentTypeScope="" ma:versionID="83b0630d2f69d125acc12df1c44b05e6">
  <xsd:schema xmlns:xsd="http://www.w3.org/2001/XMLSchema" xmlns:xs="http://www.w3.org/2001/XMLSchema" xmlns:p="http://schemas.microsoft.com/office/2006/metadata/properties" xmlns:ns2="7eb763b9-84a9-4461-bc3d-083f85449778" targetNamespace="http://schemas.microsoft.com/office/2006/metadata/properties" ma:root="true" ma:fieldsID="02315a56018ae14bbf74d1878be01215" ns2:_="">
    <xsd:import namespace="7eb763b9-84a9-4461-bc3d-083f8544977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b763b9-84a9-4461-bc3d-083f8544977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2DCB287-53AA-43B2-9F03-B93743075AE9}"/>
</file>

<file path=customXml/itemProps2.xml><?xml version="1.0" encoding="utf-8"?>
<ds:datastoreItem xmlns:ds="http://schemas.openxmlformats.org/officeDocument/2006/customXml" ds:itemID="{C4DE90DE-F2FF-4BCF-8C51-14FD93658FBE}"/>
</file>

<file path=customXml/itemProps3.xml><?xml version="1.0" encoding="utf-8"?>
<ds:datastoreItem xmlns:ds="http://schemas.openxmlformats.org/officeDocument/2006/customXml" ds:itemID="{02028446-A5EA-4F57-BD3D-172357E695AB}"/>
</file>

<file path=docProps/app.xml><?xml version="1.0" encoding="utf-8"?>
<Properties xmlns="http://schemas.openxmlformats.org/officeDocument/2006/extended-properties" xmlns:vt="http://schemas.openxmlformats.org/officeDocument/2006/docPropsVTypes">
  <TotalTime>1537</TotalTime>
  <Words>2592</Words>
  <Application>Microsoft Macintosh PowerPoint</Application>
  <PresentationFormat>Widescreen</PresentationFormat>
  <Paragraphs>451</Paragraphs>
  <Slides>41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41</vt:i4>
      </vt:variant>
    </vt:vector>
  </HeadingPairs>
  <TitlesOfParts>
    <vt:vector size="50" baseType="lpstr">
      <vt:lpstr>Arial</vt:lpstr>
      <vt:lpstr>Calibri</vt:lpstr>
      <vt:lpstr>Calibri Light</vt:lpstr>
      <vt:lpstr>Courier</vt:lpstr>
      <vt:lpstr>Courier New</vt:lpstr>
      <vt:lpstr>Times New Roman</vt:lpstr>
      <vt:lpstr>Trebuchet MS</vt:lpstr>
      <vt:lpstr>Office Theme</vt:lpstr>
      <vt:lpstr>1_Office Theme</vt:lpstr>
      <vt:lpstr>Chapter 9 Inheritance</vt:lpstr>
      <vt:lpstr>Review</vt:lpstr>
      <vt:lpstr>Design a product of various subscriptions (e.g. Dropbox)</vt:lpstr>
      <vt:lpstr>Suppose you are designing the system using JAVA classes</vt:lpstr>
      <vt:lpstr>When you need to update some functions.</vt:lpstr>
      <vt:lpstr>A better way?</vt:lpstr>
      <vt:lpstr>Concept</vt:lpstr>
      <vt:lpstr>Inheritance Hierarchies</vt:lpstr>
      <vt:lpstr>Task 1</vt:lpstr>
      <vt:lpstr>Task 2</vt:lpstr>
      <vt:lpstr>Task 3</vt:lpstr>
      <vt:lpstr>Inheritance Hierarchies</vt:lpstr>
      <vt:lpstr>section_1/Question.java</vt:lpstr>
      <vt:lpstr>section_1/QuestionDemo1.java</vt:lpstr>
      <vt:lpstr>Inheritance Hierarchies</vt:lpstr>
      <vt:lpstr>Implementing Subclasses</vt:lpstr>
      <vt:lpstr>Implementing Subclasses</vt:lpstr>
      <vt:lpstr>Syntax 9.1 Subclass Declaration</vt:lpstr>
      <vt:lpstr>Implementing Subclasses</vt:lpstr>
      <vt:lpstr>Implementing Subclasses</vt:lpstr>
      <vt:lpstr>Implementing Subclasses</vt:lpstr>
      <vt:lpstr>Implementing Subclasses</vt:lpstr>
      <vt:lpstr>Overriding Methods</vt:lpstr>
      <vt:lpstr>Syntax 9.3 Constructor with Superclass Initializer</vt:lpstr>
      <vt:lpstr>Task 4</vt:lpstr>
      <vt:lpstr>Task 5</vt:lpstr>
      <vt:lpstr>Task 6</vt:lpstr>
      <vt:lpstr>section_3/ChoiceQuestion.java</vt:lpstr>
      <vt:lpstr>section_3/QuestionDemo2.java</vt:lpstr>
      <vt:lpstr>PowerPoint Presentation</vt:lpstr>
      <vt:lpstr>PowerPoint Presentation</vt:lpstr>
      <vt:lpstr>Polymorphism</vt:lpstr>
      <vt:lpstr>Polymorphism - continued</vt:lpstr>
      <vt:lpstr>Polymorphism - continued</vt:lpstr>
      <vt:lpstr>Polymorphism - continued</vt:lpstr>
      <vt:lpstr>section_4/QuestionDemo3.java</vt:lpstr>
      <vt:lpstr>PowerPoint Presentation</vt:lpstr>
      <vt:lpstr>Task 7</vt:lpstr>
      <vt:lpstr>Object: The Cosmic Superclass</vt:lpstr>
      <vt:lpstr>Object: The Cosmic Superclass</vt:lpstr>
      <vt:lpstr>The Protected Keyword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CSCI 2101 Programming and Problem Solving I</dc:title>
  <dc:creator>Pu PT. Tian</dc:creator>
  <cp:lastModifiedBy>Pu PT. Tian</cp:lastModifiedBy>
  <cp:revision>78</cp:revision>
  <dcterms:created xsi:type="dcterms:W3CDTF">2023-12-25T19:17:37Z</dcterms:created>
  <dcterms:modified xsi:type="dcterms:W3CDTF">2025-09-08T13:35:28Z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0x0101001A4A83F464E6824C84DB761817CD2FDC</vt:lpwstr>
  </property>
</Properties>
</file>